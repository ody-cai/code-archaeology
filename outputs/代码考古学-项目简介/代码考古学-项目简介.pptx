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6"/>
  </p:notesMasterIdLst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tableStyles" Target="tableStyles.xml" /><Relationship Id="rId6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7" Type="http://schemas.openxmlformats.org/officeDocument/2006/relationships/presProps" Target="presProps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9" Type="http://schemas.openxmlformats.org/officeDocument/2006/relationships/viewProps" Target="viewProps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3" Type="http://schemas.openxmlformats.org/officeDocument/2006/relationships/image" Target="media/image2.svg" /><Relationship Id="rId2" Type="http://schemas.openxmlformats.org/officeDocument/2006/relationships/image" Target="media/image4.svg" /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 width: '1280px', height: '720px', padding: 0, position: 'relative', background: 'linear-gradient(160deg, #10141A 0%, #18202A 100%)', fontFamily: &quot;'PingFang SC','Microsoft YaHei','Helvetica Neue',sans-serif&quot; }}&gt;&#10;&#10;    {/* 01 · 封面 —— 全幅自定义版式（hero）：琥珀光晕 + 青铜绿光晕，不占安全区 */}&#10;    &lt;Box style={{ position: 'absolute', top: -190, right: -150, width: 580, height: 580, borderRadius: 290, background: 'radial-gradient(circle, rgba(227,163,62,0.16) 0%, rgba(227,163,62,0) 70%)' }} /&gt;&#10;    &lt;Box style={{ position: 'absolute', bottom: -220, left: -140, width: 540, height: 540, borderRadius: 270, background: 'radial-gradient(circle, rgba(76,184,166,0.12) 0%, rgba(76,184,166,0) 70%)' }} /&gt;&#10;&#10;    {/* 内容层：左文右图 · 非对称双栏 */}&#10;    &lt;Box style={{ position: 'relative', zIndex: 1, flexDirection: 'row', width: '1280px', height: '720px', padding: '56px 60px', alignItems: 'center', gap: 48 }}&gt;&#10;&#10;        {/* 左栏 · 文字 */}&#10;        &lt;Box style={{ width: 682, height: 608, justifyContent: 'center' }}&gt;&#10;            &lt;Text style={{ fontSize: 18, fontWeight: 'bold', letterSpacing: 5, color: '#E3A33E' }}&gt;&#10;                CODE ARCHAEOLOGY&#10;            &lt;/Text&gt;&#10;&#10;            &lt;Text style={{ fontSize: 84, fontWeight: 'bold', lineHeight: 1.1, color: '#EDF1F5', letterSpacing: 4, marginTop: 18, fontFamily: &quot;'Source Han Serif SC','Noto Serif SC','Songti SC',serif&quot; }}&gt;&#10;                代码考古学&#10;            &lt;/Text&gt;&#10;&#10;            &lt;Text style={{ fontSize: 24, color: '#8892A0', letterSpacing: 2, marginTop: 12, fontFamily: &quot;'Source Han Serif SC','Noto Serif SC','Songti SC',serif&quot; }}&gt;&#10;                Reconstructing a codebase's decision history&#10;            &lt;/Text&gt;&#10;&#10;            &lt;Box style={{ width: 96, height: 3, background: '#E3A33E', marginTop: 28 }} /&gt;&#10;&#10;            &lt;Text style={{ fontSize: 23, lineHeight: 1.55, color: '#EDF1F5', marginTop: 26 }}&gt;&#10;                我们不告诉你「为什么」，&#10;                &lt;br /&gt;&#10;                只告诉你&lt;span style={{ color: '#E3A33E', fontWeight: 'bold' }}&gt;「哪里已经没人能说清为什么」&lt;/span&gt;。&#10;            &lt;/Text&gt;&#10;&#10;            &lt;Text style={{ fontSize: 16, lineHeight: 1.5, color: '#8892A0', marginTop: 14 }}&gt;&#10;                We don't tell you why — we tell you where nobody can explain why anymore.&#10;            &lt;/Text&gt;&#10;&#10;            &lt;Box style={{ flexDirection: 'row', alignItems: 'center', gap: 14, marginTop: 40 }}&gt;&#10;                &lt;Box style={{ width: 34, height: 2, background: '#4CB8A6' }} /&gt;&#10;                &lt;Text style={{ fontSize: 16, color: '#EDF1F5', letterSpacing: 1 }}&gt;&#10;                    BAYTECH 2026 · AI 应用与工程赛道&#10;                &lt;/Text&gt;&#10;                &lt;Text style={{ fontSize: 16, color: '#8892A0' }}&gt;&#10;                    ｜ 蔡奇均 / Cai Qijun&#10;                &lt;/Text&gt;&#10;            &lt;/Box&gt;&#10;        &lt;/Box&gt;&#10;&#10;        {/* 右栏 · L1 主视觉：地层剖面 */}&#10;        &lt;Box style={{ width: 430, height: 608, justifyContent: 'center' }}&gt;&#10;            &lt;svg width={430} height={380} viewBox='0 0 430 380'&gt;&#10;                {/* 沉积层 */}&#10;                &lt;rect x='0' y='0' width='430' height='32' fill='#1D242E' /&gt;&#10;                &lt;rect x='0' y='32' width='430' height='48' fill='#232C38' /&gt;&#10;                &lt;rect x='0' y='80' width='430' height='30' fill='#1D242E' /&gt;&#10;                {/* 决定性层：人类决策信号 */}&#10;                &lt;rect x='0' y='110' width='430' height='58' fill='#E3A33E' /&gt;&#10;                &lt;rect x='0' y='168' width='430' height='36' fill='#232C38' /&gt;&#10;                &lt;rect x='0' y='204' width='430' height='52' fill='#1D242E' /&gt;&#10;                &lt;rect x='0' y='256' width='430' height='30' fill='#232C38' /&gt;&#10;                &lt;rect x='0' y='286' width='430' height='56' fill='#1D242E' /&gt;&#10;                &lt;rect x='0' y='342' width='430' height='38' fill='#232C38' /&gt;&#10;&#10;                {/* 层间分界 */}&#10;                &lt;line x1='0' y1='32' x2='430' y2='32' stroke='#10141A' strokeWidth='2' /&gt;&#10;                &lt;line x1='0' y1='80' x2='430' y2='80' stroke='#10141A' strokeWidth='2' /&gt;&#10;                &lt;line x1='0' y1='168' x2='430' y2='168' stroke='#10141A' strokeWidth='2' /&gt;&#10;                &lt;line x1='0' y1='204' x2='430' y2='204' stroke='#10141A' strokeWidth='2' /&gt;&#10;                &lt;line x1='0' y1='256' x2='430' y2='256' stroke='#10141A' strokeWidth='2' /&gt;&#10;                &lt;line x1='0' y1='286' x2='430' y2='286' stroke='#10141A' strokeWidth='2' /&gt;&#10;                &lt;line x1='0' y1='342' x2='430' y2='342' stroke='#10141A' strokeWidth='2' /&gt;&#10;&#10;                {/* 沉积层里的自动化噪音刻痕 */}&#10;                &lt;rect x='58' y='14' width='52' height='4' fill='#3A4553' /&gt;&#10;                &lt;rect x='196' y='50' width='88' height='5' fill='#3A4553' /&gt;&#10;                &lt;rect x='92' y='92' width='40' height='4' fill='#3A4553' /&gt;&#10;                &lt;rect x='300' y='182' width='64' height='4' fill='#3A4553' /&gt;&#10;                &lt;rect x='70' y='224' width='96' height='5' fill='#3A4553' /&gt;&#10;                &lt;rect x='248' y='268' width='52' height='4' fill='#3A4553' /&gt;&#10;                &lt;rect x='110' y='308' width='74' height='5' fill='#3A4553' /&gt;&#10;                &lt;rect x='286' y='358' width='58' height='4' fill='#3A4553' /&gt;&#10;&#10;                {/* 高亮层中的「文物」：被放弃的尝试 */}&#10;                &lt;rect x='54' y='126' width='34' height='7' fill='#10141A' opacity='0.55' /&gt;&#10;                &lt;rect x='104' y='142' width='58' height='7' fill='#10141A' opacity='0.55' /&gt;&#10;                &lt;rect x='178' y='126' width='44' height='7' fill='#10141A' opacity='0.55' /&gt;&#10;                &lt;rect x='238' y='146' width='70' height='7' fill='#10141A' opacity='0.55' /&gt;&#10;                &lt;rect x='324' y='128' width='48' height='7' fill='#10141A' opacity='0.55' /&gt;&#10;&#10;                {/* 右侧标注：指向高亮层 */}&#10;                &lt;line x1='430' y1='139' x2='416' y2='139' stroke='#E3A33E' strokeWidth='3' /&gt;&#10;                &lt;circle cx='416' cy='139' r='5' fill='#10141A' /&gt;&#10;            &lt;/svg&gt;&#10;&#10;            {/* 图例 */}&#10;            &lt;Box style={{ flexDirection: 'row', gap: 26, marginTop: 20, alignItems: 'center' }}&gt;&#10;                &lt;Box style={{ flexDirection: 'row', gap: 9, alignItems: 'center' }}&gt;&#10;                    &lt;Box style={{ width: 22, height: 12, background: '#E3A33E', borderRadius: 2 }} /&gt;&#10;                    &lt;Text style={{ fontSize: 15, color: '#EDF1F5' }}&gt;人类决策痕迹&lt;/Text&gt;&#10;                &lt;/Box&gt;&#10;                &lt;Box style={{ flexDirection: 'row', gap: 9, alignItems: 'center' }}&gt;&#10;                    &lt;Box style={{ width: 22, height: 12, background: '#232C38', border: '1px solid #3A4553', borderRadius: 2 }} /&gt;&#10;                    &lt;Text style={{ fontSize: 15, color: '#8892A0' }}&gt;机器人沉积物&lt;/Text&gt;&#10;                &lt;/Box&gt;&#10;            &lt;/Box&gt;&#10;        &lt;/Box&gt;&#10;&#10;    &lt;/Box&gt;&#10;&#10;    {/* 封面页码锚点（与内页位置一致） */}&#10;    &lt;Text style={{ position: 'absolute', right: 60, bottom: 30, fontSize: 14, color: '#8892A0', zIndex: 2 }}&gt;&#10;        01 / 05&#10;  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141A"/>
              </a:gs>
              <a:gs pos="100000">
                <a:srgbClr val="18202A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096250" y="-1809750"/>
            <a:ext cx="5524500" cy="5524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3A33E">
                  <a:alpha val="16000"/>
                </a:srgbClr>
              </a:gs>
              <a:gs pos="70000">
                <a:srgbClr val="E3A33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1333500" y="3810000"/>
            <a:ext cx="5143500" cy="5143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CB8A6">
                  <a:alpha val="12000"/>
                </a:srgbClr>
              </a:gs>
              <a:gs pos="70000">
                <a:srgbClr val="4CB8A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1343025"/>
            <a:ext cx="649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75">
                <a:solidFill>
                  <a:srgbClr val="E3A33E"/>
                </a:solidFill>
                <a:latin typeface="PingFang SC"/>
                <a:ea typeface="PingFang SC"/>
              </a:rPr>
              <a:t>CODE ARCHAEOLOGY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1724025"/>
            <a:ext cx="6496050" cy="10572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6300" b="1" spc="300">
                <a:solidFill>
                  <a:srgbClr val="EDF1F5"/>
                </a:solidFill>
                <a:latin typeface="Source Han Serif SC"/>
                <a:ea typeface="Source Han Serif SC"/>
              </a:rPr>
              <a:t>代码考古学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71500" y="2895600"/>
            <a:ext cx="6496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150">
                <a:solidFill>
                  <a:srgbClr val="8892A0"/>
                </a:solidFill>
                <a:latin typeface="Source Han Serif SC"/>
                <a:ea typeface="Source Han Serif SC"/>
              </a:rPr>
              <a:t>Reconstructing a codebase's decision history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71500" y="3438525"/>
            <a:ext cx="914400" cy="28575"/>
          </a:xfrm>
          <a:prstGeom prst="rect">
            <a:avLst/>
          </a:prstGeom>
          <a:solidFill>
            <a:srgbClr val="E3A33E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71500" y="3714750"/>
            <a:ext cx="6496050" cy="8191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725">
                <a:solidFill>
                  <a:srgbClr val="EDF1F5"/>
                </a:solidFill>
                <a:latin typeface="PingFang SC"/>
                <a:ea typeface="PingFang SC"/>
              </a:rPr>
              <a:t>我们不告诉你「为什么」，</a:t>
            </a:r>
            <a:endParaRPr/>
          </a:p>
          <a:p>
            <a:pPr>
              <a:lnSpc>
                <a:spcPct val="155000"/>
              </a:lnSpc>
            </a:pPr>
            <a:r>
              <a:rPr lang="zh-CN" sz="1725">
                <a:solidFill>
                  <a:srgbClr val="EDF1F5"/>
                </a:solidFill>
                <a:latin typeface="PingFang SC"/>
                <a:ea typeface="PingFang SC"/>
              </a:rPr>
              <a:t>只告诉你</a:t>
            </a:r>
            <a:r>
              <a:rPr lang="zh-CN" sz="1725" b="1">
                <a:solidFill>
                  <a:srgbClr val="E3A33E"/>
                </a:solidFill>
                <a:latin typeface="PingFang SC"/>
                <a:ea typeface="PingFang SC"/>
              </a:rPr>
              <a:t>「哪里已经没人能说清为什么」</a:t>
            </a:r>
            <a:r>
              <a:rPr lang="zh-CN" sz="1725">
                <a:solidFill>
                  <a:srgbClr val="EDF1F5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71500" y="4667250"/>
            <a:ext cx="6496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8892A0"/>
                </a:solidFill>
                <a:latin typeface="PingFang SC"/>
                <a:ea typeface="PingFang SC"/>
              </a:rPr>
              <a:t>We don't tell you why — we tell you where nobody can explain why anymore.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571500" y="5410200"/>
            <a:ext cx="323850" cy="19050"/>
          </a:xfrm>
          <a:prstGeom prst="rect">
            <a:avLst/>
          </a:prstGeom>
          <a:solidFill>
            <a:srgbClr val="4CB8A6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28700" y="5324475"/>
            <a:ext cx="2809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EDF1F5"/>
                </a:solidFill>
                <a:latin typeface="PingFang SC"/>
                <a:ea typeface="PingFang SC"/>
              </a:rPr>
              <a:t>BAYTECH 2026 · AI </a:t>
            </a:r>
            <a:r>
              <a:rPr lang="zh-CN" sz="1200" spc="75">
                <a:solidFill>
                  <a:srgbClr val="EDF1F5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971925" y="5324475"/>
            <a:ext cx="1495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892A0"/>
                </a:solidFill>
                <a:latin typeface="PingFang SC"/>
                <a:ea typeface="PingFang SC"/>
              </a:rPr>
              <a:t>｜</a:t>
            </a:r>
            <a:r>
              <a:rPr lang="en-US" sz="1200">
                <a:solidFill>
                  <a:srgbClr val="8892A0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8892A0"/>
                </a:solidFill>
                <a:latin typeface="PingFang SC"/>
                <a:ea typeface="PingFang SC"/>
              </a:rPr>
              <a:t>蔡奇均</a:t>
            </a:r>
            <a:r>
              <a:rPr lang="en-US" sz="1200">
                <a:solidFill>
                  <a:srgbClr val="8892A0"/>
                </a:solidFill>
                <a:latin typeface="PingFang SC"/>
                <a:ea typeface="PingFang SC"/>
              </a:rPr>
              <a:t> / Cai Qijun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524750" y="1438275"/>
            <a:ext cx="4095750" cy="3619500"/>
          </a:xfrm>
          <a:prstGeom prst="rect">
            <a:avLst/>
          </a:prstGeom>
          <a:ln/>
        </p:spPr>
      </p:pic>
      <p:sp>
        <p:nvSpPr>
          <p:cNvPr id="15" name=""/>
          <p:cNvSpPr/>
          <p:nvPr/>
        </p:nvSpPr>
        <p:spPr>
          <a:xfrm rot="0" flipH="0" flipV="0">
            <a:off x="7524750" y="5276850"/>
            <a:ext cx="209550" cy="114300"/>
          </a:xfrm>
          <a:prstGeom prst="roundRect">
            <a:avLst>
              <a:gd name="adj" fmla="val 16667"/>
            </a:avLst>
          </a:prstGeom>
          <a:solidFill>
            <a:srgbClr val="E3A33E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820025" y="52482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DF1F5"/>
                </a:solidFill>
                <a:latin typeface="PingFang SC"/>
                <a:ea typeface="PingFang SC"/>
              </a:rPr>
              <a:t>人类决策痕迹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8924925" y="5276850"/>
            <a:ext cx="209550" cy="114300"/>
          </a:xfrm>
          <a:prstGeom prst="roundRect">
            <a:avLst>
              <a:gd name="adj" fmla="val 16667"/>
            </a:avLst>
          </a:prstGeom>
          <a:solidFill>
            <a:srgbClr val="232C38"/>
          </a:solidFill>
          <a:ln w="12700">
            <a:solidFill>
              <a:srgbClr val="3A4553"/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220200" y="52482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892A0"/>
                </a:solidFill>
                <a:latin typeface="PingFang SC"/>
                <a:ea typeface="PingFang SC"/>
              </a:rPr>
              <a:t>机器人沉积物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163300" y="64103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01 / 05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" name="" descr="&lt;Slide style={{ width: '1280px', height: '720px', padding: '20px 60px', background: '#10141A', fontFamily: &quot;'PingFang SC','Microsoft YaHei','Helvetica Neue',sans-serif&quot;, flexDirection: 'column' }}&gt;&#10;&#10;    {/* A · 标题块（100px） */}&#10;    &lt;Box style={{ height: 100, justifyContent: 'center' }}&gt;&#10;        &lt;Text style={{ fontSize: 34, fontWeight: 'bold', lineHeight: 1.3, color: '#EDF1F5', fontFamily: &quot;'Source Han Serif SC','Noto Serif SC','Songti SC',serif&quot; }}&gt;&#10;            有一类信息，读代码永远看不到&#10;        &lt;/Text&gt;&#10;        &lt;Text style={{ fontSize: 16, color: '#8892A0', marginTop: 6, letterSpacing: 0.5 }}&gt;&#10;            Some information never shows up in the code itself&#10;        &lt;/Text&gt;&#10;    &lt;/Box&gt;&#10;&#10;    {/* B · 内容区（540px） */}&#10;    &lt;Box style={{ height: 540 }}&gt;&#10;&#10;        {/* 引导句 */}&#10;        &lt;Box style={{ height: 90, padding: '14px 22px', background: '#1D242E', borderLeft: '3px solid #E3A33E', borderRadius: 10, justifyContent: 'center' }}&gt;&#10;            &lt;Text style={{ fontSize: 20, lineHeight: 1.5, color: '#EDF1F5' }}&gt;&#10;                技术尽调评估复杂度、覆盖率与维护成本，却从不评估更致命的一项：知识还能否被交接。&#10;            &lt;/Text&gt;&#10;            &lt;Text style={{ fontSize: 15, color: '#8892A0', marginTop: 6 }}&gt;&#10;                Due diligence measures complexity, coverage and cost — never knowledge inheritability.&#10;            &lt;/Text&gt;&#10;        &lt;/Box&gt;&#10;&#10;        {/* 三类证据 */}&#10;        &lt;Box style={{ flexDirection: 'row', gap: 20, height: 348, marginTop: 14 }}&gt;&#10;&#10;            &lt;Box style={{ flex: 1, padding: 22, background: '#1D242E', borderRadius: 12, border: '1px solid #232C38' }}&gt;&#10;                &lt;Text style={{ fontSize: 44, fontWeight: 'bold', lineHeight: 1, color: '#E3A33E', fontFamily: &quot;'Source Han Serif SC','Noto Serif SC','Songti SC',serif&quot; }}&gt;&#10;                    01&#10;                &lt;/Text&gt;&#10;                &lt;Text style={{ fontSize: 21, fontWeight: 'bold', color: '#EDF1F5', marginTop: 10 }}&gt;&#10;                    沉积物淹没文物&#10;                &lt;/Text&gt;&#10;                &lt;Text style={{ fontSize: 14, color: '#8892A0', marginTop: 4, letterSpacing: 0.5 }}&gt;&#10;                    Signal buried under automation&#10;                &lt;/Text&gt;&#10;                &lt;Text style={{ fontSize: 16, lineHeight: 1.55, color: '#A8B2BE', marginTop: 12 }}&gt;&#10;                    axios 最近 40 次提交里，20 次来自 dependabot，占 50%。不剥离自动化噪音的考古，挖出来的全是依赖升级和锁文件 diff。信噪分离必须先于一切分析 —— 报告的第一个数字是信噪比，而不是结论。&#10;                &lt;/Text&gt;&#10;                &lt;Box style={{ marginTop: 'auto', paddingTop: 12, borderTop: '1px solid #232C38' }}&gt;&#10;                    &lt;Text style={{ fontSize: 14, color: '#4CB8A6' }}&gt;&#10;                        实测 axios：20 / 40 = 50% 机器人提交&#10;                    &lt;/Text&gt;&#10;                &lt;/Box&gt;&#10;            &lt;/Box&gt;&#10;&#10;            &lt;Box style={{ flex: 1, padding: 22, background: '#1D242E', borderRadius: 12, border: '1px solid #232C38' }}&gt;&#10;                &lt;Text style={{ fontSize: 44, fontWeight: 'bold', lineHeight: 1, color: '#E3A33E', fontFamily: &quot;'Source Han Serif SC','Noto Serif SC','Songti SC',serif&quot; }}&gt;&#10;                    02&#10;                &lt;/Text&gt;&#10;                &lt;Text style={{ fontSize: 21, fontWeight: 'bold', color: '#EDF1F5', marginTop: 10 }}&gt;&#10;                    意图随提交信息蒸发&#10;                &lt;/Text&gt;&#10;                &lt;Text style={{ fontSize: 14, color: '#8892A0', marginTop: 4, letterSpacing: 0.5 }}&gt;&#10;                    Intent evaporates with the commit message&#10;                &lt;/Text&gt;&#10;                &lt;Text style={{ fontSize: 16, lineHeight: 1.55, color: '#A8B2BE', marginTop: 12 }}&gt;&#10;                    &quot;fix&quot;、&quot;update&quot;、&quot;修改&quot; —— 这类提交信息让后来者无法还原改动原因。追溯到人、靠人解释的成本极高，于是被无限推迟，直到那个人离开。含糊提交率可直接测量，我们把它列进风险分的第一个因子。&#10;                &lt;/Text&gt;&#10;                &lt;Box style={{ marginTop: 'auto', paddingTop: 12, borderTop: '1px solid #232C38' }}&gt;&#10;                    &lt;Text style={{ fontSize: 14, color: '#4CB8A6' }}&gt;&#10;                        风险因子权重 25 / 100 · 可量化&#10;                    &lt;/Text&gt;&#10;                &lt;/Box&gt;&#10;            &lt;/Box&gt;&#10;&#10;            &lt;Box style={{ flex: 1, padding: 22, background: '#1D242E', borderRadius: 12, border: '1px solid #232C38' }}&gt;&#10;                &lt;Text style={{ fontSize: 44, fontWeight: 'bold', lineHeight: 1, color: '#E3A33E', fontFamily: &quot;'Source Han Serif SC','Noto Serif SC','Songti SC',serif&quot; }}&gt;&#10;                    03&#10;                &lt;/Text&gt;&#10;                &lt;Text style={{ fontSize: 21, fontWeight: 'bold', color: '#EDF1F5', marginTop: 10 }}&gt;&#10;                    先进后出，零痕迹&#10;                &lt;/Text&gt;&#10;                &lt;Text style={{ fontSize: 14, color: '#8892A0', marginTop: 4, letterSpacing: 0.5 }}&gt;&#10;                    Added, then removed — no trace left&#10;                &lt;/Text&gt;&#10;                &lt;Text style={{ fontSize: 16, lineHeight: 1.55, color: '#A8B2BE', marginTop: 12 }}&gt;&#10;                    7 月 25 日加了下划线样式，次日整体删掉。当前代码库里找不到任何证据证明它存在过 —— 没有 TODO、没有注释、没有残留分支。这类信息只存在于提交历史里，读代码永远读不出来，它是这套系统唯一的护城河。&#10;                &lt;/Text&gt;&#10;                &lt;Box style={{ marginTop: 'auto', paddingTop: 12, borderTop: '1px solid #232C38' }}&gt;&#10;                    &lt;Text style={{ fontSize: 14, color: '#4CB8A6' }}&gt;&#10;                        只能从历史中挖出的信息&#10;                    &lt;/Text&gt;&#10;                &lt;/Box&gt;&#10;            &lt;/Box&gt;&#10;&#10;        &lt;/Box&gt;&#10;&#10;        {/* 收束横条 */}&#10;        &lt;Box style={{ height: 66, marginTop: 14, padding: '8px 22px', background: 'rgba(227,163,62,0.08)', borderRadius: 10, border: '1px solid rgba(227,163,62,0.28)', justifyContent: 'center' }}&gt;&#10;            &lt;Text style={{ fontSize: 18, color: '#EDF1F5' }}&gt;&#10;                于是问题不是「这个项目好不好」，而是&lt;span style={{ color: '#E3A33E', fontWeight: 'bold' }}&gt;「它还能不能被交接」&lt;/span&gt;。&#10;            &lt;/Text&gt;&#10;            &lt;Text style={{ fontSize: 14, color: '#8892A0', marginTop: 4 }}&gt;&#10;                So the question is not whether the code is good — it is whether it can still be handed over.&#10;            &lt;/Text&gt;&#10;        &lt;/Box&gt;&#10;&#10;    &lt;/Box&gt;&#10;&#10;    {/* C · 页脚条（40px） */}&#10;    &lt;Box style={{ height: 40, flexDirection: 'row', alignItems: 'center', justifyContent: 'space-between' }}&gt;&#10;        &lt;Box style={{ flexDirection: 'row', alignItems: 'center', gap: 9 }}&gt;&#10;            &lt;svg width={22} height={22} viewBox='0 0 22 22'&gt;&#10;                &lt;rect x='0' y='0' width='22' height='5' fill='#232C38' /&gt;&#10;                &lt;rect x='0' y='5' width='22' height='6' fill='#E3A33E' /&gt;&#10;                &lt;rect x='0' y='11' width='22' height='5' fill='#232C38' /&gt;&#10;                &lt;rect x='0' y='16' width='22' height='6' fill='#1D242E' /&gt;&#10;            &lt;/svg&gt;&#10;            &lt;Text style={{ fontSize: 14, color: '#8892A0' }}&gt;&#10;                代码考古学 / Code Archaeology&#10;            &lt;/Text&gt;&#10;        &lt;/Box&gt;&#10;        &lt;Text style={{ fontSize: 14, color: '#8892A0' }}&gt;&#10;            02 / 05&#10;        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DF1F5"/>
                </a:solidFill>
                <a:latin typeface="Source Han Serif SC"/>
                <a:ea typeface="Source Han Serif SC"/>
              </a:rPr>
              <a:t>有一类信息，读代码永远看不到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85725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8">
                <a:solidFill>
                  <a:srgbClr val="8892A0"/>
                </a:solidFill>
                <a:latin typeface="PingFang SC"/>
                <a:ea typeface="PingFang SC"/>
              </a:rPr>
              <a:t>Some information never shows up in the code itself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00075" y="1143000"/>
            <a:ext cx="11049000" cy="857250"/>
          </a:xfrm>
          <a:prstGeom prst="roundRect">
            <a:avLst>
              <a:gd name="adj" fmla="val 11111"/>
            </a:avLst>
          </a:prstGeom>
          <a:solidFill>
            <a:srgbClr val="1D242E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00075" y="1143000"/>
            <a:ext cx="11049000" cy="857250"/>
          </a:xfrm>
          <a:custGeom>
            <a:pathLst>
              <a:path w="1160" h="9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83"/>
                </a:lnTo>
                <a:cubicBezTo>
                  <a:pt x="3" y="86"/>
                  <a:pt x="5" y="89"/>
                  <a:pt x="8" y="90"/>
                </a:cubicBezTo>
                <a:cubicBezTo>
                  <a:pt x="3" y="89"/>
                  <a:pt x="0" y="85"/>
                  <a:pt x="0" y="8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3A33E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09625" y="1285875"/>
            <a:ext cx="1060132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EDF1F5"/>
                </a:solidFill>
                <a:latin typeface="PingFang SC"/>
                <a:ea typeface="PingFang SC"/>
              </a:rPr>
              <a:t>技术尽调评估复杂度、覆盖率与维护成本，却从不评估更致命的一项：知识还能否被交接。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09625" y="1685925"/>
            <a:ext cx="1060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892A0"/>
                </a:solidFill>
                <a:latin typeface="PingFang SC"/>
                <a:ea typeface="PingFang SC"/>
              </a:rPr>
              <a:t>Due diligence measures complexity, coverage and cost — never knowledge inheritability.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571500" y="2133600"/>
            <a:ext cx="3552825" cy="3314700"/>
          </a:xfrm>
          <a:prstGeom prst="roundRect">
            <a:avLst>
              <a:gd name="adj" fmla="val 3448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81050" y="2343150"/>
            <a:ext cx="3133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3A33E"/>
                </a:solidFill>
                <a:latin typeface="Source Han Serif SC"/>
                <a:ea typeface="Source Han Serif SC"/>
              </a:rPr>
              <a:t>01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81050" y="2943225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DF1F5"/>
                </a:solidFill>
                <a:latin typeface="PingFang SC"/>
                <a:ea typeface="PingFang SC"/>
              </a:rPr>
              <a:t>沉积物淹没文物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81050" y="322897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8892A0"/>
                </a:solidFill>
                <a:latin typeface="PingFang SC"/>
                <a:ea typeface="PingFang SC"/>
              </a:rPr>
              <a:t>Signal buried under automation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81050" y="3505200"/>
            <a:ext cx="3133725" cy="1419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axios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最近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40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次提交里，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20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次来自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dependabot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，占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50%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。不剥离自动化噪音的考古，挖出来的全是依赖升级和锁文件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diff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。信噪分离必须先于一切分析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报告的第一个数字是信噪比，而不是结论。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781050" y="4953000"/>
            <a:ext cx="3133725" cy="295275"/>
          </a:xfrm>
          <a:custGeom>
            <a:pathLst>
              <a:path w="329" h="31">
                <a:moveTo>
                  <a:pt x="0" y="0"/>
                </a:moveTo>
                <a:lnTo>
                  <a:pt x="329" y="0"/>
                </a:lnTo>
                <a:lnTo>
                  <a:pt x="329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81050" y="50768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实测</a:t>
            </a:r>
            <a:r>
              <a:rPr lang="en-US" sz="1050">
                <a:solidFill>
                  <a:srgbClr val="4CB8A6"/>
                </a:solidFill>
                <a:latin typeface="PingFang SC"/>
                <a:ea typeface="PingFang SC"/>
              </a:rPr>
              <a:t> axios</a:t>
            </a: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：</a:t>
            </a:r>
            <a:r>
              <a:rPr lang="en-US" sz="1050">
                <a:solidFill>
                  <a:srgbClr val="4CB8A6"/>
                </a:solidFill>
                <a:latin typeface="PingFang SC"/>
                <a:ea typeface="PingFang SC"/>
              </a:rPr>
              <a:t>20 / 40 = 50% </a:t>
            </a: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机器人提交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4314825" y="2133600"/>
            <a:ext cx="3562350" cy="3314700"/>
          </a:xfrm>
          <a:prstGeom prst="roundRect">
            <a:avLst>
              <a:gd name="adj" fmla="val 3448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524375" y="2343150"/>
            <a:ext cx="31432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3A33E"/>
                </a:solidFill>
                <a:latin typeface="Source Han Serif SC"/>
                <a:ea typeface="Source Han Serif SC"/>
              </a:rPr>
              <a:t>02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524375" y="2943225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DF1F5"/>
                </a:solidFill>
                <a:latin typeface="PingFang SC"/>
                <a:ea typeface="PingFang SC"/>
              </a:rPr>
              <a:t>意图随提交信息蒸发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524375" y="322897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8892A0"/>
                </a:solidFill>
                <a:latin typeface="PingFang SC"/>
                <a:ea typeface="PingFang SC"/>
              </a:rPr>
              <a:t>Intent evaporates with the commit message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524375" y="3505200"/>
            <a:ext cx="3143250" cy="1419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"fix"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、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"update"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、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修改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" ——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这类提交信息让后来者无法还原改动原因。追溯到人、靠人解释的成本极高，于是被无限推迟，直到那个人离开。含糊提交率可直接测量，我们把它列进风险分的第一个因子。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4524375" y="4953000"/>
            <a:ext cx="3143250" cy="295275"/>
          </a:xfrm>
          <a:custGeom>
            <a:pathLst>
              <a:path w="330" h="31">
                <a:moveTo>
                  <a:pt x="0" y="0"/>
                </a:moveTo>
                <a:lnTo>
                  <a:pt x="330" y="0"/>
                </a:lnTo>
                <a:lnTo>
                  <a:pt x="33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524375" y="50768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风险因子权重</a:t>
            </a:r>
            <a:r>
              <a:rPr lang="en-US" sz="1050">
                <a:solidFill>
                  <a:srgbClr val="4CB8A6"/>
                </a:solidFill>
                <a:latin typeface="PingFang SC"/>
                <a:ea typeface="PingFang SC"/>
              </a:rPr>
              <a:t> 25 / 100 · </a:t>
            </a: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可量化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8067675" y="2133600"/>
            <a:ext cx="3552825" cy="3314700"/>
          </a:xfrm>
          <a:prstGeom prst="roundRect">
            <a:avLst>
              <a:gd name="adj" fmla="val 3448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277225" y="2343150"/>
            <a:ext cx="3133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3A33E"/>
                </a:solidFill>
                <a:latin typeface="Source Han Serif SC"/>
                <a:ea typeface="Source Han Serif SC"/>
              </a:rPr>
              <a:t>03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277225" y="2943225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DF1F5"/>
                </a:solidFill>
                <a:latin typeface="PingFang SC"/>
                <a:ea typeface="PingFang SC"/>
              </a:rPr>
              <a:t>先进后出，零痕迹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277225" y="322897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8892A0"/>
                </a:solidFill>
                <a:latin typeface="PingFang SC"/>
                <a:ea typeface="PingFang SC"/>
              </a:rPr>
              <a:t>Added, then removed — no trace left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277225" y="3505200"/>
            <a:ext cx="3133725" cy="1419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7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月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25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日加了下划线样式，次日整体删掉。当前代码库里找不到任何证据证明它存在过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没有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TODO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、没有注释、没有残留分支。这类信息只存在于提交历史里，读代码永远读不出来，它是这套系统唯一的护城河。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8277225" y="4953000"/>
            <a:ext cx="3133725" cy="295275"/>
          </a:xfrm>
          <a:custGeom>
            <a:pathLst>
              <a:path w="329" h="31">
                <a:moveTo>
                  <a:pt x="0" y="0"/>
                </a:moveTo>
                <a:lnTo>
                  <a:pt x="329" y="0"/>
                </a:lnTo>
                <a:lnTo>
                  <a:pt x="329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277225" y="50768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只能从历史中挖出的信息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571500" y="5581650"/>
            <a:ext cx="11049000" cy="628650"/>
          </a:xfrm>
          <a:prstGeom prst="roundRect">
            <a:avLst>
              <a:gd name="adj" fmla="val 15152"/>
            </a:avLst>
          </a:prstGeom>
          <a:solidFill>
            <a:srgbClr val="E3A33E">
              <a:alpha val="8000"/>
            </a:srgbClr>
          </a:solidFill>
          <a:ln w="12700">
            <a:solidFill>
              <a:srgbClr val="E3A33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81050" y="5695950"/>
            <a:ext cx="1062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DF1F5"/>
                </a:solidFill>
                <a:latin typeface="PingFang SC"/>
                <a:ea typeface="PingFang SC"/>
              </a:rPr>
              <a:t>于是问题不是「这个项目好不好」，而是</a:t>
            </a:r>
            <a:r>
              <a:rPr lang="zh-CN" sz="1350" b="1">
                <a:solidFill>
                  <a:srgbClr val="E3A33E"/>
                </a:solidFill>
                <a:latin typeface="PingFang SC"/>
                <a:ea typeface="PingFang SC"/>
              </a:rPr>
              <a:t>「它还能不能被交接」</a:t>
            </a:r>
            <a:r>
              <a:rPr lang="zh-CN" sz="1350">
                <a:solidFill>
                  <a:srgbClr val="EDF1F5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81050" y="5943600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So the question is not whether the code is good — it is whether it can still be handed over.</a:t>
            </a:r>
            <a:endParaRPr/>
          </a:p>
        </p:txBody>
      </p:sp>
      <p:pic>
        <p:nvPicPr>
          <p:cNvPr id="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6372225"/>
            <a:ext cx="209550" cy="209550"/>
          </a:xfrm>
          <a:prstGeom prst="rect">
            <a:avLst/>
          </a:prstGeom>
          <a:ln/>
        </p:spPr>
      </p:pic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66775" y="6400800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 / Code Archaeology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02 / 05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5" name="" descr="&lt;Slide style={{ width: '1280px', height: '720px', padding: '20px 60px', background: '#10141A', fontFamily: &quot;'PingFang SC','Microsoft YaHei','Helvetica Neue',sans-serif&quot;, flexDirection: 'column' }}&gt;&#10;&#10;    {/* A · 标题块（100px） */}&#10;    &lt;Box style={{ height: 100, justifyContent: 'center' }}&gt;&#10;        &lt;Text style={{ fontSize: 34, fontWeight: 'bold', lineHeight: 1.3, color: '#EDF1F5', fontFamily: &quot;'Source Han Serif SC','Noto Serif SC','Songti SC',serif&quot; }}&gt;&#10;            先筛地层，再挖文物，最后自己查自己&#10;        &lt;/Text&gt;&#10;        &lt;Text style={{ fontSize: 16, color: '#8892A0', marginTop: 6, letterSpacing: 0.5 }}&gt;&#10;            Sift the strata, excavate the artifacts, then audit ourselves&#10;        &lt;/Text&gt;&#10;    &lt;/Box&gt;&#10;&#10;    {/* B · 内容区（540px） */}&#10;    &lt;Box style={{ height: 540 }}&gt;&#10;&#10;        {/* L1 主视觉：三段流水线 */}&#10;        &lt;Box style={{ flexDirection: 'row', alignItems: 'stretch', height: 180, gap: 0 }}&gt;&#10;&#10;            &lt;Box style={{ flex: 1, padding: 16, background: '#1D242E', borderRadius: 12, border: '1px solid #232C38', borderTop: '3px solid #E3A33E' }}&gt;&#10;                &lt;Text style={{ fontSize: 13, fontWeight: 'bold', letterSpacing: 3, color: '#E3A33E' }}&gt;&#10;                    STAGE 01&#10;                &lt;/Text&gt;&#10;                &lt;Text style={{ fontSize: 22, fontWeight: 'bold', color: '#EDF1F5', marginTop: 6 }}&gt;&#10;                    信噪分离&#10;                &lt;/Text&gt;&#10;                &lt;Text style={{ fontSize: 13, color: '#8892A0', marginTop: 2 }}&gt;&#10;                    Signal / noise separation&#10;                &lt;/Text&gt;&#10;                &lt;Text style={{ fontSize: 15, lineHeight: 1.5, color: '#A8B2BE', marginTop: 8 }}&gt;&#10;                    剔除机器人提交与生成物，只保留人类决策痕迹。&#10;                &lt;/Text&gt;&#10;                &lt;Box style={{ marginTop: 'auto', flexDirection: 'row', alignItems: 'center', gap: 8 }}&gt;&#10;                    &lt;Box style={{ width: 8, height: 8, borderRadius: 4, background: '#E3A33E' }} /&gt;&#10;                    &lt;Text style={{ fontSize: 13, color: '#8892A0' }}&gt;&#10;                        纯计算 · 不调用任何模型&#10;                    &lt;/Text&gt;&#10;                &lt;/Box&gt;&#10;            &lt;/Box&gt;&#10;&#10;            &lt;Box style={{ width: 44, justifyContent: 'center', alignItems: 'center' }}&gt;&#10;                &lt;FAIcon name='arrow-right' style={{ fill: '#E3A33E', width: 26, height: 26 }} /&gt;&#10;            &lt;/Box&gt;&#10;&#10;            &lt;Box style={{ flex: 1, padding: 16, background: '#1D242E', borderRadius: 12, border: '1px solid #232C38', borderTop: '3px solid #4CB8A6' }}&gt;&#10;                &lt;Text style={{ fontSize: 13, fontWeight: 'bold', letterSpacing: 3, color: '#4CB8A6' }}&gt;&#10;                    STAGE 02&#10;                &lt;/Text&gt;&#10;                &lt;Text style={{ fontSize: 22, fontWeight: 'bold', color: '#EDF1F5', marginTop: 6 }}&gt;&#10;                    多模型分工&#10;                &lt;/Text&gt;&#10;                &lt;Text style={{ fontSize: 13, color: '#8892A0', marginTop: 2 }}&gt;&#10;                    Multi-model workflow&#10;                &lt;/Text&gt;&#10;                &lt;Text style={{ fontSize: 15, lineHeight: 1.5, color: '#A8B2BE', marginTop: 8 }}&gt;&#10;                    叙事 ‖ 假设 并行，审稿人拿到结果后复核。&#10;                &lt;/Text&gt;&#10;                &lt;Box style={{ marginTop: 'auto', flexDirection: 'row', alignItems: 'center', gap: 8 }}&gt;&#10;                    &lt;Box style={{ width: 8, height: 8, borderRadius: 4, background: '#4CB8A6' }} /&gt;&#10;                    &lt;Text style={{ fontSize: 13, color: '#8892A0' }}&gt;&#10;                        3 家供应商 · 有依赖的流水线&#10;                    &lt;/Text&gt;&#10;                &lt;/Box&gt;&#10;            &lt;/Box&gt;&#10;&#10;            &lt;Box style={{ width: 44, justifyContent: 'center', alignItems: 'center' }}&gt;&#10;                &lt;FAIcon name='arrow-right' style={{ fill: '#4CB8A6', width: 26, height: 26 }} /&gt;&#10;            &lt;/Box&gt;&#10;&#10;            &lt;Box style={{ flex: 1, padding: 16, background: '#1D242E', borderRadius: 12, border: '1px solid #232C38', borderTop: '3px solid #E3A33E' }}&gt;&#10;                &lt;Text style={{ fontSize: 13, fontWeight: 'bold', letterSpacing: 3, color: '#E3A33E' }}&gt;&#10;                    STAGE 03&#10;                &lt;/Text&gt;&#10;                &lt;Text style={{ fontSize: 22, fontWeight: 'bold', color: '#EDF1F5', marginTop: 6 }}&gt;&#10;                    证据接地校验&#10;                &lt;/Text&gt;&#10;                &lt;Text style={{ fontSize: 13, color: '#8892A0', marginTop: 2 }}&gt;&#10;                    Evidence grounding audit&#10;                &lt;/Text&gt;&#10;                &lt;Text style={{ fontSize: 15, lineHeight: 1.5, color: '#A8B2BE', marginTop: 8 }}&gt;&#10;                    对模型引用的每个 SHA 做真实性校验。&#10;                &lt;/Text&gt;&#10;                &lt;Box style={{ marginTop: 'auto', flexDirection: 'row', alignItems: 'center', gap: 8 }}&gt;&#10;                    &lt;Box style={{ width: 8, height: 8, borderRadius: 4, background: '#E3A33E' }} /&gt;&#10;                    &lt;Text style={{ fontSize: 13, color: '#8892A0' }}&gt;&#10;                        集合运算 · 不依赖模型自评&#10;                    &lt;/Text&gt;&#10;                &lt;/Box&gt;&#10;            &lt;/Box&gt;&#10;&#10;        &lt;/Box&gt;&#10;&#10;        {/* 三条关键设计 */}&#10;        &lt;Box style={{ flexDirection: 'row', gap: 20, height: 340, marginTop: 16 }}&gt;&#10;&#10;            &lt;Box style={{ flex: 1, padding: 22, background: '#1D242E', borderRadius: 12, border: '1px solid #232C38' }}&gt;&#10;                &lt;Text style={{ fontSize: 44, fontWeight: 'bold', lineHeight: 1, color: '#E3A33E', fontFamily: &quot;'Source Han Serif SC','Noto Serif SC','Songti SC',serif&quot; }}&gt;&#10;                    01&#10;                &lt;/Text&gt;&#10;                &lt;Text style={{ fontSize: 21, fontWeight: 'bold', color: '#EDF1F5', marginTop: 10 }}&gt;&#10;                    引擎不需要模型&#10;                &lt;/Text&gt;&#10;                &lt;Text style={{ fontSize: 14, color: '#8892A0', marginTop: 4, letterSpacing: 0.5 }}&gt;&#10;                    The engine never needs a model&#10;                &lt;/Text&gt;&#10;                &lt;Text style={{ fontSize: 16, lineHeight: 1.5, color: '#A8B2BE', marginTop: 10 }}&gt;&#10;                    挖掘层只依赖 GitHub REST API，产出全部是硬指标。模型层整体不可用时，客观报告照常完整交付，而不是整个系统失败 —— 容错是分层的前提，也是赛道加分项点名的那一条。&#10;                &lt;/Text&gt;&#10;                &lt;Box style={{ marginTop: 'auto', paddingTop: 12, borderTop: '1px solid #232C38' }}&gt;&#10;                    &lt;Text style={{ fontSize: 14, color: '#4CB8A6' }}&gt;&#10;                        模型层挂掉 · 报告照出&#10;                    &lt;/Text&gt;&#10;                &lt;/Box&gt;&#10;            &lt;/Box&gt;&#10;&#10;            &lt;Box style={{ flex: 1, padding: 22, background: '#1D242E', borderRadius: 12, border: '1px solid #232C38' }}&gt;&#10;                &lt;Text style={{ fontSize: 44, fontWeight: 'bold', lineHeight: 1, color: '#E3A33E', fontFamily: &quot;'Source Han Serif SC','Noto Serif SC','Songti SC',serif&quot; }}&gt;&#10;                    02&#10;                &lt;/Text&gt;&#10;                &lt;Text style={{ fontSize: 21, fontWeight: 'bold', color: '#EDF1F5', marginTop: 10 }}&gt;&#10;                    真分工，不是换 prompt&#10;                &lt;/Text&gt;&#10;                &lt;Text style={{ fontSize: 14, color: '#8892A0', marginTop: 4, letterSpacing: 0.5 }}&gt;&#10;                    Real division of labour&#10;                &lt;/Text&gt;&#10;                &lt;Text style={{ fontSize: 16, lineHeight: 1.5, color: '#A8B2BE', marginTop: 10 }}&gt;&#10;                    叙事者与假设者互不依赖，并行执行；审稿人拿到代码层校验结果后才复核前两者。三个模型来自三家不同供应商，后一步依赖前一步的产出 —— 这才是工作流。&#10;                &lt;/Text&gt;&#10;                &lt;Box style={{ marginTop: 'auto', paddingTop: 12, borderTop: '1px solid #232C38' }}&gt;&#10;                    &lt;Text style={{ fontSize: 14, color: '#4CB8A6' }}&gt;&#10;                        gpt-4o ‖ deepseek-v4-pro → gemini-2.5-flash&#10;                    &lt;/Text&gt;&#10;                &lt;/Box&gt;&#10;            &lt;/Box&gt;&#10;&#10;            &lt;Box style={{ flex: 1, padding: 22, background: '#1D242E', borderRadius: 12, border: '1px solid #232C38' }}&gt;&#10;                &lt;Text style={{ fontSize: 44, fontWeight: 'bold', lineHeight: 1, color: '#E3A33E', fontFamily: &quot;'Source Han Serif SC','Noto Serif SC','Songti SC',serif&quot; }}&gt;&#10;                    03&#10;                &lt;/Text&gt;&#10;                &lt;Text style={{ fontSize: 21, fontWeight: 'bold', color: '#EDF1F5', marginTop: 10 }}&gt;&#10;                    幻觉检测靠代码&#10;                &lt;/Text&gt;&#10;                &lt;Text style={{ fontSize: 14, color: '#8892A0', marginTop: 4, letterSpacing: 0.5 }}&gt;&#10;                    Detection by code, not by a judge model&#10;                &lt;/Text&gt;&#10;                &lt;Text style={{ fontSize: 16, lineHeight: 1.5, color: '#A8B2BE', marginTop: 10 }}&gt;&#10;                    每条结论都必须引用真实存在的 commit SHA。拿模型引用的 SHA 与真实拉取的 SHA 做集合运算 —— 「引用了不存在的提交」是可证明的编造，不需要另一个模型来评判，这一步 100% 由程序完成。&#10;                &lt;/Text&gt;&#10;                &lt;Box style={{ marginTop: 'auto', paddingTop: 12, borderTop: '1px solid #232C38' }}&gt;&#10;                    &lt;Text style={{ fontSize: 14, color: '#4CB8A6' }}&gt;&#10;                        SHA 集合运算 · 无判官模型&#10;                    &lt;/Text&gt;&#10;                &lt;/Box&gt;&#10;            &lt;/Box&gt;&#10;&#10;        &lt;/Box&gt;&#10;&#10;    &lt;/Box&gt;&#10;&#10;    {/* C · 页脚条（40px） */}&#10;    &lt;Box style={{ height: 40, flexDirection: 'row', alignItems: 'center', justifyContent: 'space-between' }}&gt;&#10;        &lt;Box style={{ flexDirection: 'row', alignItems: 'center', gap: 9 }}&gt;&#10;            &lt;svg width={22} height={22} viewBox='0 0 22 22'&gt;&#10;                &lt;rect x='0' y='0' width='22' height='5' fill='#232C38' /&gt;&#10;                &lt;rect x='0' y='5' width='22' height='6' fill='#E3A33E' /&gt;&#10;                &lt;rect x='0' y='11' width='22' height='5' fill='#232C38' /&gt;&#10;                &lt;rect x='0' y='16' width='22' height='6' fill='#1D242E' /&gt;&#10;            &lt;/svg&gt;&#10;            &lt;Text style={{ fontSize: 14, color: '#8892A0' }}&gt;&#10;                代码考古学 / Code Archaeology&#10;            &lt;/Text&gt;&#10;        &lt;/Box&gt;&#10;        &lt;Text style={{ fontSize: 14, color: '#8892A0' }}&gt;&#10;            03 / 05&#10;        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DF1F5"/>
                </a:solidFill>
                <a:latin typeface="Source Han Serif SC"/>
                <a:ea typeface="Source Han Serif SC"/>
              </a:rPr>
              <a:t>先筛地层，再挖文物，最后自己查自己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71500" y="85725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8">
                <a:solidFill>
                  <a:srgbClr val="8892A0"/>
                </a:solidFill>
                <a:latin typeface="PingFang SC"/>
                <a:ea typeface="PingFang SC"/>
              </a:rPr>
              <a:t>Sift the strata, excavate the artifacts, then audit ourselves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571500" y="1171575"/>
            <a:ext cx="3400425" cy="1714500"/>
          </a:xfrm>
          <a:prstGeom prst="roundRect">
            <a:avLst>
              <a:gd name="adj" fmla="val 6667"/>
            </a:avLst>
          </a:prstGeom>
          <a:solidFill>
            <a:srgbClr val="1D242E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571500" y="1171575"/>
            <a:ext cx="3400425" cy="1714500"/>
          </a:xfrm>
          <a:custGeom>
            <a:pathLst>
              <a:path w="357" h="180">
                <a:moveTo>
                  <a:pt x="346" y="0"/>
                </a:moveTo>
                <a:cubicBezTo>
                  <a:pt x="351" y="0"/>
                  <a:pt x="356" y="4"/>
                  <a:pt x="357" y="9"/>
                </a:cubicBezTo>
                <a:cubicBezTo>
                  <a:pt x="355" y="6"/>
                  <a:pt x="352" y="3"/>
                  <a:pt x="348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45" y="0"/>
                </a:lnTo>
                <a:close/>
              </a:path>
            </a:pathLst>
          </a:custGeom>
          <a:solidFill>
            <a:srgbClr val="E3A33E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23900" y="1323975"/>
            <a:ext cx="3095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E3A33E"/>
                </a:solidFill>
                <a:latin typeface="PingFang SC"/>
                <a:ea typeface="PingFang SC"/>
              </a:rPr>
              <a:t>STAGE 01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23900" y="1533525"/>
            <a:ext cx="3095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DF1F5"/>
                </a:solidFill>
                <a:latin typeface="PingFang SC"/>
                <a:ea typeface="PingFang SC"/>
              </a:rPr>
              <a:t>信噪分离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23900" y="1809750"/>
            <a:ext cx="3095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Signal / noise separation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23900" y="2038350"/>
            <a:ext cx="30956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8B2BE"/>
                </a:solidFill>
                <a:latin typeface="PingFang SC"/>
                <a:ea typeface="PingFang SC"/>
              </a:rPr>
              <a:t>剔除机器人提交与生成物，只保留人类决策痕迹。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723900" y="259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3A33E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76300" y="2552700"/>
            <a:ext cx="1390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892A0"/>
                </a:solidFill>
                <a:latin typeface="PingFang SC"/>
                <a:ea typeface="PingFang SC"/>
              </a:rPr>
              <a:t>纯计算</a:t>
            </a: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8892A0"/>
                </a:solidFill>
                <a:latin typeface="PingFang SC"/>
                <a:ea typeface="PingFang SC"/>
              </a:rPr>
              <a:t>不调用任何模型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57650" y="1876425"/>
            <a:ext cx="247650" cy="247650"/>
          </a:xfrm>
          <a:prstGeom prst="rect">
            <a:avLst/>
          </a:prstGeom>
          <a:ln/>
        </p:spPr>
      </p:pic>
      <p:sp>
        <p:nvSpPr>
          <p:cNvPr id="68" name=""/>
          <p:cNvSpPr/>
          <p:nvPr/>
        </p:nvSpPr>
        <p:spPr>
          <a:xfrm rot="0" flipH="0" flipV="0">
            <a:off x="4391025" y="1171575"/>
            <a:ext cx="3409950" cy="1714500"/>
          </a:xfrm>
          <a:prstGeom prst="roundRect">
            <a:avLst>
              <a:gd name="adj" fmla="val 6667"/>
            </a:avLst>
          </a:prstGeom>
          <a:solidFill>
            <a:srgbClr val="1D242E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4391025" y="1171575"/>
            <a:ext cx="3409950" cy="1714500"/>
          </a:xfrm>
          <a:custGeom>
            <a:pathLst>
              <a:path w="358" h="180">
                <a:moveTo>
                  <a:pt x="347" y="0"/>
                </a:moveTo>
                <a:cubicBezTo>
                  <a:pt x="352" y="0"/>
                  <a:pt x="357" y="4"/>
                  <a:pt x="358" y="9"/>
                </a:cubicBezTo>
                <a:cubicBezTo>
                  <a:pt x="356" y="6"/>
                  <a:pt x="353" y="3"/>
                  <a:pt x="349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46" y="0"/>
                </a:lnTo>
                <a:close/>
              </a:path>
            </a:pathLst>
          </a:custGeom>
          <a:solidFill>
            <a:srgbClr val="4CB8A6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543425" y="1323975"/>
            <a:ext cx="3105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4CB8A6"/>
                </a:solidFill>
                <a:latin typeface="PingFang SC"/>
                <a:ea typeface="PingFang SC"/>
              </a:rPr>
              <a:t>STAGE 02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543425" y="1533525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DF1F5"/>
                </a:solidFill>
                <a:latin typeface="PingFang SC"/>
                <a:ea typeface="PingFang SC"/>
              </a:rPr>
              <a:t>多模型分工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543425" y="1809750"/>
            <a:ext cx="3105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Multi-model workflow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543425" y="203835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8B2BE"/>
                </a:solidFill>
                <a:latin typeface="PingFang SC"/>
                <a:ea typeface="PingFang SC"/>
              </a:rPr>
              <a:t>叙事</a:t>
            </a:r>
            <a:r>
              <a:rPr lang="en-US" sz="1125">
                <a:solidFill>
                  <a:srgbClr val="A8B2BE"/>
                </a:solidFill>
                <a:latin typeface="PingFang SC"/>
                <a:ea typeface="PingFang SC"/>
              </a:rPr>
              <a:t> ‖ </a:t>
            </a:r>
            <a:r>
              <a:rPr lang="zh-CN" sz="1125">
                <a:solidFill>
                  <a:srgbClr val="A8B2BE"/>
                </a:solidFill>
                <a:latin typeface="PingFang SC"/>
                <a:ea typeface="PingFang SC"/>
              </a:rPr>
              <a:t>假设</a:t>
            </a:r>
            <a:r>
              <a:rPr lang="en-US" sz="1125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A8B2BE"/>
                </a:solidFill>
                <a:latin typeface="PingFang SC"/>
                <a:ea typeface="PingFang SC"/>
              </a:rPr>
              <a:t>并行，审稿人拿到结果后复核。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4543425" y="259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4CB8A6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695825" y="2552700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3 </a:t>
            </a:r>
            <a:r>
              <a:rPr lang="zh-CN" sz="975">
                <a:solidFill>
                  <a:srgbClr val="8892A0"/>
                </a:solidFill>
                <a:latin typeface="PingFang SC"/>
                <a:ea typeface="PingFang SC"/>
              </a:rPr>
              <a:t>家供应商</a:t>
            </a: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8892A0"/>
                </a:solidFill>
                <a:latin typeface="PingFang SC"/>
                <a:ea typeface="PingFang SC"/>
              </a:rPr>
              <a:t>有依赖的流水线</a:t>
            </a:r>
            <a:endParaRPr/>
          </a:p>
        </p:txBody>
      </p:sp>
      <p:pic>
        <p:nvPicPr>
          <p:cNvPr id="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886700" y="1876425"/>
            <a:ext cx="247650" cy="247650"/>
          </a:xfrm>
          <a:prstGeom prst="rect">
            <a:avLst/>
          </a:prstGeom>
          <a:ln/>
        </p:spPr>
      </p:pic>
      <p:sp>
        <p:nvSpPr>
          <p:cNvPr id="77" name=""/>
          <p:cNvSpPr/>
          <p:nvPr/>
        </p:nvSpPr>
        <p:spPr>
          <a:xfrm rot="0" flipH="0" flipV="0">
            <a:off x="8220075" y="1171575"/>
            <a:ext cx="3400425" cy="1714500"/>
          </a:xfrm>
          <a:prstGeom prst="roundRect">
            <a:avLst>
              <a:gd name="adj" fmla="val 6667"/>
            </a:avLst>
          </a:prstGeom>
          <a:solidFill>
            <a:srgbClr val="1D242E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8220075" y="1171575"/>
            <a:ext cx="3400425" cy="1714500"/>
          </a:xfrm>
          <a:custGeom>
            <a:pathLst>
              <a:path w="357" h="180">
                <a:moveTo>
                  <a:pt x="346" y="0"/>
                </a:moveTo>
                <a:cubicBezTo>
                  <a:pt x="351" y="0"/>
                  <a:pt x="356" y="4"/>
                  <a:pt x="357" y="9"/>
                </a:cubicBezTo>
                <a:cubicBezTo>
                  <a:pt x="355" y="6"/>
                  <a:pt x="352" y="3"/>
                  <a:pt x="348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45" y="0"/>
                </a:lnTo>
                <a:close/>
              </a:path>
            </a:pathLst>
          </a:custGeom>
          <a:solidFill>
            <a:srgbClr val="E3A33E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372475" y="1323975"/>
            <a:ext cx="3095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E3A33E"/>
                </a:solidFill>
                <a:latin typeface="PingFang SC"/>
                <a:ea typeface="PingFang SC"/>
              </a:rPr>
              <a:t>STAGE 03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372475" y="1533525"/>
            <a:ext cx="3095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DF1F5"/>
                </a:solidFill>
                <a:latin typeface="PingFang SC"/>
                <a:ea typeface="PingFang SC"/>
              </a:rPr>
              <a:t>证据接地校验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372475" y="1809750"/>
            <a:ext cx="3095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Evidence grounding audit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372475" y="2038350"/>
            <a:ext cx="3095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8B2BE"/>
                </a:solidFill>
                <a:latin typeface="PingFang SC"/>
                <a:ea typeface="PingFang SC"/>
              </a:rPr>
              <a:t>对模型引用的每个</a:t>
            </a:r>
            <a:r>
              <a:rPr lang="en-US" sz="1125">
                <a:solidFill>
                  <a:srgbClr val="A8B2BE"/>
                </a:solidFill>
                <a:latin typeface="PingFang SC"/>
                <a:ea typeface="PingFang SC"/>
              </a:rPr>
              <a:t> SHA </a:t>
            </a:r>
            <a:r>
              <a:rPr lang="zh-CN" sz="1125">
                <a:solidFill>
                  <a:srgbClr val="A8B2BE"/>
                </a:solidFill>
                <a:latin typeface="PingFang SC"/>
                <a:ea typeface="PingFang SC"/>
              </a:rPr>
              <a:t>做真实性校验。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8372475" y="259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3A33E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524875" y="2552700"/>
            <a:ext cx="1514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892A0"/>
                </a:solidFill>
                <a:latin typeface="PingFang SC"/>
                <a:ea typeface="PingFang SC"/>
              </a:rPr>
              <a:t>集合运算</a:t>
            </a: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8892A0"/>
                </a:solidFill>
                <a:latin typeface="PingFang SC"/>
                <a:ea typeface="PingFang SC"/>
              </a:rPr>
              <a:t>不依赖模型自评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571500" y="3009900"/>
            <a:ext cx="3552825" cy="3238500"/>
          </a:xfrm>
          <a:prstGeom prst="roundRect">
            <a:avLst>
              <a:gd name="adj" fmla="val 3529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81050" y="3219450"/>
            <a:ext cx="3133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3A33E"/>
                </a:solidFill>
                <a:latin typeface="Source Han Serif SC"/>
                <a:ea typeface="Source Han Serif SC"/>
              </a:rPr>
              <a:t>01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81050" y="3819525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DF1F5"/>
                </a:solidFill>
                <a:latin typeface="PingFang SC"/>
                <a:ea typeface="PingFang SC"/>
              </a:rPr>
              <a:t>引擎不需要模型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81050" y="410527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8892A0"/>
                </a:solidFill>
                <a:latin typeface="PingFang SC"/>
                <a:ea typeface="PingFang SC"/>
              </a:rPr>
              <a:t>The engine never needs a model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81050" y="4362450"/>
            <a:ext cx="3133725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挖掘层只依赖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GitHub REST API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，产出全部是硬指标。模型层整体不可用时，客观报告照常完整交付，而不是整个系统失败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容错是分层的前提，也是赛道加分项点名的那一条。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81050" y="5753100"/>
            <a:ext cx="3133725" cy="295275"/>
          </a:xfrm>
          <a:custGeom>
            <a:pathLst>
              <a:path w="329" h="31">
                <a:moveTo>
                  <a:pt x="0" y="0"/>
                </a:moveTo>
                <a:lnTo>
                  <a:pt x="329" y="0"/>
                </a:lnTo>
                <a:lnTo>
                  <a:pt x="329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81050" y="58769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模型层挂掉</a:t>
            </a:r>
            <a:r>
              <a:rPr lang="en-US" sz="1050">
                <a:solidFill>
                  <a:srgbClr val="4CB8A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报告照出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4314825" y="3009900"/>
            <a:ext cx="3562350" cy="3238500"/>
          </a:xfrm>
          <a:prstGeom prst="roundRect">
            <a:avLst>
              <a:gd name="adj" fmla="val 3529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524375" y="3219450"/>
            <a:ext cx="31432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3A33E"/>
                </a:solidFill>
                <a:latin typeface="Source Han Serif SC"/>
                <a:ea typeface="Source Han Serif SC"/>
              </a:rPr>
              <a:t>02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524375" y="3819525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DF1F5"/>
                </a:solidFill>
                <a:latin typeface="PingFang SC"/>
                <a:ea typeface="PingFang SC"/>
              </a:rPr>
              <a:t>真分工，不是换</a:t>
            </a:r>
            <a:r>
              <a:rPr lang="en-US" sz="1575" b="1">
                <a:solidFill>
                  <a:srgbClr val="EDF1F5"/>
                </a:solidFill>
                <a:latin typeface="PingFang SC"/>
                <a:ea typeface="PingFang SC"/>
              </a:rPr>
              <a:t> prompt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524375" y="410527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8892A0"/>
                </a:solidFill>
                <a:latin typeface="PingFang SC"/>
                <a:ea typeface="PingFang SC"/>
              </a:rPr>
              <a:t>Real division of labour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524375" y="4362450"/>
            <a:ext cx="31432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叙事者与假设者互不依赖，并行执行；审稿人拿到代码层校验结果后才复核前两者。三个模型来自三家不同供应商，后一步依赖前一步的产出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这才是工作流。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4524375" y="5753100"/>
            <a:ext cx="3143250" cy="295275"/>
          </a:xfrm>
          <a:custGeom>
            <a:pathLst>
              <a:path w="330" h="31">
                <a:moveTo>
                  <a:pt x="0" y="0"/>
                </a:moveTo>
                <a:lnTo>
                  <a:pt x="330" y="0"/>
                </a:lnTo>
                <a:lnTo>
                  <a:pt x="33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524375" y="58769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CB8A6"/>
                </a:solidFill>
                <a:latin typeface="PingFang SC"/>
                <a:ea typeface="PingFang SC"/>
              </a:rPr>
              <a:t>gpt-4o ‖ deepseek-v4-pro → gemini-2.5-flash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067675" y="3009900"/>
            <a:ext cx="3552825" cy="3238500"/>
          </a:xfrm>
          <a:prstGeom prst="roundRect">
            <a:avLst>
              <a:gd name="adj" fmla="val 3529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277225" y="3219450"/>
            <a:ext cx="3133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3A33E"/>
                </a:solidFill>
                <a:latin typeface="Source Han Serif SC"/>
                <a:ea typeface="Source Han Serif SC"/>
              </a:rPr>
              <a:t>03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277225" y="3819525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DF1F5"/>
                </a:solidFill>
                <a:latin typeface="PingFang SC"/>
                <a:ea typeface="PingFang SC"/>
              </a:rPr>
              <a:t>幻觉检测靠代码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277225" y="410527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8892A0"/>
                </a:solidFill>
                <a:latin typeface="PingFang SC"/>
                <a:ea typeface="PingFang SC"/>
              </a:rPr>
              <a:t>Detection by code, not by a judge model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277225" y="4362450"/>
            <a:ext cx="3133725" cy="1371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每条结论都必须引用真实存在的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commit SHA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。拿模型引用的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SHA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与真实拉取的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SHA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做集合运算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「引用了不存在的提交」是可证明的编造，不需要另一个模型来评判，这一步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100%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由程序完成。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8277225" y="5753100"/>
            <a:ext cx="3133725" cy="295275"/>
          </a:xfrm>
          <a:custGeom>
            <a:pathLst>
              <a:path w="329" h="31">
                <a:moveTo>
                  <a:pt x="0" y="0"/>
                </a:moveTo>
                <a:lnTo>
                  <a:pt x="329" y="0"/>
                </a:lnTo>
                <a:lnTo>
                  <a:pt x="329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277225" y="58769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CB8A6"/>
                </a:solidFill>
                <a:latin typeface="PingFang SC"/>
                <a:ea typeface="PingFang SC"/>
              </a:rPr>
              <a:t>SHA </a:t>
            </a: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集合运算</a:t>
            </a:r>
            <a:r>
              <a:rPr lang="en-US" sz="1050">
                <a:solidFill>
                  <a:srgbClr val="4CB8A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无判官模型</a:t>
            </a:r>
            <a:endParaRPr/>
          </a:p>
        </p:txBody>
      </p:sp>
      <p:pic>
        <p:nvPicPr>
          <p:cNvPr id="1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71500" y="6372225"/>
            <a:ext cx="209550" cy="209550"/>
          </a:xfrm>
          <a:prstGeom prst="rect">
            <a:avLst/>
          </a:prstGeom>
          <a:ln/>
        </p:spPr>
      </p:pic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66775" y="6400800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 / Code Archaeology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03 / 05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9" name="" descr="&lt;Slide style={{ width: '1280px', height: '720px', padding: '20px 60px', background: '#10141A', fontFamily: &quot;'PingFang SC','Microsoft YaHei','Helvetica Neue',sans-serif&quot;, flexDirection: 'column' }}&gt;&#10;&#10;    {/* A · 标题块（100px） */}&#10;    &lt;Box style={{ height: 100, justifyContent: 'center' }}&gt;&#10;        &lt;Text style={{ fontSize: 34, fontWeight: 'bold', lineHeight: 1.3, color: '#EDF1F5', fontFamily: &quot;'Source Han Serif SC','Noto Serif SC','Songti SC',serif&quot; }}&gt;&#10;            实测，以及一次自我证伪&#10;        &lt;/Text&gt;&#10;        &lt;Text style={{ fontSize: 16, color: '#8892A0', marginTop: 6, letterSpacing: 0.5 }}&gt;&#10;            Measured results — and one self-falsification&#10;        &lt;/Text&gt;&#10;    &lt;/Box&gt;&#10;&#10;    {/* B · 内容区（540px） */}&#10;    &lt;Box style={{ height: 540 }}&gt;&#10;&#10;        {/* 巨型数字带 */}&#10;        &lt;Box style={{ flexDirection: 'row', gap: 18, height: 168 }}&gt;&#10;&#10;            &lt;Box style={{ flex: 1, padding: '14px 22px', background: 'rgba(76,184,166,0.10)', borderRadius: 12, border: '1px solid rgba(76,184,166,0.30)' }}&gt;&#10;                &lt;Text style={{ fontSize: 76, fontWeight: 'bold', lineHeight: 1, color: '#4CB8A6', fontFamily: &quot;'Source Han Serif SC','Noto Serif SC','Songti SC',serif&quot; }}&gt;&#10;                    165/165&#10;                &lt;/Text&gt;&#10;                &lt;Text style={{ fontSize: 17, color: '#EDF1F5', marginTop: 8 }}&gt;&#10;                    单元测试全部通过&#10;                &lt;/Text&gt;&#10;                &lt;Text style={{ fontSize: 13, color: '#8892A0', marginTop: 2 }}&gt;&#10;                    Tests passing, 0 failures&#10;                &lt;/Text&gt;&#10;            &lt;/Box&gt;&#10;&#10;            &lt;Box style={{ flex: 1, padding: '14px 22px', background: 'rgba(227,163,62,0.10)', borderRadius: 12, border: '1px solid rgba(227,163,62,0.32)' }}&gt;&#10;                &lt;Text style={{ fontSize: 76, fontWeight: 'bold', lineHeight: 1, color: '#E3A33E', fontFamily: &quot;'Source Han Serif SC','Noto Serif SC','Songti SC',serif&quot; }}&gt;&#10;                    100%&#10;                &lt;/Text&gt;&#10;                &lt;Text style={{ fontSize: 17, color: '#EDF1F5', marginTop: 8 }}&gt;&#10;                    证据接地率&#10;                &lt;/Text&gt;&#10;                &lt;Text style={{ fontSize: 13, color: '#8892A0', marginTop: 2 }}&gt;&#10;                    Grounding rate&#10;                &lt;/Text&gt;&#10;            &lt;/Box&gt;&#10;&#10;            &lt;Box style={{ flex: 1, padding: '14px 22px', background: 'rgba(227,163,62,0.10)', borderRadius: 12, border: '1px solid rgba(227,163,62,0.32)' }}&gt;&#10;                &lt;Text style={{ fontSize: 76, fontWeight: 'bold', lineHeight: 1, color: '#E3A33E', fontFamily: &quot;'Source Han Serif SC','Noto Serif SC','Songti SC',serif&quot; }}&gt;&#10;                    0&#10;                &lt;/Text&gt;&#10;                &lt;Text style={{ fontSize: 17, color: '#EDF1F5', marginTop: 8 }}&gt;&#10;                    编造证据条数&#10;                &lt;/Text&gt;&#10;                &lt;Text style={{ fontSize: 13, color: '#8892A0', marginTop: 2 }}&gt;&#10;                    Fabricated citations&#10;                &lt;/Text&gt;&#10;            &lt;/Box&gt;&#10;&#10;        &lt;/Box&gt;&#10;&#10;        {/* 左右分栏 */}&#10;        &lt;Box style={{ flexDirection: 'row', gap: 20, height: 356, marginTop: 16 }}&gt;&#10;&#10;            {/* 左：其他实测数字 */}&#10;            &lt;Box style={{ width: 420, padding: 22, background: '#1D242E', borderRadius: 12, border: '1px solid #232C38' }}&gt;&#10;                &lt;Text style={{ fontSize: 18, fontWeight: 'bold', color: '#EDF1F5' }}&gt;&#10;                    全部实测，无一条合成数据&#10;                &lt;/Text&gt;&#10;                &lt;Text style={{ fontSize: 13, color: '#8892A0', marginTop: 4 }}&gt;&#10;                    Every number below is reproducible locally&#10;                &lt;/Text&gt;&#10;&#10;                &lt;Box style={{ marginTop: 14 }}&gt;&#10;                    &lt;Box style={{ flexDirection: 'row', justifyContent: 'space-between', alignItems: 'center', height: 40 }}&gt;&#10;                        &lt;Text style={{ fontSize: 15, color: '#A8B2BE' }}&gt;挖掘 40 条提交（纯计算）&lt;/Text&gt;&#10;                        &lt;Text style={{ fontSize: 17, fontWeight: 'bold', color: '#4CB8A6' }}&gt;5.3 秒&lt;/Text&gt;&#10;                    &lt;/Box&gt;&#10;                    &lt;Box style={{ flexDirection: 'row', justifyContent: 'space-between', alignItems: 'center', height: 40, borderTop: '1px solid #232C38' }}&gt;&#10;                        &lt;Text style={{ fontSize: 15, color: '#A8B2BE' }}&gt;完整三模型流水线&lt;/Text&gt;&#10;                        &lt;Text style={{ fontSize: 17, fontWeight: 'bold', color: '#4CB8A6' }}&gt;42.7 秒&lt;/Text&gt;&#10;                    &lt;/Box&gt;&#10;                    &lt;Box style={{ flexDirection: 'row', justifyContent: 'space-between', alignItems: 'center', height: 40, borderTop: '1px solid #232C38' }}&gt;&#10;                        &lt;Text style={{ fontSize: 15, color: '#A8B2BE' }}&gt;信噪比 · axios 仓库&lt;/Text&gt;&#10;                        &lt;Text style={{ fontSize: 17, fontWeight: 'bold', color: '#4CB8A6' }}&gt;50% 机器人&lt;/Text&gt;&#10;                    &lt;/Box&gt;&#10;                    &lt;Box style={{ flexDirection: 'row', justifyContent: 'space-between', alignItems: 'center', height: 40, borderTop: '1px solid #232C38' }}&gt;&#10;                        &lt;Text style={{ fontSize: 15, color: '#A8B2BE' }}&gt;风险分 · chalk / oa-system&lt;/Text&gt;&#10;                        &lt;Text style={{ fontSize: 17, fontWeight: 'bold', color: '#4CB8A6' }}&gt;55 中 / 75 高&lt;/Text&gt;&#10;                    &lt;/Box&gt;&#10;                &lt;/Box&gt;&#10;&#10;                &lt;Box style={{ marginTop: 'auto', padding: '12px 16px', background: 'rgba(76,184,166,0.10)', borderRadius: 8 }}&gt;&#10;                    &lt;Text style={{ fontSize: 14, lineHeight: 1.5, color: '#A8B2BE' }}&gt;&#10;                        仓库里没有预置任何假数据 —— 全部结论来自 GitHub API 真实拉取，可当场复现。&#10;                    &lt;/Text&gt;&#10;                &lt;/Box&gt;&#10;            &lt;/Box&gt;&#10;&#10;            {/* 右：判定校准 —— 护城河的证据 */}&#10;            &lt;Box style={{ flex: 1, padding: 18, background: '#1D242E', borderRadius: 12, border: '1px solid #232C38' }}&gt;&#10;                &lt;Text style={{ fontSize: 18, fontWeight: 'bold', color: '#EDF1F5' }}&gt;&#10;                    护城河：先进后出 · 内容级判定校准&#10;                &lt;/Text&gt;&#10;                &lt;Text style={{ fontSize: 13, color: '#8892A0', marginTop: 4 }}&gt;&#10;                    Content-overlap rate vs. the 50% threshold measured from real cases&#10;                &lt;/Text&gt;&#10;&#10;                &lt;Box style={{ marginTop: 14 }}&gt;&#10;                    &lt;Box style={{ flexDirection: 'row', alignItems: 'center', gap: 12, height: 28 }}&gt;&#10;                        &lt;Text style={{ width: 224, fontSize: 14, color: '#4CB8A6' }}&gt;oa-system · Resend 邮件&lt;/Text&gt;&#10;                        &lt;Box style={{ flex: 1, height: 20, background: '#141A22', borderRadius: 4 }}&gt;&#10;                            &lt;Box style={{ width: '100%', height: 20, background: '#4CB8A6', borderRadius: 4 }} /&gt;&#10;                        &lt;/Box&gt;&#10;                        &lt;Text style={{ width: 56, fontSize: 15, fontWeight: 'bold', color: '#4CB8A6', textAlign: 'right' }}&gt;100%&lt;/Text&gt;&#10;                    &lt;/Box&gt;&#10;&#10;                    &lt;Box style={{ flexDirection: 'row', alignItems: 'center', gap: 12, height: 28, marginTop: 6 }}&gt;&#10;                        &lt;Text style={{ width: 224, fontSize: 14, color: '#8892A0' }}&gt;chalk · 测试文件重写&lt;/Text&gt;&#10;                        &lt;Box style={{ flex: 1, height: 20, background: '#141A22', borderRadius: 4 }}&gt;&#10;                            &lt;Box style={{ width: '31%', height: 20, background: '#5A6270', borderRadius: 4 }} /&gt;&#10;                        &lt;/Box&gt;&#10;                        &lt;Text style={{ width: 56, fontSize: 15, color: '#8892A0', textAlign: 'right' }}&gt;31%&lt;/Text&gt;&#10;                    &lt;/Box&gt;&#10;&#10;                    &lt;Box style={{ flexDirection: 'row', alignItems: 'center', gap: 12, height: 28, marginTop: 6 }}&gt;&#10;                        &lt;Text style={{ width: 224, fontSize: 14, color: '#8892A0' }}&gt;oa-system · AGENTS.md&lt;/Text&gt;&#10;                        &lt;Box style={{ flex: 1, height: 20, background: '#141A22', borderRadius: 4 }}&gt;&#10;                            &lt;Box style={{ width: '28%', height: 20, background: '#5A6270', borderRadius: 4 }} /&gt;&#10;                        &lt;/Box&gt;&#10;                        &lt;Text style={{ width: 56, fontSize: 15, color: '#8892A0', textAlign: 'right' }}&gt;28%&lt;/Text&gt;&#10;                    &lt;/Box&gt;&#10;&#10;                    &lt;Box style={{ flexDirection: 'row', alignItems: 'center', gap: 12, height: 28, marginTop: 6 }}&gt;&#10;                        &lt;Text style={{ width: 224, fontSize: 14, color: '#8892A0' }}&gt;chalk · 下划线样式&lt;/Text&gt;&#10;                        &lt;Box style={{ flex: 1, height: 20, background: '#141A22', borderRadius: 4 }}&gt;&#10;                            &lt;Box style={{ width: '14%', height: 20, background: '#5A6270', borderRadius: 4 }} /&gt;&#10;                        &lt;/Box&gt;&#10;                        &lt;Text style={{ width: 56, fontSize: 15, color: '#8892A0', textAlign: 'right' }}&gt;14%&lt;/Text&gt;&#10;                    &lt;/Box&gt;&#10;                &lt;/Box&gt;&#10;&#10;                &lt;Text style={{ fontSize: 14, color: '#E3A33E', marginTop: 8 }}&gt;&#10;                    阈值 50% 取自实测分布：真阳性 100%，假阳性 14 / 28 / 31%，两簇不重叠。&#10;                &lt;/Text&gt;&#10;&#10;                &lt;Box style={{ marginTop: 'auto', paddingTop: 10, borderTop: '1px solid #232C38' }}&gt;&#10;                    &lt;Text style={{ fontSize: 16, lineHeight: 1.5, color: '#EDF1F5' }}&gt;&#10;                        我们发现自己最核心的指标在 demo 主力仓库上&lt;span style={{ color: '#E3A33E', fontWeight: 'bold' }}&gt;是假阳性&lt;/span&gt;，然后把它从「按行数猜」改成了「按内容判」。&#10;                    &lt;/Text&gt;&#10;                    &lt;Text style={{ fontSize: 14, color: '#8892A0', marginTop: 5 }}&gt;&#10;                        The underline-style &quot;abandonment&quot; was a performance rewrite — the feature is still in main. We rebuilt the metric.&#10;                    &lt;/Text&gt;&#10;                &lt;/Box&gt;&#10;            &lt;/Box&gt;&#10;&#10;        &lt;/Box&gt;&#10;&#10;    &lt;/Box&gt;&#10;&#10;    {/* C · 页脚条（40px） */}&#10;    &lt;Box style={{ height: 40, flexDirection: 'row', alignItems: 'center', justifyContent: 'space-between' }}&gt;&#10;        &lt;Box style={{ flexDirection: 'row', alignItems: 'center', gap: 9 }}&gt;&#10;            &lt;svg width={22} height={22} viewBox='0 0 22 22'&gt;&#10;                &lt;rect x='0' y='0' width='22' height='5' fill='#232C38' /&gt;&#10;                &lt;rect x='0' y='5' width='22' height='6' fill='#E3A33E' /&gt;&#10;                &lt;rect x='0' y='11' width='22' height='5' fill='#232C38' /&gt;&#10;                &lt;rect x='0' y='16' width='22' height='6' fill='#1D242E' /&gt;&#10;            &lt;/svg&gt;&#10;            &lt;Text style={{ fontSize: 14, color: '#8892A0' }}&gt;&#10;                代码考古学 / Code Archaeology&#10;            &lt;/Text&gt;&#10;        &lt;/Box&gt;&#10;        &lt;Text style={{ fontSize: 14, color: '#8892A0' }}&gt;&#10;            04 / 05&#10;        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DF1F5"/>
                </a:solidFill>
                <a:latin typeface="Source Han Serif SC"/>
                <a:ea typeface="Source Han Serif SC"/>
              </a:rPr>
              <a:t>实测，以及一次自我证伪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71500" y="85725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8">
                <a:solidFill>
                  <a:srgbClr val="8892A0"/>
                </a:solidFill>
                <a:latin typeface="PingFang SC"/>
                <a:ea typeface="PingFang SC"/>
              </a:rPr>
              <a:t>Measured results — and one self-falsification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71500" y="1143000"/>
            <a:ext cx="3571875" cy="1600200"/>
          </a:xfrm>
          <a:prstGeom prst="roundRect">
            <a:avLst>
              <a:gd name="adj" fmla="val 7143"/>
            </a:avLst>
          </a:prstGeom>
          <a:solidFill>
            <a:srgbClr val="4CB8A6">
              <a:alpha val="10000"/>
            </a:srgbClr>
          </a:solidFill>
          <a:ln w="12700">
            <a:solidFill>
              <a:srgbClr val="4CB8A6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81050" y="1276350"/>
            <a:ext cx="31527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4CB8A6"/>
                </a:solidFill>
                <a:latin typeface="Source Han Serif SC"/>
                <a:ea typeface="Source Han Serif SC"/>
              </a:rPr>
              <a:t>165/165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81050" y="2228850"/>
            <a:ext cx="3152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DF1F5"/>
                </a:solidFill>
                <a:latin typeface="PingFang SC"/>
                <a:ea typeface="PingFang SC"/>
              </a:rPr>
              <a:t>单元测试全部通过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1050" y="2447925"/>
            <a:ext cx="3152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Tests passing, 0 failures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4314825" y="1143000"/>
            <a:ext cx="3562350" cy="1600200"/>
          </a:xfrm>
          <a:prstGeom prst="roundRect">
            <a:avLst>
              <a:gd name="adj" fmla="val 7143"/>
            </a:avLst>
          </a:prstGeom>
          <a:solidFill>
            <a:srgbClr val="E3A33E">
              <a:alpha val="10000"/>
            </a:srgbClr>
          </a:solidFill>
          <a:ln w="12700">
            <a:solidFill>
              <a:srgbClr val="E3A33E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524375" y="1276350"/>
            <a:ext cx="3143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E3A33E"/>
                </a:solidFill>
                <a:latin typeface="Source Han Serif SC"/>
                <a:ea typeface="Source Han Serif SC"/>
              </a:rPr>
              <a:t>100%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524375" y="2228850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DF1F5"/>
                </a:solidFill>
                <a:latin typeface="PingFang SC"/>
                <a:ea typeface="PingFang SC"/>
              </a:rPr>
              <a:t>证据接地率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524375" y="2447925"/>
            <a:ext cx="3143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Grounding rate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8048625" y="1143000"/>
            <a:ext cx="3571875" cy="1600200"/>
          </a:xfrm>
          <a:prstGeom prst="roundRect">
            <a:avLst>
              <a:gd name="adj" fmla="val 7143"/>
            </a:avLst>
          </a:prstGeom>
          <a:solidFill>
            <a:srgbClr val="E3A33E">
              <a:alpha val="10000"/>
            </a:srgbClr>
          </a:solidFill>
          <a:ln w="12700">
            <a:solidFill>
              <a:srgbClr val="E3A33E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258175" y="1276350"/>
            <a:ext cx="31527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E3A33E"/>
                </a:solidFill>
                <a:latin typeface="Source Han Serif SC"/>
                <a:ea typeface="Source Han Serif SC"/>
              </a:rPr>
              <a:t>0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258175" y="2228850"/>
            <a:ext cx="3152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DF1F5"/>
                </a:solidFill>
                <a:latin typeface="PingFang SC"/>
                <a:ea typeface="PingFang SC"/>
              </a:rPr>
              <a:t>编造证据条数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258175" y="2447925"/>
            <a:ext cx="3152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Fabricated citations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71500" y="2895600"/>
            <a:ext cx="4000500" cy="3390900"/>
          </a:xfrm>
          <a:prstGeom prst="roundRect">
            <a:avLst>
              <a:gd name="adj" fmla="val 3371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81050" y="3105150"/>
            <a:ext cx="3581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DF1F5"/>
                </a:solidFill>
                <a:latin typeface="PingFang SC"/>
                <a:ea typeface="PingFang SC"/>
              </a:rPr>
              <a:t>全部实测，无一条合成数据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81050" y="3352800"/>
            <a:ext cx="3581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Every number below is reproducible locally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81050" y="3743325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B2BE"/>
                </a:solidFill>
                <a:latin typeface="PingFang SC"/>
                <a:ea typeface="PingFang SC"/>
              </a:rPr>
              <a:t>挖掘</a:t>
            </a:r>
            <a:r>
              <a:rPr lang="en-US" sz="1125">
                <a:solidFill>
                  <a:srgbClr val="A8B2BE"/>
                </a:solidFill>
                <a:latin typeface="PingFang SC"/>
                <a:ea typeface="PingFang SC"/>
              </a:rPr>
              <a:t> 40 </a:t>
            </a:r>
            <a:r>
              <a:rPr lang="zh-CN" sz="1125">
                <a:solidFill>
                  <a:srgbClr val="A8B2BE"/>
                </a:solidFill>
                <a:latin typeface="PingFang SC"/>
                <a:ea typeface="PingFang SC"/>
              </a:rPr>
              <a:t>条提交（纯计算）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905250" y="3733800"/>
            <a:ext cx="457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4CB8A6"/>
                </a:solidFill>
                <a:latin typeface="PingFang SC"/>
                <a:ea typeface="PingFang SC"/>
              </a:rPr>
              <a:t>5.3 </a:t>
            </a:r>
            <a:r>
              <a:rPr lang="zh-CN" sz="1275" b="1">
                <a:solidFill>
                  <a:srgbClr val="4CB8A6"/>
                </a:solidFill>
                <a:latin typeface="PingFang SC"/>
                <a:ea typeface="PingFang SC"/>
              </a:rPr>
              <a:t>秒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81050" y="4019550"/>
            <a:ext cx="3581400" cy="381000"/>
          </a:xfrm>
          <a:custGeom>
            <a:pathLst>
              <a:path w="376" h="40">
                <a:moveTo>
                  <a:pt x="0" y="0"/>
                </a:moveTo>
                <a:lnTo>
                  <a:pt x="376" y="0"/>
                </a:lnTo>
                <a:lnTo>
                  <a:pt x="376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81050" y="41338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B2BE"/>
                </a:solidFill>
                <a:latin typeface="PingFang SC"/>
                <a:ea typeface="PingFang SC"/>
              </a:rPr>
              <a:t>完整三模型流水线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810000" y="4114800"/>
            <a:ext cx="55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4CB8A6"/>
                </a:solidFill>
                <a:latin typeface="PingFang SC"/>
                <a:ea typeface="PingFang SC"/>
              </a:rPr>
              <a:t>42.7 </a:t>
            </a:r>
            <a:r>
              <a:rPr lang="zh-CN" sz="1275" b="1">
                <a:solidFill>
                  <a:srgbClr val="4CB8A6"/>
                </a:solidFill>
                <a:latin typeface="PingFang SC"/>
                <a:ea typeface="PingFang SC"/>
              </a:rPr>
              <a:t>秒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781050" y="4400550"/>
            <a:ext cx="3581400" cy="381000"/>
          </a:xfrm>
          <a:custGeom>
            <a:pathLst>
              <a:path w="376" h="40">
                <a:moveTo>
                  <a:pt x="0" y="0"/>
                </a:moveTo>
                <a:lnTo>
                  <a:pt x="376" y="0"/>
                </a:lnTo>
                <a:lnTo>
                  <a:pt x="376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81050" y="4514850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B2BE"/>
                </a:solidFill>
                <a:latin typeface="PingFang SC"/>
                <a:ea typeface="PingFang SC"/>
              </a:rPr>
              <a:t>信噪比</a:t>
            </a:r>
            <a:r>
              <a:rPr lang="en-US" sz="1125">
                <a:solidFill>
                  <a:srgbClr val="A8B2BE"/>
                </a:solidFill>
                <a:latin typeface="PingFang SC"/>
                <a:ea typeface="PingFang SC"/>
              </a:rPr>
              <a:t> · axios </a:t>
            </a:r>
            <a:r>
              <a:rPr lang="zh-CN" sz="1125">
                <a:solidFill>
                  <a:srgbClr val="A8B2BE"/>
                </a:solidFill>
                <a:latin typeface="PingFang SC"/>
                <a:ea typeface="PingFang SC"/>
              </a:rPr>
              <a:t>仓库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467100" y="4495800"/>
            <a:ext cx="895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4CB8A6"/>
                </a:solidFill>
                <a:latin typeface="PingFang SC"/>
                <a:ea typeface="PingFang SC"/>
              </a:rPr>
              <a:t>50% </a:t>
            </a:r>
            <a:r>
              <a:rPr lang="zh-CN" sz="1275" b="1">
                <a:solidFill>
                  <a:srgbClr val="4CB8A6"/>
                </a:solidFill>
                <a:latin typeface="PingFang SC"/>
                <a:ea typeface="PingFang SC"/>
              </a:rPr>
              <a:t>机器人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781050" y="4781550"/>
            <a:ext cx="3581400" cy="381000"/>
          </a:xfrm>
          <a:custGeom>
            <a:pathLst>
              <a:path w="376" h="40">
                <a:moveTo>
                  <a:pt x="0" y="0"/>
                </a:moveTo>
                <a:lnTo>
                  <a:pt x="376" y="0"/>
                </a:lnTo>
                <a:lnTo>
                  <a:pt x="376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81050" y="4895850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B2BE"/>
                </a:solidFill>
                <a:latin typeface="PingFang SC"/>
                <a:ea typeface="PingFang SC"/>
              </a:rPr>
              <a:t>风险分</a:t>
            </a:r>
            <a:r>
              <a:rPr lang="en-US" sz="1125">
                <a:solidFill>
                  <a:srgbClr val="A8B2BE"/>
                </a:solidFill>
                <a:latin typeface="PingFang SC"/>
                <a:ea typeface="PingFang SC"/>
              </a:rPr>
              <a:t> · chalk / oa-system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352800" y="4876800"/>
            <a:ext cx="1009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4CB8A6"/>
                </a:solidFill>
                <a:latin typeface="PingFang SC"/>
                <a:ea typeface="PingFang SC"/>
              </a:rPr>
              <a:t>55 </a:t>
            </a:r>
            <a:r>
              <a:rPr lang="zh-CN" sz="1275" b="1">
                <a:solidFill>
                  <a:srgbClr val="4CB8A6"/>
                </a:solidFill>
                <a:latin typeface="PingFang SC"/>
                <a:ea typeface="PingFang SC"/>
              </a:rPr>
              <a:t>中</a:t>
            </a:r>
            <a:r>
              <a:rPr lang="en-US" sz="1275" b="1">
                <a:solidFill>
                  <a:srgbClr val="4CB8A6"/>
                </a:solidFill>
                <a:latin typeface="PingFang SC"/>
                <a:ea typeface="PingFang SC"/>
              </a:rPr>
              <a:t> / 75 </a:t>
            </a:r>
            <a:r>
              <a:rPr lang="zh-CN" sz="1275" b="1">
                <a:solidFill>
                  <a:srgbClr val="4CB8A6"/>
                </a:solidFill>
                <a:latin typeface="PingFang SC"/>
                <a:ea typeface="PingFang SC"/>
              </a:rPr>
              <a:t>高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781050" y="5362575"/>
            <a:ext cx="3581400" cy="714375"/>
          </a:xfrm>
          <a:prstGeom prst="roundRect">
            <a:avLst>
              <a:gd name="adj" fmla="val 10667"/>
            </a:avLst>
          </a:prstGeom>
          <a:solidFill>
            <a:srgbClr val="4CB8A6">
              <a:alpha val="10000"/>
            </a:srgbClr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33450" y="5476875"/>
            <a:ext cx="3276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8B2BE"/>
                </a:solidFill>
                <a:latin typeface="PingFang SC"/>
                <a:ea typeface="PingFang SC"/>
              </a:rPr>
              <a:t>仓库里没有预置任何假数据</a:t>
            </a:r>
            <a:r>
              <a:rPr lang="en-US" sz="1050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1050">
                <a:solidFill>
                  <a:srgbClr val="A8B2BE"/>
                </a:solidFill>
                <a:latin typeface="PingFang SC"/>
                <a:ea typeface="PingFang SC"/>
              </a:rPr>
              <a:t>全部结论来自</a:t>
            </a:r>
            <a:r>
              <a:rPr lang="en-US" sz="1050">
                <a:solidFill>
                  <a:srgbClr val="A8B2BE"/>
                </a:solidFill>
                <a:latin typeface="PingFang SC"/>
                <a:ea typeface="PingFang SC"/>
              </a:rPr>
              <a:t> GitHub API </a:t>
            </a:r>
            <a:r>
              <a:rPr lang="zh-CN" sz="1050">
                <a:solidFill>
                  <a:srgbClr val="A8B2BE"/>
                </a:solidFill>
                <a:latin typeface="PingFang SC"/>
                <a:ea typeface="PingFang SC"/>
              </a:rPr>
              <a:t>真实拉取，可当场复现。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762500" y="2895600"/>
            <a:ext cx="6858000" cy="3390900"/>
          </a:xfrm>
          <a:prstGeom prst="roundRect">
            <a:avLst>
              <a:gd name="adj" fmla="val 3371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933950" y="3067050"/>
            <a:ext cx="651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DF1F5"/>
                </a:solidFill>
                <a:latin typeface="PingFang SC"/>
                <a:ea typeface="PingFang SC"/>
              </a:rPr>
              <a:t>护城河：先进后出</a:t>
            </a:r>
            <a:r>
              <a:rPr lang="en-US" sz="1350" b="1">
                <a:solidFill>
                  <a:srgbClr val="EDF1F5"/>
                </a:solidFill>
                <a:latin typeface="PingFang SC"/>
                <a:ea typeface="PingFang SC"/>
              </a:rPr>
              <a:t> · </a:t>
            </a:r>
            <a:r>
              <a:rPr lang="zh-CN" sz="1350" b="1">
                <a:solidFill>
                  <a:srgbClr val="EDF1F5"/>
                </a:solidFill>
                <a:latin typeface="PingFang SC"/>
                <a:ea typeface="PingFang SC"/>
              </a:rPr>
              <a:t>内容级判定校准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933950" y="3314700"/>
            <a:ext cx="6515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Content-overlap rate vs. the 50% threshold measured from real cases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933950" y="36576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CB8A6"/>
                </a:solidFill>
                <a:latin typeface="PingFang SC"/>
                <a:ea typeface="PingFang SC"/>
              </a:rPr>
              <a:t>oa-system · Resend </a:t>
            </a: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邮件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7181850" y="3638550"/>
            <a:ext cx="3619500" cy="1905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7181850" y="3638550"/>
            <a:ext cx="3619500" cy="190500"/>
          </a:xfrm>
          <a:prstGeom prst="roundRect">
            <a:avLst>
              <a:gd name="adj" fmla="val 20000"/>
            </a:avLst>
          </a:prstGeom>
          <a:solidFill>
            <a:srgbClr val="4CB8A6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915650" y="3648075"/>
            <a:ext cx="5334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4CB8A6"/>
                </a:solidFill>
                <a:latin typeface="PingFang SC"/>
                <a:ea typeface="PingFang SC"/>
              </a:rPr>
              <a:t>100%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933950" y="398145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chalk · </a:t>
            </a:r>
            <a:r>
              <a:rPr lang="zh-CN" sz="1050">
                <a:solidFill>
                  <a:srgbClr val="8892A0"/>
                </a:solidFill>
                <a:latin typeface="PingFang SC"/>
                <a:ea typeface="PingFang SC"/>
              </a:rPr>
              <a:t>测试文件重写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181850" y="3962400"/>
            <a:ext cx="3619500" cy="1905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7181850" y="3962400"/>
            <a:ext cx="1123950" cy="190500"/>
          </a:xfrm>
          <a:prstGeom prst="roundRect">
            <a:avLst>
              <a:gd name="adj" fmla="val 20000"/>
            </a:avLst>
          </a:prstGeom>
          <a:solidFill>
            <a:srgbClr val="5A6270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0915650" y="3971925"/>
            <a:ext cx="5334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8892A0"/>
                </a:solidFill>
                <a:latin typeface="PingFang SC"/>
                <a:ea typeface="PingFang SC"/>
              </a:rPr>
              <a:t>31%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933950" y="43053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oa-system · AGENTS.md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7181850" y="4286250"/>
            <a:ext cx="3619500" cy="1905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7181850" y="4286250"/>
            <a:ext cx="1009650" cy="190500"/>
          </a:xfrm>
          <a:prstGeom prst="roundRect">
            <a:avLst>
              <a:gd name="adj" fmla="val 20000"/>
            </a:avLst>
          </a:prstGeom>
          <a:solidFill>
            <a:srgbClr val="5A6270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0915650" y="4295775"/>
            <a:ext cx="5334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8892A0"/>
                </a:solidFill>
                <a:latin typeface="PingFang SC"/>
                <a:ea typeface="PingFang SC"/>
              </a:rPr>
              <a:t>28%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933950" y="462915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chalk · </a:t>
            </a:r>
            <a:r>
              <a:rPr lang="zh-CN" sz="1050">
                <a:solidFill>
                  <a:srgbClr val="8892A0"/>
                </a:solidFill>
                <a:latin typeface="PingFang SC"/>
                <a:ea typeface="PingFang SC"/>
              </a:rPr>
              <a:t>下划线样式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7181850" y="4610100"/>
            <a:ext cx="3619500" cy="1905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7181850" y="4610100"/>
            <a:ext cx="504825" cy="190500"/>
          </a:xfrm>
          <a:prstGeom prst="roundRect">
            <a:avLst>
              <a:gd name="adj" fmla="val 20000"/>
            </a:avLst>
          </a:prstGeom>
          <a:solidFill>
            <a:srgbClr val="5A6270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0915650" y="4619625"/>
            <a:ext cx="5334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8892A0"/>
                </a:solidFill>
                <a:latin typeface="PingFang SC"/>
                <a:ea typeface="PingFang SC"/>
              </a:rPr>
              <a:t>14%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933950" y="4914900"/>
            <a:ext cx="651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3A33E"/>
                </a:solidFill>
                <a:latin typeface="PingFang SC"/>
                <a:ea typeface="PingFang SC"/>
              </a:rPr>
              <a:t>阈值</a:t>
            </a:r>
            <a:r>
              <a:rPr lang="en-US" sz="1050">
                <a:solidFill>
                  <a:srgbClr val="E3A33E"/>
                </a:solidFill>
                <a:latin typeface="PingFang SC"/>
                <a:ea typeface="PingFang SC"/>
              </a:rPr>
              <a:t> 50% </a:t>
            </a:r>
            <a:r>
              <a:rPr lang="zh-CN" sz="1050">
                <a:solidFill>
                  <a:srgbClr val="E3A33E"/>
                </a:solidFill>
                <a:latin typeface="PingFang SC"/>
                <a:ea typeface="PingFang SC"/>
              </a:rPr>
              <a:t>取自实测分布：真阳性</a:t>
            </a:r>
            <a:r>
              <a:rPr lang="en-US" sz="1050">
                <a:solidFill>
                  <a:srgbClr val="E3A33E"/>
                </a:solidFill>
                <a:latin typeface="PingFang SC"/>
                <a:ea typeface="PingFang SC"/>
              </a:rPr>
              <a:t> 100%</a:t>
            </a:r>
            <a:r>
              <a:rPr lang="zh-CN" sz="1050">
                <a:solidFill>
                  <a:srgbClr val="E3A33E"/>
                </a:solidFill>
                <a:latin typeface="PingFang SC"/>
                <a:ea typeface="PingFang SC"/>
              </a:rPr>
              <a:t>，假阳性</a:t>
            </a:r>
            <a:r>
              <a:rPr lang="en-US" sz="1050">
                <a:solidFill>
                  <a:srgbClr val="E3A33E"/>
                </a:solidFill>
                <a:latin typeface="PingFang SC"/>
                <a:ea typeface="PingFang SC"/>
              </a:rPr>
              <a:t> 14 / 28 / 31%</a:t>
            </a:r>
            <a:r>
              <a:rPr lang="zh-CN" sz="1050">
                <a:solidFill>
                  <a:srgbClr val="E3A33E"/>
                </a:solidFill>
                <a:latin typeface="PingFang SC"/>
                <a:ea typeface="PingFang SC"/>
              </a:rPr>
              <a:t>，两簇不重叠。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933950" y="5086350"/>
            <a:ext cx="6515100" cy="1038225"/>
          </a:xfrm>
          <a:custGeom>
            <a:pathLst>
              <a:path w="684" h="109">
                <a:moveTo>
                  <a:pt x="0" y="0"/>
                </a:moveTo>
                <a:lnTo>
                  <a:pt x="684" y="0"/>
                </a:lnTo>
                <a:lnTo>
                  <a:pt x="684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933950" y="5191125"/>
            <a:ext cx="6515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EDF1F5"/>
                </a:solidFill>
                <a:latin typeface="PingFang SC"/>
                <a:ea typeface="PingFang SC"/>
              </a:rPr>
              <a:t>我们发现自己最核心的指标在</a:t>
            </a:r>
            <a:r>
              <a:rPr lang="en-US" sz="1200">
                <a:solidFill>
                  <a:srgbClr val="EDF1F5"/>
                </a:solidFill>
                <a:latin typeface="PingFang SC"/>
                <a:ea typeface="PingFang SC"/>
              </a:rPr>
              <a:t> demo </a:t>
            </a:r>
            <a:r>
              <a:rPr lang="zh-CN" sz="1200">
                <a:solidFill>
                  <a:srgbClr val="EDF1F5"/>
                </a:solidFill>
                <a:latin typeface="PingFang SC"/>
                <a:ea typeface="PingFang SC"/>
              </a:rPr>
              <a:t>主力仓库上</a:t>
            </a:r>
            <a:r>
              <a:rPr lang="zh-CN" sz="1200" b="1">
                <a:solidFill>
                  <a:srgbClr val="E3A33E"/>
                </a:solidFill>
                <a:latin typeface="PingFang SC"/>
                <a:ea typeface="PingFang SC"/>
              </a:rPr>
              <a:t>是假阳性</a:t>
            </a:r>
            <a:r>
              <a:rPr lang="zh-CN" sz="1200">
                <a:solidFill>
                  <a:srgbClr val="EDF1F5"/>
                </a:solidFill>
                <a:latin typeface="PingFang SC"/>
                <a:ea typeface="PingFang SC"/>
              </a:rPr>
              <a:t>，然后把它从「按行数猜」改成了「按内容判」。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933950" y="5791200"/>
            <a:ext cx="65151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The underline-style "abandonment" was a performance rewrite — the feature is still in main. We rebuilt the metric.</a:t>
            </a:r>
            <a:endParaRPr/>
          </a:p>
        </p:txBody>
      </p:sp>
      <p:pic>
        <p:nvPicPr>
          <p:cNvPr id="1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6372225"/>
            <a:ext cx="209550" cy="209550"/>
          </a:xfrm>
          <a:prstGeom prst="rect">
            <a:avLst/>
          </a:prstGeom>
          <a:ln/>
        </p:spPr>
      </p:pic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66775" y="6400800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 / Code Archaeology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04 / 05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7" name="" descr="&lt;Slide style={{ width: '1280px', height: '720px', padding: '20px 60px', background: '#10141A', fontFamily: &quot;'PingFang SC','Microsoft YaHei','Helvetica Neue',sans-serif&quot;, flexDirection: 'column' }}&gt;&#10;&#10;    {/* A · 标题块（100px） */}&#10;    &lt;Box style={{ height: 100, justifyContent: 'center' }}&gt;&#10;        &lt;Text style={{ fontSize: 34, fontWeight: 'bold', lineHeight: 1.3, color: '#EDF1F5', fontFamily: &quot;'Source Han Serif SC','Noto Serif SC','Songti SC',serif&quot; }}&gt;&#10;            一次实现，三种形态；从报告到仪表&#10;        &lt;/Text&gt;&#10;        &lt;Text style={{ fontSize: 16, color: '#8892A0', marginTop: 6, letterSpacing: 0.5 }}&gt;&#10;            One engine, three forms — from a one-off report to an instrument&#10;        &lt;/Text&gt;&#10;    &lt;/Box&gt;&#10;&#10;    {/* B · 内容区（540px） */}&#10;    &lt;Box style={{ height: 540 }}&gt;&#10;&#10;        &lt;Box style={{ flexDirection: 'row', gap: 20, height: 348 }}&gt;&#10;&#10;            &lt;Box style={{ flex: 1, padding: 22, background: '#1D242E', borderRadius: 12, border: '1px solid #232C38' }}&gt;&#10;                &lt;Text style={{ fontSize: 44, fontWeight: 'bold', lineHeight: 1, color: '#E3A33E', fontFamily: &quot;'Source Han Serif SC','Noto Serif SC','Songti SC',serif&quot; }}&gt;&#10;                    01&#10;                &lt;/Text&gt;&#10;                &lt;Text style={{ fontSize: 21, fontWeight: 'bold', color: '#EDF1F5', marginTop: 10 }}&gt;&#10;                    三种形态，同一套引擎&#10;                &lt;/Text&gt;&#10;                &lt;Text style={{ fontSize: 14, color: '#8892A0', marginTop: 4, letterSpacing: 0.5 }}&gt;&#10;                    One engine, three interfaces&#10;                &lt;/Text&gt;&#10;                &lt;Text style={{ fontSize: 16, lineHeight: 1.5, color: '#A8B2BE', marginTop: 10 }}&gt;&#10;                    HTTP API、CLI 与 Web 界面共用同一套核心模块，不重复实现。CLI 可直接挂进 CI：风险分超过阈值就以退出码 2 阻断合并请求。加一个新能力，只需加一个端点文件。&#10;                &lt;/Text&gt;&#10;                &lt;Box style={{ marginTop: 'auto', paddingTop: 12, borderTop: '1px solid #232C38' }}&gt;&#10;                    &lt;Text style={{ fontSize: 14, color: '#4CB8A6' }}&gt;&#10;                        HTTP · CLI · Web 同源，可复用&#10;                    &lt;/Text&gt;&#10;                &lt;/Box&gt;&#10;            &lt;/Box&gt;&#10;&#10;            &lt;Box style={{ flex: 1, padding: 22, background: '#1D242E', borderRadius: 12, border: '1px solid #232C38' }}&gt;&#10;                &lt;Text style={{ fontSize: 44, fontWeight: 'bold', lineHeight: 1, color: '#E3A33E', fontFamily: &quot;'Source Han Serif SC','Noto Serif SC','Songti SC',serif&quot; }}&gt;&#10;                    02&#10;                &lt;/Text&gt;&#10;                &lt;Text style={{ fontSize: 21, fontWeight: 'bold', color: '#EDF1F5', marginTop: 10 }}&gt;&#10;                    三个真实场景&#10;                &lt;/Text&gt;&#10;                &lt;Text style={{ fontSize: 14, color: '#8892A0', marginTop: 4, letterSpacing: 0.5 }}&gt;&#10;                    Three real scenarios&#10;                &lt;/Text&gt;&#10;                &lt;Text style={{ fontSize: 16, lineHeight: 1.5, color: '#A8B2BE', marginTop: 10 }}&gt;&#10;                    技术尽调与并购 —— 现有工具只看复杂度与测试覆盖率，没人看知识可继承性；团队交接 —— 直接产出「这几处必须补文档或找当事人」的清单；项目复盘 —— 把「当时为什么这么改」变成可查的证据链。&#10;                &lt;/Text&gt;&#10;                &lt;Box style={{ marginTop: 'auto', paddingTop: 12, borderTop: '1px solid #232C38' }}&gt;&#10;                    &lt;Text style={{ fontSize: 14, color: '#4CB8A6' }}&gt;&#10;                        尽调 · 交接 · 复盘&#10;                    &lt;/Text&gt;&#10;                &lt;/Box&gt;&#10;            &lt;/Box&gt;&#10;&#10;            &lt;Box style={{ flex: 1, padding: 22, background: '#1D242E', borderRadius: 12, border: '1px solid #232C38', borderTop: '3px solid #E3A33E' }}&gt;&#10;                &lt;Text style={{ fontSize: 44, fontWeight: 'bold', lineHeight: 1, color: '#E3A33E', fontFamily: &quot;'Source Han Serif SC','Noto Serif SC','Songti SC',serif&quot; }}&gt;&#10;                    03&#10;                &lt;/Text&gt;&#10;                &lt;Text style={{ fontSize: 21, fontWeight: 'bold', color: '#EDF1F5', marginTop: 10 }}&gt;&#10;                    已知边界与下一步&#10;                &lt;/Text&gt;&#10;                &lt;Text style={{ fontSize: 14, color: '#8892A0', marginTop: 4, letterSpacing: 0.5 }}&gt;&#10;                    Known limits and what comes next&#10;                &lt;/Text&gt;&#10;                &lt;Text style={{ fontSize: 16, lineHeight: 1.5, color: '#A8B2BE', marginTop: 10 }}&gt;&#10;                    当前全部依赖 GitHub REST API，读不到私有仓库的完整历史，而尽调恰恰需要它 —— 卖方不会给你 Token。下一步改为本地 git log：零 API 成本、完整历史、不碰对方凭据。边界我们主动说，不等评委问。&#10;                &lt;/Text&gt;&#10;                &lt;Box style={{ marginTop: 'auto', paddingTop: 12, borderTop: '1px solid #232C38' }}&gt;&#10;                    &lt;Text style={{ fontSize: 14, color: '#4CB8A6' }}&gt;&#10;                        下一步：本地 git 分析&#10;                    &lt;/Text&gt;&#10;                &lt;/Box&gt;&#10;            &lt;/Box&gt;&#10;&#10;        &lt;/Box&gt;&#10;&#10;        {/* 收束金句条 */}&#10;        &lt;Box style={{ height: 176, marginTop: 16, padding: '22px 26px', background: 'linear-gradient(135deg, rgba(227,163,62,0.14) 0%, rgba(76,184,166,0.10) 100%)', borderRadius: 12, border: '1px solid rgba(227,163,62,0.30)', justifyContent: 'center' }}&gt;&#10;            &lt;Text style={{ fontSize: 24, lineHeight: 1.5, color: '#EDF1F5', fontFamily: &quot;'Source Han Serif SC','Noto Serif SC','Songti SC',serif&quot; }}&gt;&#10;                它不是一次性报告，是一台仪表 —— 三个月后再跑一次，看知识可追溯率有没有变好。&#10;            &lt;/Text&gt;&#10;            &lt;Text style={{ fontSize: 16, lineHeight: 1.5, color: '#8892A0', marginTop: 10 }}&gt;&#10;                Not a one-off report but an instrument: run it again in three months and check whether traceability has improved. We don't tell you why — we tell you where nobody can explain why anymore.&#10;            &lt;/Text&gt;&#10;        &lt;/Box&gt;&#10;&#10;    &lt;/Box&gt;&#10;&#10;    {/* C · 页脚条（40px） */}&#10;    &lt;Box style={{ height: 40, flexDirection: 'row', alignItems: 'center', justifyContent: 'space-between' }}&gt;&#10;        &lt;Box style={{ flexDirection: 'row', alignItems: 'center', gap: 9 }}&gt;&#10;            &lt;svg width={22} height={22} viewBox='0 0 22 22'&gt;&#10;                &lt;rect x='0' y='0' width='22' height='5' fill='#232C38' /&gt;&#10;                &lt;rect x='0' y='5' width='22' height='6' fill='#E3A33E' /&gt;&#10;                &lt;rect x='0' y='11' width='22' height='5' fill='#232C38' /&gt;&#10;                &lt;rect x='0' y='16' width='22' height='6' fill='#1D242E' /&gt;&#10;            &lt;/svg&gt;&#10;            &lt;Text style={{ fontSize: 14, color: '#8892A0' }}&gt;&#10;                代码考古学 / Code Archaeology · github.com/ody-cai&#10;            &lt;/Text&gt;&#10;        &lt;/Box&gt;&#10;        &lt;Text style={{ fontSize: 14, color: '#8892A0' }}&gt;&#10;            05 / 05&#10;        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DF1F5"/>
                </a:solidFill>
                <a:latin typeface="Source Han Serif SC"/>
                <a:ea typeface="Source Han Serif SC"/>
              </a:rPr>
              <a:t>一次实现，三种形态；从报告到仪表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71500" y="85725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8">
                <a:solidFill>
                  <a:srgbClr val="8892A0"/>
                </a:solidFill>
                <a:latin typeface="PingFang SC"/>
                <a:ea typeface="PingFang SC"/>
              </a:rPr>
              <a:t>One engine, three forms — from a one-off report to an instrument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571500" y="1143000"/>
            <a:ext cx="3552825" cy="3314700"/>
          </a:xfrm>
          <a:prstGeom prst="roundRect">
            <a:avLst>
              <a:gd name="adj" fmla="val 3448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81050" y="1352550"/>
            <a:ext cx="3133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3A33E"/>
                </a:solidFill>
                <a:latin typeface="Source Han Serif SC"/>
                <a:ea typeface="Source Han Serif SC"/>
              </a:rPr>
              <a:t>01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81050" y="1952625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DF1F5"/>
                </a:solidFill>
                <a:latin typeface="PingFang SC"/>
                <a:ea typeface="PingFang SC"/>
              </a:rPr>
              <a:t>三种形态，同一套引擎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81050" y="223837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8892A0"/>
                </a:solidFill>
                <a:latin typeface="PingFang SC"/>
                <a:ea typeface="PingFang SC"/>
              </a:rPr>
              <a:t>One engine, three interfaces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81050" y="2495550"/>
            <a:ext cx="3133725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HTTP API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、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CLI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与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Web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界面共用同一套核心模块，不重复实现。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CLI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可直接挂进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CI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：风险分超过阈值就以退出码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2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阻断合并请求。加一个新能力，只需加一个端点文件。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781050" y="3962400"/>
            <a:ext cx="3133725" cy="295275"/>
          </a:xfrm>
          <a:custGeom>
            <a:pathLst>
              <a:path w="329" h="31">
                <a:moveTo>
                  <a:pt x="0" y="0"/>
                </a:moveTo>
                <a:lnTo>
                  <a:pt x="329" y="0"/>
                </a:lnTo>
                <a:lnTo>
                  <a:pt x="329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81050" y="40862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CB8A6"/>
                </a:solidFill>
                <a:latin typeface="PingFang SC"/>
                <a:ea typeface="PingFang SC"/>
              </a:rPr>
              <a:t>HTTP · CLI · Web </a:t>
            </a: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同源，可复用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4314825" y="1143000"/>
            <a:ext cx="3562350" cy="3314700"/>
          </a:xfrm>
          <a:prstGeom prst="roundRect">
            <a:avLst>
              <a:gd name="adj" fmla="val 3448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524375" y="1352550"/>
            <a:ext cx="31432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3A33E"/>
                </a:solidFill>
                <a:latin typeface="Source Han Serif SC"/>
                <a:ea typeface="Source Han Serif SC"/>
              </a:rPr>
              <a:t>02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524375" y="1952625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DF1F5"/>
                </a:solidFill>
                <a:latin typeface="PingFang SC"/>
                <a:ea typeface="PingFang SC"/>
              </a:rPr>
              <a:t>三个真实场景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524375" y="223837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8892A0"/>
                </a:solidFill>
                <a:latin typeface="PingFang SC"/>
                <a:ea typeface="PingFang SC"/>
              </a:rPr>
              <a:t>Three real scenarios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524375" y="2495550"/>
            <a:ext cx="3143250" cy="1371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技术尽调与并购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现有工具只看复杂度与测试覆盖率，没人看知识可继承性；团队交接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直接产出「这几处必须补文档或找当事人」的清单；项目复盘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把「当时为什么这么改」变成可查的证据链。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524375" y="3962400"/>
            <a:ext cx="3143250" cy="295275"/>
          </a:xfrm>
          <a:custGeom>
            <a:pathLst>
              <a:path w="330" h="31">
                <a:moveTo>
                  <a:pt x="0" y="0"/>
                </a:moveTo>
                <a:lnTo>
                  <a:pt x="330" y="0"/>
                </a:lnTo>
                <a:lnTo>
                  <a:pt x="33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524375" y="40862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尽调</a:t>
            </a:r>
            <a:r>
              <a:rPr lang="en-US" sz="1050">
                <a:solidFill>
                  <a:srgbClr val="4CB8A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交接</a:t>
            </a:r>
            <a:r>
              <a:rPr lang="en-US" sz="1050">
                <a:solidFill>
                  <a:srgbClr val="4CB8A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复盘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8067675" y="1171575"/>
            <a:ext cx="3552825" cy="3314700"/>
          </a:xfrm>
          <a:prstGeom prst="roundRect">
            <a:avLst>
              <a:gd name="adj" fmla="val 3448"/>
            </a:avLst>
          </a:prstGeom>
          <a:solidFill>
            <a:srgbClr val="1D242E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8067675" y="1171575"/>
            <a:ext cx="3552825" cy="3314700"/>
          </a:xfrm>
          <a:custGeom>
            <a:pathLst>
              <a:path w="373" h="348">
                <a:moveTo>
                  <a:pt x="362" y="0"/>
                </a:moveTo>
                <a:cubicBezTo>
                  <a:pt x="367" y="0"/>
                  <a:pt x="372" y="4"/>
                  <a:pt x="373" y="9"/>
                </a:cubicBezTo>
                <a:cubicBezTo>
                  <a:pt x="371" y="6"/>
                  <a:pt x="368" y="3"/>
                  <a:pt x="364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E3A33E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277225" y="1381125"/>
            <a:ext cx="3133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3A33E"/>
                </a:solidFill>
                <a:latin typeface="Source Han Serif SC"/>
                <a:ea typeface="Source Han Serif SC"/>
              </a:rPr>
              <a:t>03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277225" y="19812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DF1F5"/>
                </a:solidFill>
                <a:latin typeface="PingFang SC"/>
                <a:ea typeface="PingFang SC"/>
              </a:rPr>
              <a:t>已知边界与下一步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277225" y="226695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8892A0"/>
                </a:solidFill>
                <a:latin typeface="PingFang SC"/>
                <a:ea typeface="PingFang SC"/>
              </a:rPr>
              <a:t>Known limits and what comes next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277225" y="2524125"/>
            <a:ext cx="3133725" cy="1371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当前全部依赖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GitHub REST API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，读不到私有仓库的完整历史，而尽调恰恰需要它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卖方不会给你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Token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。下一步改为本地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git log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：零</a:t>
            </a:r>
            <a:r>
              <a:rPr lang="en-US" sz="1200">
                <a:solidFill>
                  <a:srgbClr val="A8B2BE"/>
                </a:solidFill>
                <a:latin typeface="PingFang SC"/>
                <a:ea typeface="PingFang SC"/>
              </a:rPr>
              <a:t> API </a:t>
            </a:r>
            <a:r>
              <a:rPr lang="zh-CN" sz="1200">
                <a:solidFill>
                  <a:srgbClr val="A8B2BE"/>
                </a:solidFill>
                <a:latin typeface="PingFang SC"/>
                <a:ea typeface="PingFang SC"/>
              </a:rPr>
              <a:t>成本、完整历史、不碰对方凭据。边界我们主动说，不等评委问。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8277225" y="3962400"/>
            <a:ext cx="3133725" cy="295275"/>
          </a:xfrm>
          <a:custGeom>
            <a:pathLst>
              <a:path w="329" h="31">
                <a:moveTo>
                  <a:pt x="0" y="0"/>
                </a:moveTo>
                <a:lnTo>
                  <a:pt x="329" y="0"/>
                </a:lnTo>
                <a:lnTo>
                  <a:pt x="329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277225" y="40862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下一步：本地</a:t>
            </a:r>
            <a:r>
              <a:rPr lang="en-US" sz="1050">
                <a:solidFill>
                  <a:srgbClr val="4CB8A6"/>
                </a:solidFill>
                <a:latin typeface="PingFang SC"/>
                <a:ea typeface="PingFang SC"/>
              </a:rPr>
              <a:t> git </a:t>
            </a:r>
            <a:r>
              <a:rPr lang="zh-CN" sz="1050">
                <a:solidFill>
                  <a:srgbClr val="4CB8A6"/>
                </a:solidFill>
                <a:latin typeface="PingFang SC"/>
                <a:ea typeface="PingFang SC"/>
              </a:rPr>
              <a:t>分析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571500" y="4610100"/>
            <a:ext cx="11049000" cy="16764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E3A33E">
                  <a:alpha val="14000"/>
                </a:srgbClr>
              </a:gs>
              <a:gs pos="100000">
                <a:srgbClr val="4CB8A6">
                  <a:alpha val="10000"/>
                </a:srgbClr>
              </a:gs>
            </a:gsLst>
            <a:lin ang="2700000" scaled="1"/>
          </a:gradFill>
          <a:ln w="12700">
            <a:solidFill>
              <a:srgbClr val="E3A33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19150" y="4914900"/>
            <a:ext cx="105537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EDF1F5"/>
                </a:solidFill>
                <a:latin typeface="Source Han Serif SC"/>
                <a:ea typeface="Source Han Serif SC"/>
              </a:rPr>
              <a:t>它不是一次性报告，是一台仪表</a:t>
            </a:r>
            <a:r>
              <a:rPr lang="en-US" sz="1800">
                <a:solidFill>
                  <a:srgbClr val="EDF1F5"/>
                </a:solidFill>
                <a:latin typeface="Source Han Serif SC"/>
                <a:ea typeface="Source Han Serif SC"/>
              </a:rPr>
              <a:t> —— </a:t>
            </a:r>
            <a:r>
              <a:rPr lang="zh-CN" sz="1800">
                <a:solidFill>
                  <a:srgbClr val="EDF1F5"/>
                </a:solidFill>
                <a:latin typeface="Source Han Serif SC"/>
                <a:ea typeface="Source Han Serif SC"/>
              </a:rPr>
              <a:t>三个月后再跑一次，看知识可追溯率有没有变好。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19150" y="5429250"/>
            <a:ext cx="10553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8892A0"/>
                </a:solidFill>
                <a:latin typeface="PingFang SC"/>
                <a:ea typeface="PingFang SC"/>
              </a:rPr>
              <a:t>Not a one-off report but an instrument: run it again in three months and check whether traceability has improved. We don't tell you why — we tell you where nobody can explain why anymore.</a:t>
            </a:r>
            <a:endParaRPr/>
          </a:p>
        </p:txBody>
      </p:sp>
      <p:pic>
        <p:nvPicPr>
          <p:cNvPr id="1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6372225"/>
            <a:ext cx="209550" cy="209550"/>
          </a:xfrm>
          <a:prstGeom prst="rect">
            <a:avLst/>
          </a:prstGeom>
          <a:ln/>
        </p:spPr>
      </p:pic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66775" y="6400800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 / Code Archaeology · github.com/ody-cai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92A0"/>
                </a:solidFill>
                <a:latin typeface="PingFang SC"/>
                <a:ea typeface="PingFang SC"/>
              </a:rPr>
              <a:t>05 / 05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2026-09-19T15:59:36Z</dcterms:created>
  <dcterms:modified xsi:type="dcterms:W3CDTF">2026-09-19T15:59:36Z</dcterms:modified>
</cp:coreProperties>
</file>