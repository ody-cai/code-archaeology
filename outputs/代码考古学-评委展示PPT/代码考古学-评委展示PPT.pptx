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16" Type="http://schemas.openxmlformats.org/officeDocument/2006/relationships/viewProps" Target="viewProps.xml" /><Relationship Id="rId7" Type="http://schemas.openxmlformats.org/officeDocument/2006/relationships/slide" Target="slides/slide7.xml" /><Relationship Id="rId14" Type="http://schemas.openxmlformats.org/officeDocument/2006/relationships/presProps" Target="presProps.xml" /><Relationship Id="rId3" Type="http://schemas.openxmlformats.org/officeDocument/2006/relationships/slide" Target="slides/slide3.xml" /><Relationship Id="rId13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4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" name="" descr="&lt;Slide style={{ width: '1280px', height: '720px', padding: '20px 60px', background: '#10141A', fontFamily: &quot;'PingFang SC','Microsoft YaHei','Helvetica Neue',sans-serif&quot;, flexDirection: 'column' }}&gt;&#10;    &lt;Box style={{ position: 'absolute', top: -190, right: -150, width: 580, height: 580, borderRadius: 290, background: 'radial-gradient(circle, rgba(227,163,62,0.16) 0%, rgba(227,163,62,0) 70%)' }} /&gt;&#10;    &lt;Box style={{ position: 'absolute', bottom: -220, left: -140, width: 540, height: 540, borderRadius: 270, background: 'radial-gradient(circle, rgba(76,184,166,0.12) 0%, rgba(76,184,166,0) 70%)' }} /&gt;&#10;&#10;    &lt;Box style={{ flexDirection: 'row', width: '1160px', height: '596px', alignItems: 'center', gap: 44 }}&gt;&#10;&#10;      &lt;Box style={{ width: 668 }}&gt;&#10;        &lt;Text style={{ fontSize: 17, fontWeight: 'bold', letterSpacing: 5, color: '#E3A33E' }}&gt;CODE ARCHAEOLOGY&lt;/Text&gt;&#10;        &lt;Text style={{ fontSize: 68, fontWeight: 'bold', lineHeight: 1.08, color: '#EDF1F5', letterSpacing: 4, marginTop: 14, fontFamily: &quot;'Source Han Serif SC','Noto Serif SC','Songti SC',serif&quot; }}&gt;代码考古学&lt;/Text&gt;&#10;        &lt;Text style={{ fontSize: 15, color: '#8892A0', letterSpacing: 0.5, marginTop: 10 }}&gt;An information-loss audit for codebases — built on commit history, not on guesses.&lt;/Text&gt;&#10;&#10;        &lt;Box style={{ width: 92, height: 3, background: '#E3A33E', marginTop: 22 }} /&gt;&#10;&#10;        &lt;Text style={{ fontSize: 22, lineHeight: 1.5, color: '#EDF1F5', marginTop: 20 }}&gt;&#10;          我们不告诉你「为什么」，&lt;br /&gt;只告诉你&lt;span style={{ color: '#E3A33E', fontWeight: 'bold' }}&gt;「哪里已经没人能说清为什么」&lt;/span&gt;。&#10;        &lt;/Text&gt;&#10;        &lt;Text style={{ fontSize: 13, lineHeight: 1.5, color: '#8892A0', marginTop: 10 }}&gt;&#10;          We don't tell you why — we tell you where nobody can explain why anymore.&#10;        &lt;/Text&gt;&#10;&#10;        &lt;Box style={{ flexDirection: 'row', gap: 12, alignItems: 'center', marginTop: 22 }}&gt;&#10;          &lt;Box style={{ width: 30, height: 2, background: '#4CB8A6' }} /&gt;&#10;          &lt;Text style={{ fontSize: 14, color: '#EDF1F5' }}&gt;BAYTECH 2026 国际湾区创科节 · AI 应用与工程赛道&lt;/Text&gt;&#10;        &lt;/Box&gt;&#10;        &lt;Text style={{ fontSize: 12, color: '#8892A0', marginTop: 6 }}&gt;蔡奇均 / Cai Qijun（ody-cai）· 深圳 · 联系邮箱 cqjody@126.com&lt;/Text&gt;&#10;&#10;        &lt;Box style={{ marginTop: 20, padding: '12px 16px', background: '#1D242E', borderLeft: '3px solid #4CB8A6', borderRadius: 8 }}&gt;&#10;          &lt;Text style={{ fontSize: 12, lineHeight: 1.5, color: '#EDF1F5' }}&gt;&#10;            本 PPT 为&lt;span style={{ color: '#4CB8A6', fontWeight: 'bold' }}&gt;完全自解释材料&lt;/span&gt;：不依赖现场讲解，评委会从头读到尾即可掌握项目全貌。全篇中英双语，全部数据来自两个公开仓库的现场实测并可本机复现。&#10;          &lt;/Text&gt;&#10;          &lt;Text style={{ fontSize: 10.5, lineHeight: 1.45, color: '#8892A0', marginTop: 5 }}&gt;&#10;            This deck is fully self-contained: no live narration is required. Every figure is bilingual and was measured live on two public repositories, reproducible on any machine.&#10;          &lt;/Text&gt;&#10;        &lt;/Box&gt;&#10;      &lt;/Box&gt;&#10;&#10;      &lt;Box style={{ width: 448 }}&gt;&#10;        &lt;svg width={448} height={392} viewBox='0 0 448 392'&gt;&#10;          &lt;rect x='0' y='0' width='448' height='32' fill='#1D242E' /&gt;&#10;          &lt;rect x='0' y='32' width='448' height='48' fill='#232C38' /&gt;&#10;          &lt;rect x='0' y='80' width='448' height='30' fill='#1D242E' /&gt;&#10;          &lt;rect x='0' y='110' width='448' height='58' fill='#E3A33E' /&gt;&#10;          &lt;rect x='0' y='168' width='448' height='36' fill='#232C38' /&gt;&#10;          &lt;rect x='0' y='204' width='448' height='52' fill='#1D242E' /&gt;&#10;          &lt;rect x='0' y='256' width='448' height='30' fill='#232C38' /&gt;&#10;          &lt;rect x='0' y='286' width='448' height='56' fill='#1D242E' /&gt;&#10;          &lt;rect x='0' y='342' width='448' height='38' fill='#232C38' /&gt;&#10;          &lt;line x1='0' y1='32' x2='448' y2='32' stroke='#10141A' strokeWidth='2' /&gt;&#10;          &lt;line x1='0' y1='80' x2='448' y2='80' stroke='#10141A' strokeWidth='2' /&gt;&#10;          &lt;line x1='0' y1='168' x2='448' y2='168' stroke='#10141A' strokeWidth='2' /&gt;&#10;          &lt;line x1='0' y1='204' x2='448' y2='204' stroke='#10141A' strokeWidth='2' /&gt;&#10;          &lt;line x1='0' y1='256' x2='448' y2='256' stroke='#10141A' strokeWidth='2' /&gt;&#10;          &lt;line x1='0' y1='286' x2='448' y2='286' stroke='#10141A' strokeWidth='2' /&gt;&#10;          &lt;line x1='0' y1='342' x2='448' y2='342' stroke='#10141A' strokeWidth='2' /&gt;&#10;          &lt;rect x='60' y='14' width='52' height='4' fill='#3A4553' /&gt;&#10;          &lt;rect x='204' y='50' width='88' height='5' fill='#3A4553' /&gt;&#10;          &lt;rect x='96' y='92' width='40' height='4' fill='#3A4553' /&gt;&#10;          &lt;rect x='312' y='182' width='64' height='4' fill='#3A4553' /&gt;&#10;          &lt;rect x='72' y='224' width='96' height='5' fill='#3A4553' /&gt;&#10;          &lt;rect x='258' y='268' width='52' height='4' fill='#3A4553' /&gt;&#10;          &lt;rect x='114' y='308' width='74' height='5' fill='#3A4553' /&gt;&#10;          &lt;rect x='298' y='358' width='58' height='4' fill='#3A4553' /&gt;&#10;          &lt;rect x='56' y='126' width='34' height='7' fill='#10141A' opacity='0.55' /&gt;&#10;          &lt;rect x='108' y='142' width='58' height='7' fill='#10141A' opacity='0.55' /&gt;&#10;          &lt;rect x='184' y='126' width='44' height='7' fill='#10141A' opacity='0.55' /&gt;&#10;          &lt;rect x='248' y='146' width='70' height='7' fill='#10141A' opacity='0.55' /&gt;&#10;          &lt;rect x='336' y='128' width='48' height='7' fill='#10141A' opacity='0.55' /&gt;&#10;          &lt;line x1='448' y1='139' x2='432' y2='139' stroke='#E3A33E' strokeWidth='3' /&gt;&#10;          &lt;circle cx='432' cy='139' r='5' fill='#10141A' /&gt;&#10;        &lt;/svg&gt;&#10;        &lt;Box style={{ flexDirection: 'row', gap: 22, marginTop: 14, alignItems: 'center' }}&gt;&#10;          &lt;Box style={{ flexDirection: 'row', gap: 8, alignItems: 'center' }}&gt;&#10;            &lt;Box style={{ width: 20, height: 11, background: '#E3A33E', borderRadius: 2 }} /&gt;&#10;            &lt;Text style={{ fontSize: 12, color: '#EDF1F5' }}&gt;人类决策痕迹&lt;/Text&gt;&#10;          &lt;/Box&gt;&#10;          &lt;Box style={{ flexDirection: 'row', gap: 8, alignItems: 'center' }}&gt;&#10;            &lt;Box style={{ width: 20, height: 11, background: '#232C38', border: '1px solid #3A4553', borderRadius: 2 }} /&gt;&#10;            &lt;Text style={{ fontSize: 12, color: '#8892A0' }}&gt;机器人沉积物&lt;/Text&gt;&#10;          &lt;/Box&gt;&#10;        &lt;/Box&gt;&#10;        &lt;Text style={{ fontSize: 10.5, lineHeight: 1.4, color: '#6B7684', marginTop: 8 }}&gt;&#10;          地层隐喻：自动化提交掩埋人类决策，只有剥离沉积物才能读到意图 / Strata metaphor: automation buries human decisions.&#10;        &lt;/Text&gt;&#10;      &lt;/Box&gt;&#10;    &lt;/Box&gt;&#10;&#10;    &lt;Box style={{ height: 30, justifyContent: 'flex-end' }}&gt;&#10;      &lt;Text style={{ fontSize: 10.5, color: '#6B7684', textAlign: 'right' }}&gt;数据来源 / Sources：openclaw/openclaw 与 ody-cai/topfo 均为第三方公开仓库，经 GitHub REST API v3 现场拉取；自检数据来自本机实测，复现命令见第 07 页。&lt;/Text&gt;&#10;    &lt;/Box&gt;&#10;    &lt;Box style={{ height: 42, marginTop: 6, paddingTop: 8, borderTop: '1px solid #232C38', flexDirection: 'row', alignItems: 'flex-start', justifyContent: 'space-between' }}&gt;&#10;      &lt;Text style={{ fontSize: 12, color: '#8892A0' }}&gt;版本 v0.1.0 · 线上地址 https://code-archaeology.odycai.workers.dev&lt;/Text&gt;&#10;      &lt;Text style={{ fontSize: 12, color: '#8892A0' }}&gt;01 / 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141A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571500" y="647700"/>
            <a:ext cx="6362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375">
                <a:solidFill>
                  <a:srgbClr val="E3A33E"/>
                </a:solidFill>
                <a:latin typeface="PingFang SC"/>
                <a:ea typeface="PingFang SC"/>
              </a:rPr>
              <a:t>CODE ARCHAEOLOGY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71500" y="981075"/>
            <a:ext cx="6362700" cy="847725"/>
          </a:xfrm>
          <a:prstGeom prst="rect"/>
        </p:spPr>
        <p:txBody>
          <a:bodyPr wrap="none" lIns="0" tIns="0" rIns="0" bIns="0"/>
          <a:p>
            <a:pPr>
              <a:lnSpc>
                <a:spcPct val="108000"/>
              </a:lnSpc>
            </a:pPr>
            <a:r>
              <a:rPr lang="zh-CN" sz="5100" b="1" spc="300">
                <a:solidFill>
                  <a:srgbClr val="EDF1F5"/>
                </a:solidFill>
                <a:latin typeface="Source Han Serif SC"/>
                <a:ea typeface="Source Han Serif SC"/>
              </a:rPr>
              <a:t>代码考古学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71500" y="1924050"/>
            <a:ext cx="636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8">
                <a:solidFill>
                  <a:srgbClr val="8892A0"/>
                </a:solidFill>
                <a:latin typeface="PingFang SC"/>
                <a:ea typeface="PingFang SC"/>
              </a:rPr>
              <a:t>An information-loss audit for codebases — built on commit history, not on guesses.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571500" y="2305050"/>
            <a:ext cx="876300" cy="28575"/>
          </a:xfrm>
          <a:prstGeom prst="rect">
            <a:avLst/>
          </a:prstGeom>
          <a:solidFill>
            <a:srgbClr val="E3A33E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571500" y="2524125"/>
            <a:ext cx="6362700" cy="762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EDF1F5"/>
                </a:solidFill>
                <a:latin typeface="PingFang SC"/>
                <a:ea typeface="PingFang SC"/>
              </a:rPr>
              <a:t>我们不告诉你「为什么」，</a:t>
            </a:r>
            <a:endParaRPr/>
          </a:p>
          <a:p>
            <a:pPr>
              <a:lnSpc>
                <a:spcPct val="150000"/>
              </a:lnSpc>
            </a:pPr>
            <a:r>
              <a:rPr lang="zh-CN" sz="1650">
                <a:solidFill>
                  <a:srgbClr val="EDF1F5"/>
                </a:solidFill>
                <a:latin typeface="PingFang SC"/>
                <a:ea typeface="PingFang SC"/>
              </a:rPr>
              <a:t>只告诉你</a:t>
            </a:r>
            <a:r>
              <a:rPr lang="zh-CN" sz="1650" b="1">
                <a:solidFill>
                  <a:srgbClr val="E3A33E"/>
                </a:solidFill>
                <a:latin typeface="PingFang SC"/>
                <a:ea typeface="PingFang SC"/>
              </a:rPr>
              <a:t>「哪里已经没人能说清为什么」</a:t>
            </a:r>
            <a:r>
              <a:rPr lang="zh-CN" sz="1650">
                <a:solidFill>
                  <a:srgbClr val="EDF1F5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571500" y="3381375"/>
            <a:ext cx="63627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8892A0"/>
                </a:solidFill>
                <a:latin typeface="PingFang SC"/>
                <a:ea typeface="PingFang SC"/>
              </a:rPr>
              <a:t>We don't tell you why — we tell you where nobody can explain why anymore.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571500" y="3895725"/>
            <a:ext cx="285750" cy="19050"/>
          </a:xfrm>
          <a:prstGeom prst="rect">
            <a:avLst/>
          </a:prstGeom>
          <a:solidFill>
            <a:srgbClr val="4CB8A6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71550" y="3819525"/>
            <a:ext cx="3228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DF1F5"/>
                </a:solidFill>
                <a:latin typeface="PingFang SC"/>
                <a:ea typeface="PingFang SC"/>
              </a:rPr>
              <a:t>BAYTECH 2026 </a:t>
            </a:r>
            <a:r>
              <a:rPr lang="zh-CN" sz="1050">
                <a:solidFill>
                  <a:srgbClr val="EDF1F5"/>
                </a:solidFill>
                <a:latin typeface="PingFang SC"/>
                <a:ea typeface="PingFang SC"/>
              </a:rPr>
              <a:t>国际湾区创科节</a:t>
            </a:r>
            <a:r>
              <a:rPr lang="en-US" sz="1050">
                <a:solidFill>
                  <a:srgbClr val="EDF1F5"/>
                </a:solidFill>
                <a:latin typeface="PingFang SC"/>
                <a:ea typeface="PingFang SC"/>
              </a:rPr>
              <a:t> · AI </a:t>
            </a:r>
            <a:r>
              <a:rPr lang="zh-CN" sz="1050">
                <a:solidFill>
                  <a:srgbClr val="EDF1F5"/>
                </a:solidFill>
                <a:latin typeface="PingFang SC"/>
                <a:ea typeface="PingFang SC"/>
              </a:rPr>
              <a:t>应用与工程赛道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71500" y="4038600"/>
            <a:ext cx="6362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蔡奇均</a:t>
            </a: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 / Cai Qijun</a:t>
            </a: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（</a:t>
            </a: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ody-cai</a:t>
            </a: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）·</a:t>
            </a: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 </a:t>
            </a: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深圳</a:t>
            </a: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 · </a:t>
            </a: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联系邮箱</a:t>
            </a: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 cqjody@126.com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600075" y="4371975"/>
            <a:ext cx="6362700" cy="1047750"/>
          </a:xfrm>
          <a:prstGeom prst="roundRect">
            <a:avLst>
              <a:gd name="adj" fmla="val 7273"/>
            </a:avLst>
          </a:prstGeom>
          <a:solidFill>
            <a:srgbClr val="1D242E"/>
          </a:solidFill>
          <a:ln/>
        </p:spPr>
        <p:txBody>
          <a:bodyPr/>
          <a:p/>
        </p:txBody>
      </p:sp>
      <p:sp>
        <p:nvSpPr>
          <p:cNvPr id="13" name=""/>
          <p:cNvSpPr/>
          <p:nvPr/>
        </p:nvSpPr>
        <p:spPr>
          <a:xfrm rot="0" flipH="0" flipV="0">
            <a:off x="600075" y="4371975"/>
            <a:ext cx="6362700" cy="1047750"/>
          </a:xfrm>
          <a:custGeom>
            <a:pathLst>
              <a:path w="668" h="110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5"/>
                </a:lnTo>
                <a:cubicBezTo>
                  <a:pt x="3" y="107"/>
                  <a:pt x="5" y="109"/>
                  <a:pt x="7" y="110"/>
                </a:cubicBezTo>
                <a:cubicBezTo>
                  <a:pt x="3" y="109"/>
                  <a:pt x="0" y="106"/>
                  <a:pt x="0" y="10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CB8A6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752475" y="4486275"/>
            <a:ext cx="602932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EDF1F5"/>
                </a:solidFill>
                <a:latin typeface="PingFang SC"/>
                <a:ea typeface="PingFang SC"/>
              </a:rPr>
              <a:t>本</a:t>
            </a:r>
            <a:r>
              <a:rPr lang="en-US" sz="900">
                <a:solidFill>
                  <a:srgbClr val="EDF1F5"/>
                </a:solidFill>
                <a:latin typeface="PingFang SC"/>
                <a:ea typeface="PingFang SC"/>
              </a:rPr>
              <a:t> PPT </a:t>
            </a:r>
            <a:r>
              <a:rPr lang="zh-CN" sz="900">
                <a:solidFill>
                  <a:srgbClr val="EDF1F5"/>
                </a:solidFill>
                <a:latin typeface="PingFang SC"/>
                <a:ea typeface="PingFang SC"/>
              </a:rPr>
              <a:t>为</a:t>
            </a:r>
            <a:r>
              <a:rPr lang="zh-CN" sz="900" b="1">
                <a:solidFill>
                  <a:srgbClr val="4CB8A6"/>
                </a:solidFill>
                <a:latin typeface="PingFang SC"/>
                <a:ea typeface="PingFang SC"/>
              </a:rPr>
              <a:t>完全自解释材料</a:t>
            </a:r>
            <a:r>
              <a:rPr lang="zh-CN" sz="900">
                <a:solidFill>
                  <a:srgbClr val="EDF1F5"/>
                </a:solidFill>
                <a:latin typeface="PingFang SC"/>
                <a:ea typeface="PingFang SC"/>
              </a:rPr>
              <a:t>：不依赖现场讲解，评委会从头读到尾即可掌握项目全貌。全篇中英双语，全部数据来自两个公开仓库的现场实测并可本机复现。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752475" y="4953000"/>
            <a:ext cx="602932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This deck is fully self-contained: no live narration is required. Every figure is bilingual and was measured live on two public repositories, reproducible on any machine.</a:t>
            </a:r>
            <a:endParaRPr/>
          </a:p>
        </p:txBody>
      </p:sp>
      <p:pic>
        <p:nvPicPr>
          <p:cNvPr id="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353300" y="819150"/>
            <a:ext cx="4267200" cy="3733800"/>
          </a:xfrm>
          <a:prstGeom prst="rect">
            <a:avLst/>
          </a:prstGeom>
          <a:ln/>
        </p:spPr>
      </p:pic>
      <p:sp>
        <p:nvSpPr>
          <p:cNvPr id="17" name=""/>
          <p:cNvSpPr/>
          <p:nvPr/>
        </p:nvSpPr>
        <p:spPr>
          <a:xfrm rot="0" flipH="0" flipV="0">
            <a:off x="7353300" y="4705350"/>
            <a:ext cx="190500" cy="104775"/>
          </a:xfrm>
          <a:prstGeom prst="roundRect">
            <a:avLst>
              <a:gd name="adj" fmla="val 18182"/>
            </a:avLst>
          </a:prstGeom>
          <a:solidFill>
            <a:srgbClr val="E3A33E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620000" y="46863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DF1F5"/>
                </a:solidFill>
                <a:latin typeface="PingFang SC"/>
                <a:ea typeface="PingFang SC"/>
              </a:rPr>
              <a:t>人类决策痕迹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8515350" y="4705350"/>
            <a:ext cx="190500" cy="104775"/>
          </a:xfrm>
          <a:prstGeom prst="roundRect">
            <a:avLst>
              <a:gd name="adj" fmla="val 18182"/>
            </a:avLst>
          </a:prstGeom>
          <a:solidFill>
            <a:srgbClr val="232C38"/>
          </a:solidFill>
          <a:ln w="12700">
            <a:solidFill>
              <a:srgbClr val="3A4553"/>
            </a:solidFill>
            <a:prstDash val="solid"/>
          </a:ln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782050" y="46863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机器人沉积物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353300" y="4905375"/>
            <a:ext cx="42672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88">
                <a:solidFill>
                  <a:srgbClr val="6B7684"/>
                </a:solidFill>
                <a:latin typeface="PingFang SC"/>
                <a:ea typeface="PingFang SC"/>
              </a:rPr>
              <a:t>地层隐喻：自动化提交掩埋人类决策，只有剥离沉积物才能读到意图</a:t>
            </a:r>
            <a:r>
              <a:rPr lang="en-US" sz="788">
                <a:solidFill>
                  <a:srgbClr val="6B7684"/>
                </a:solidFill>
                <a:latin typeface="PingFang SC"/>
                <a:ea typeface="PingFang SC"/>
              </a:rPr>
              <a:t> / Strata metaphor: automation buries human decisions.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71500" y="6029325"/>
            <a:ext cx="11049000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88">
                <a:solidFill>
                  <a:srgbClr val="6B7684"/>
                </a:solidFill>
                <a:latin typeface="PingFang SC"/>
                <a:ea typeface="PingFang SC"/>
              </a:rPr>
              <a:t>数据来源</a:t>
            </a:r>
            <a:r>
              <a:rPr lang="en-US" sz="788">
                <a:solidFill>
                  <a:srgbClr val="6B7684"/>
                </a:solidFill>
                <a:latin typeface="PingFang SC"/>
                <a:ea typeface="PingFang SC"/>
              </a:rPr>
              <a:t> / Sources</a:t>
            </a:r>
            <a:r>
              <a:rPr lang="zh-CN" sz="788">
                <a:solidFill>
                  <a:srgbClr val="6B7684"/>
                </a:solidFill>
                <a:latin typeface="PingFang SC"/>
                <a:ea typeface="PingFang SC"/>
              </a:rPr>
              <a:t>：</a:t>
            </a:r>
            <a:r>
              <a:rPr lang="en-US" sz="788">
                <a:solidFill>
                  <a:srgbClr val="6B7684"/>
                </a:solidFill>
                <a:latin typeface="PingFang SC"/>
                <a:ea typeface="PingFang SC"/>
              </a:rPr>
              <a:t>openclaw/openclaw </a:t>
            </a:r>
            <a:r>
              <a:rPr lang="zh-CN" sz="788">
                <a:solidFill>
                  <a:srgbClr val="6B7684"/>
                </a:solidFill>
                <a:latin typeface="PingFang SC"/>
                <a:ea typeface="PingFang SC"/>
              </a:rPr>
              <a:t>与</a:t>
            </a:r>
            <a:r>
              <a:rPr lang="en-US" sz="788">
                <a:solidFill>
                  <a:srgbClr val="6B7684"/>
                </a:solidFill>
                <a:latin typeface="PingFang SC"/>
                <a:ea typeface="PingFang SC"/>
              </a:rPr>
              <a:t> ody-cai/topfo </a:t>
            </a:r>
            <a:r>
              <a:rPr lang="zh-CN" sz="788">
                <a:solidFill>
                  <a:srgbClr val="6B7684"/>
                </a:solidFill>
                <a:latin typeface="PingFang SC"/>
                <a:ea typeface="PingFang SC"/>
              </a:rPr>
              <a:t>均为第三方公开仓库，经</a:t>
            </a:r>
            <a:r>
              <a:rPr lang="en-US" sz="788">
                <a:solidFill>
                  <a:srgbClr val="6B7684"/>
                </a:solidFill>
                <a:latin typeface="PingFang SC"/>
                <a:ea typeface="PingFang SC"/>
              </a:rPr>
              <a:t> GitHub REST API v3 </a:t>
            </a:r>
            <a:r>
              <a:rPr lang="zh-CN" sz="788">
                <a:solidFill>
                  <a:srgbClr val="6B7684"/>
                </a:solidFill>
                <a:latin typeface="PingFang SC"/>
                <a:ea typeface="PingFang SC"/>
              </a:rPr>
              <a:t>现场拉取；自检数据来自本机实测，复现命令见第</a:t>
            </a:r>
            <a:r>
              <a:rPr lang="en-US" sz="788">
                <a:solidFill>
                  <a:srgbClr val="6B7684"/>
                </a:solidFill>
                <a:latin typeface="PingFang SC"/>
                <a:ea typeface="PingFang SC"/>
              </a:rPr>
              <a:t> 07 </a:t>
            </a:r>
            <a:r>
              <a:rPr lang="zh-CN" sz="788">
                <a:solidFill>
                  <a:srgbClr val="6B7684"/>
                </a:solidFill>
                <a:latin typeface="PingFang SC"/>
                <a:ea typeface="PingFang SC"/>
              </a:rPr>
              <a:t>页。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71500" y="6210300"/>
            <a:ext cx="11049000" cy="400050"/>
          </a:xfrm>
          <a:custGeom>
            <a:pathLst>
              <a:path w="1160" h="42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71500" y="6296025"/>
            <a:ext cx="3629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版本</a:t>
            </a: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 v0.1.0 · </a:t>
            </a: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线上地址</a:t>
            </a: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 https://code-archaeology.odycai.workers.dev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1249025" y="62960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01 / 12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8096250" y="-1809750"/>
            <a:ext cx="5524500" cy="5524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3A33E">
                  <a:alpha val="16000"/>
                </a:srgbClr>
              </a:gs>
              <a:gs pos="70000">
                <a:srgbClr val="E3A33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-1333500" y="3810000"/>
            <a:ext cx="5143500" cy="5143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CB8A6">
                  <a:alpha val="12000"/>
                </a:srgbClr>
              </a:gs>
              <a:gs pos="70000">
                <a:srgbClr val="4CB8A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98" name="" descr="&lt;Slide style={{ width: '1280px', height: '720px', padding: '20px 60px', background: '#10141A', fontFamily: &quot;'PingFang SC','Microsoft YaHei','Helvetica Neue',sans-serif&quot;, flexDirection: 'column' }}&gt;&#10;&#10;  &lt;Box style={{ height: 96, justifyContent: 'center' }}&gt;&#10;    &lt;Box style={{ flexDirection: 'row', alignItems: 'flex-end', justifyContent: 'space-between' }}&gt;&#10;      &lt;Box&gt;&#10;        &lt;Text style={{ fontSize: 32, fontWeight: 'bold', lineHeight: 1.22, color: '#EDF1F5', fontFamily: &quot;'Source Han Serif SC','Noto Serif SC','Songti SC',serif&quot; }}&gt;本 PPT 怎么读 · 全篇自解释&lt;/Text&gt;&#10;        &lt;Text style={{ fontSize: 14.5, color: '#8892A0', marginTop: 7, letterSpacing: 0.3 }}&gt;How to read this deck — fully self-contained&lt;/Text&gt;&#10;      &lt;/Box&gt;&#10;      &lt;Text style={{ fontSize: 11, color: '#8892A0', textAlign: 'right' }}&gt;共 12 页 · 中英双语 · 数据全部现场实测&lt;/Text&gt;&#10;    &lt;/Box&gt;&#10;  &lt;/Box&gt;&#10;    &lt;Box style={{ height: 500, marginTop: 0 }}&gt;&#10;      &lt;Box style={{ height: 88, padding: '12px 18px', background: '#1D242E', borderLeft: '3px solid #4CB8A6', borderRadius: 10, justifyContent: 'center' }}&gt;&#10;        &#10;    &lt;Text style={{ fontSize: 13, lineHeight: 1.5, color: '#EDF1F5' }}&gt;阅读方式：第 03–06 页是第一部分「项目概述」，回答「为什么做、做成什么、有什么用」；第 07–12 页是第二部分「真实运行数据」，把所有结论落到两个公开仓库的现场实测上。每页页脚均标注数据来源与页码。&lt;/Text&gt;&#10;    &lt;Text style={{ fontSize: 10.5, lineHeight: 1.45, color: '#8892A0', marginTop: 5 }}&gt;Reading order: pages 03–06 form Part 1 (project overview: why, what, and what it is for). Pages 07–12 form Part 2 (real runtime data): every claim is anchored to live measurements on two public repositories. Each page footer carries its data source and page number.&lt;/Text&gt;&#10;      &lt;/Box&gt;&#10;&#10;      &lt;Box style={{ flexDirection: 'row', gap: 16, height: 392, marginTop: 16 }}&gt;&#10;        &#10;      &lt;Box style={{ flex: 1, padding: '14px 18px', background: '#1D242E', borderRadius: 10, border: '1px solid #232C38' }}&gt;&#10;        &lt;Text style={{ fontSize: 13, fontWeight: 'bold', color: '#E3A33E', letterSpacing: 1 }}&gt;PART 1 · 项目概述&lt;/Text&gt;&#10;        &lt;Text style={{ fontSize: 10.5, color: '#8892A0', marginTop: 4 }}&gt;Project overview&lt;/Text&gt;&#10;        &#10;        &lt;Box style={{ flexDirection: 'row', marginTop: 11, alignItems: 'flex-start' }}&gt;&#10;          &lt;Text style={{ width: 26, fontSize: 12, color: '#E3A33E', fontWeight: 'bold' }}&gt;P03&lt;/Text&gt;&#10;          &lt;Box style={{ flex: 1 }}&gt;&#10;            &lt;Text style={{ fontSize: 12.5, lineHeight: 1.35, color: '#EDF1F5' }}&gt;问题：读代码看不到的三类信息&lt;/Text&gt;&#10;            &lt;Text style={{ fontSize: 10, lineHeight: 1.3, color: '#8892A0', marginTop: 2 }}&gt;The problem: three things code never shows&lt;/Text&gt;&#10;          &lt;/Box&gt;&#10;        &lt;/Box&gt;&#10;        &lt;Box style={{ flexDirection: 'row', marginTop: 11, alignItems: 'flex-start' }}&gt;&#10;          &lt;Text style={{ width: 26, fontSize: 12, color: '#E3A33E', fontWeight: 'bold' }}&gt;P04&lt;/Text&gt;&#10;          &lt;Box style={{ flex: 1 }}&gt;&#10;            &lt;Text style={{ fontSize: 12.5, lineHeight: 1.35, color: '#EDF1F5' }}&gt;方案：三段流水线&lt;/Text&gt;&#10;            &lt;Text style={{ fontSize: 10, lineHeight: 1.3, color: '#8892A0', marginTop: 2 }}&gt;The solution: a three-stage pipeline&lt;/Text&gt;&#10;          &lt;/Box&gt;&#10;        &lt;/Box&gt;&#10;        &lt;Box style={{ flexDirection: 'row', marginTop: 11, alignItems: 'flex-start' }}&gt;&#10;          &lt;Text style={{ width: 26, fontSize: 12, color: '#E3A33E', fontWeight: 'bold' }}&gt;P05&lt;/Text&gt;&#10;          &lt;Box style={{ flex: 1 }}&gt;&#10;            &lt;Text style={{ fontSize: 12.5, lineHeight: 1.35, color: '#EDF1F5' }}&gt;产品形态与核心用途&lt;/Text&gt;&#10;            &lt;Text style={{ fontSize: 10, lineHeight: 1.3, color: '#8892A0', marginTop: 2 }}&gt;Product forms and core uses&lt;/Text&gt;&#10;          &lt;/Box&gt;&#10;        &lt;/Box&gt;&#10;        &lt;Box style={{ flexDirection: 'row', marginTop: 11, alignItems: 'flex-start' }}&gt;&#10;          &lt;Text style={{ width: 26, fontSize: 12, color: '#E3A33E', fontWeight: 'bold' }}&gt;P06&lt;/Text&gt;&#10;          &lt;Box style={{ flex: 1 }}&gt;&#10;            &lt;Text style={{ fontSize: 12.5, lineHeight: 1.35, color: '#EDF1F5' }}&gt;价值、场景与已知边界&lt;/Text&gt;&#10;            &lt;Text style={{ fontSize: 10, lineHeight: 1.3, color: '#8892A0', marginTop: 2 }}&gt;Value, scenarios and known boundaries&lt;/Text&gt;&#10;          &lt;/Box&gt;&#10;        &lt;/Box&gt;&#10;      &lt;/Box&gt;&#10;        &#10;      &lt;Box style={{ flex: 1, padding: '14px 18px', background: '#1D242E', borderRadius: 10, border: '1px solid #232C38' }}&gt;&#10;        &lt;Text style={{ fontSize: 13, fontWeight: 'bold', color: '#4CB8A6', letterSpacing: 1 }}&gt;PART 2 · 真实运行数据&lt;/Text&gt;&#10;        &lt;Text style={{ fontSize: 10.5, color: '#8892A0', marginTop: 4 }}&gt;Real runtime data — openclaw/openclaw &amp; ody-cai/topfo&lt;/Text&gt;&#10;        &#10;        &lt;Box style={{ flexDirection: 'row', marginTop: 11, alignItems: 'flex-start' }}&gt;&#10;          &lt;Text style={{ width: 26, fontSize: 12, color: '#4CB8A6', fontWeight: 'bold' }}&gt;P07&lt;/Text&gt;&#10;          &lt;Box style={{ flex: 1 }}&gt;&#10;            &lt;Text style={{ fontSize: 12.5, lineHeight: 1.35, color: '#EDF1F5' }}&gt;测试方法与可复现性&lt;/Text&gt;&#10;            &lt;Text style={{ fontSize: 10, lineHeight: 1.3, color: '#8892A0', marginTop: 2 }}&gt;Method and reproducibility&lt;/Text&gt;&#10;          &lt;/Box&gt;&#10;        &lt;/Box&gt;&#10;        &lt;Box style={{ flexDirection: 'row', marginTop: 11, alignItems: 'flex-start' }}&gt;&#10;          &lt;Text style={{ width: 26, fontSize: 12, color: '#4CB8A6', fontWeight: 'bold' }}&gt;P08&lt;/Text&gt;&#10;          &lt;Box style={{ flex: 1 }}&gt;&#10;            &lt;Text style={{ fontSize: 12.5, lineHeight: 1.35, color: '#EDF1F5' }}&gt;实测 A：openclaw/openclaw&lt;/Text&gt;&#10;            &lt;Text style={{ fontSize: 10, lineHeight: 1.3, color: '#8892A0', marginTop: 2 }}&gt;Measured A: openclaw/openclaw&lt;/Text&gt;&#10;          &lt;/Box&gt;&#10;        &lt;/Box&gt;&#10;        &lt;Box style={{ flexDirection: 'row', marginTop: 11, alignItems: 'flex-start' }}&gt;&#10;          &lt;Text style={{ width: 26, fontSize: 12, color: '#4CB8A6', fontWeight: 'bold' }}&gt;P09&lt;/Text&gt;&#10;          &lt;Box style={{ flex: 1 }}&gt;&#10;            &lt;Text style={{ fontSize: 12.5, lineHeight: 1.35, color: '#EDF1F5' }}&gt;实测 B：ody-cai/topfo&lt;/Text&gt;&#10;            &lt;Text style={{ fontSize: 10, lineHeight: 1.3, color: '#8892A0', marginTop: 2 }}&gt;Measured B: ody-cai/topfo&lt;/Text&gt;&#10;          &lt;/Box&gt;&#10;        &lt;/Box&gt;&#10;        &lt;Box style={{ flexDirection: 'row', marginTop: 11, alignItems: 'flex-start' }}&gt;&#10;          &lt;Text style={{ width: 26, fontSize: 12, color: '#4CB8A6', fontWeight: 'bold' }}&gt;P10&lt;/Text&gt;&#10;          &lt;Box style={{ flex: 1 }}&gt;&#10;            &lt;Text style={{ fontSize: 12.5, lineHeight: 1.35, color: '#EDF1F5' }}&gt;「被放弃的尝试」逐条清单&lt;/Text&gt;&#10;            &lt;Text style={{ fontSize: 10, lineHeight: 1.3, color: '#8892A0', marginTop: 2 }}&gt;Abandoned attempts, item by item&lt;/Text&gt;&#10;          &lt;/Box&gt;&#10;        &lt;/Box&gt;&#10;        &lt;Box style={{ flexDirection: 'row', marginTop: 11, alignItems: 'flex-start' }}&gt;&#10;          &lt;Text style={{ width: 26, fontSize: 12, color: '#4CB8A6', fontWeight: 'bold' }}&gt;P11&lt;/Text&gt;&#10;          &lt;Box style={{ flex: 1 }}&gt;&#10;            &lt;Text style={{ fontSize: 12.5, lineHeight: 1.35, color: '#EDF1F5' }}&gt;多模型分析层与证据接地&lt;/Text&gt;&#10;            &lt;Text style={{ fontSize: 10, lineHeight: 1.3, color: '#8892A0', marginTop: 2 }}&gt;Multi-model layer and evidence grounding&lt;/Text&gt;&#10;          &lt;/Box&gt;&#10;        &lt;/Box&gt;&#10;        &lt;Box style={{ flexDirection: 'row', marginTop: 11, alignItems: 'flex-start' }}&gt;&#10;          &lt;Text style={{ width: 26, fontSize: 12, color: '#4CB8A6', fontWeight: 'bold' }}&gt;P12&lt;/Text&gt;&#10;          &lt;Box style={{ flex: 1 }}&gt;&#10;            &lt;Text style={{ fontSize: 12.5, lineHeight: 1.35, color: '#EDF1F5' }}&gt;工程完备性、自我证伪与问答&lt;/Text&gt;&#10;            &lt;Text style={{ fontSize: 10, lineHeight: 1.3, color: '#8892A0', marginTop: 2 }}&gt;Engineering, self-falsification, Q&amp;A&lt;/Text&gt;&#10;          &lt;/Box&gt;&#10;        &lt;/Box&gt;&#10;      &lt;/Box&gt;&#10;      &lt;/Box&gt;&#10;    &lt;/Box&gt;&#10;&#10;  &lt;Box style={{ height: 32, justifyContent: 'center' }}&gt;&#10;    &lt;Text style={{ fontSize: 10, lineHeight: 1.4, color: '#6B7684', textAlign: 'right' }}&gt;测试范围声明 / Scope：本次全部实测严格限定为 openclaw/openclaw 与 ody-cai/topfo 两个公开仓库，未测试任何第三个仓库。&lt;/Text&gt;&#10;  &lt;/Box&gt;&#10;  &lt;Box style={{ height: 36, marginTop: 6, paddingTop: 8, borderTop: '1px solid #232C38', flexDirection: 'row', alignItems: 'flex-start', justifyContent: 'space-between' }}&gt;&#10;    &lt;Text style={{ fontSize: 12, color: '#8892A0' }}&gt;代码考古学 / Code Archaeology · BAYTECH 2026 · AI 应用与工程赛道&lt;/Text&gt;&#10;    &lt;Text style={{ fontSize: 12, color: '#8892A0' }}&gt;02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141A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3905250" cy="447675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2400" b="1">
                <a:solidFill>
                  <a:srgbClr val="EDF1F5"/>
                </a:solidFill>
                <a:latin typeface="Source Han Serif SC"/>
                <a:ea typeface="Source Han Serif SC"/>
              </a:rPr>
              <a:t>本</a:t>
            </a:r>
            <a:r>
              <a:rPr lang="en-US" sz="2400" b="1">
                <a:solidFill>
                  <a:srgbClr val="EDF1F5"/>
                </a:solidFill>
                <a:latin typeface="Source Han Serif SC"/>
                <a:ea typeface="Source Han Serif SC"/>
              </a:rPr>
              <a:t> PPT </a:t>
            </a:r>
            <a:r>
              <a:rPr lang="zh-CN" sz="2400" b="1">
                <a:solidFill>
                  <a:srgbClr val="EDF1F5"/>
                </a:solidFill>
                <a:latin typeface="Source Han Serif SC"/>
                <a:ea typeface="Source Han Serif SC"/>
              </a:rPr>
              <a:t>怎么读</a:t>
            </a:r>
            <a:r>
              <a:rPr lang="en-US" sz="2400" b="1">
                <a:solidFill>
                  <a:srgbClr val="EDF1F5"/>
                </a:solidFill>
                <a:latin typeface="Source Han Serif SC"/>
                <a:ea typeface="Source Han Serif SC"/>
              </a:rPr>
              <a:t> · </a:t>
            </a:r>
            <a:r>
              <a:rPr lang="zh-CN" sz="2400" b="1">
                <a:solidFill>
                  <a:srgbClr val="EDF1F5"/>
                </a:solidFill>
                <a:latin typeface="Source Han Serif SC"/>
                <a:ea typeface="Source Han Serif SC"/>
              </a:rPr>
              <a:t>全篇自解释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71500" y="819150"/>
            <a:ext cx="390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spc="22">
                <a:solidFill>
                  <a:srgbClr val="8892A0"/>
                </a:solidFill>
                <a:latin typeface="PingFang SC"/>
                <a:ea typeface="PingFang SC"/>
              </a:rPr>
              <a:t>How to read this deck — fully self-contained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9734550" y="857250"/>
            <a:ext cx="18859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25">
                <a:solidFill>
                  <a:srgbClr val="8892A0"/>
                </a:solidFill>
                <a:latin typeface="PingFang SC"/>
                <a:ea typeface="PingFang SC"/>
              </a:rPr>
              <a:t>共</a:t>
            </a:r>
            <a:r>
              <a:rPr lang="en-US" sz="825">
                <a:solidFill>
                  <a:srgbClr val="8892A0"/>
                </a:solidFill>
                <a:latin typeface="PingFang SC"/>
                <a:ea typeface="PingFang SC"/>
              </a:rPr>
              <a:t> 12 </a:t>
            </a:r>
            <a:r>
              <a:rPr lang="zh-CN" sz="825">
                <a:solidFill>
                  <a:srgbClr val="8892A0"/>
                </a:solidFill>
                <a:latin typeface="PingFang SC"/>
                <a:ea typeface="PingFang SC"/>
              </a:rPr>
              <a:t>页</a:t>
            </a:r>
            <a:r>
              <a:rPr lang="en-US" sz="825">
                <a:solidFill>
                  <a:srgbClr val="8892A0"/>
                </a:solidFill>
                <a:latin typeface="PingFang SC"/>
                <a:ea typeface="PingFang SC"/>
              </a:rPr>
              <a:t> · </a:t>
            </a:r>
            <a:r>
              <a:rPr lang="zh-CN" sz="825">
                <a:solidFill>
                  <a:srgbClr val="8892A0"/>
                </a:solidFill>
                <a:latin typeface="PingFang SC"/>
                <a:ea typeface="PingFang SC"/>
              </a:rPr>
              <a:t>中英双语</a:t>
            </a:r>
            <a:r>
              <a:rPr lang="en-US" sz="825">
                <a:solidFill>
                  <a:srgbClr val="8892A0"/>
                </a:solidFill>
                <a:latin typeface="PingFang SC"/>
                <a:ea typeface="PingFang SC"/>
              </a:rPr>
              <a:t> · </a:t>
            </a:r>
            <a:r>
              <a:rPr lang="zh-CN" sz="825">
                <a:solidFill>
                  <a:srgbClr val="8892A0"/>
                </a:solidFill>
                <a:latin typeface="PingFang SC"/>
                <a:ea typeface="PingFang SC"/>
              </a:rPr>
              <a:t>数据全部现场实测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00075" y="1104900"/>
            <a:ext cx="11049000" cy="838200"/>
          </a:xfrm>
          <a:prstGeom prst="roundRect">
            <a:avLst>
              <a:gd name="adj" fmla="val 11364"/>
            </a:avLst>
          </a:prstGeom>
          <a:solidFill>
            <a:srgbClr val="1D242E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600075" y="1104900"/>
            <a:ext cx="11049000" cy="838200"/>
          </a:xfrm>
          <a:custGeom>
            <a:pathLst>
              <a:path w="1160" h="88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81"/>
                </a:lnTo>
                <a:cubicBezTo>
                  <a:pt x="3" y="84"/>
                  <a:pt x="5" y="87"/>
                  <a:pt x="8" y="88"/>
                </a:cubicBezTo>
                <a:cubicBezTo>
                  <a:pt x="3" y="87"/>
                  <a:pt x="0" y="83"/>
                  <a:pt x="0" y="7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4CB8A6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71525" y="1104900"/>
            <a:ext cx="1067752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EDF1F5"/>
                </a:solidFill>
                <a:latin typeface="PingFang SC"/>
                <a:ea typeface="PingFang SC"/>
              </a:rPr>
              <a:t>阅读方式：第</a:t>
            </a:r>
            <a:r>
              <a:rPr lang="en-US" sz="975">
                <a:solidFill>
                  <a:srgbClr val="EDF1F5"/>
                </a:solidFill>
                <a:latin typeface="PingFang SC"/>
                <a:ea typeface="PingFang SC"/>
              </a:rPr>
              <a:t> 03–06 </a:t>
            </a:r>
            <a:r>
              <a:rPr lang="zh-CN" sz="975">
                <a:solidFill>
                  <a:srgbClr val="EDF1F5"/>
                </a:solidFill>
                <a:latin typeface="PingFang SC"/>
                <a:ea typeface="PingFang SC"/>
              </a:rPr>
              <a:t>页是第一部分「项目概述」，回答「为什么做、做成什么、有什么用」；第</a:t>
            </a:r>
            <a:r>
              <a:rPr lang="en-US" sz="975">
                <a:solidFill>
                  <a:srgbClr val="EDF1F5"/>
                </a:solidFill>
                <a:latin typeface="PingFang SC"/>
                <a:ea typeface="PingFang SC"/>
              </a:rPr>
              <a:t> 07–12 </a:t>
            </a:r>
            <a:r>
              <a:rPr lang="zh-CN" sz="975">
                <a:solidFill>
                  <a:srgbClr val="EDF1F5"/>
                </a:solidFill>
                <a:latin typeface="PingFang SC"/>
                <a:ea typeface="PingFang SC"/>
              </a:rPr>
              <a:t>页是第二部分「真实运行数据」，把所有结论落到两个公开仓库的现场实测上。每页页脚均标注数据来源与页码。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71525" y="1600200"/>
            <a:ext cx="1067752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Reading order: pages 03–06 form Part 1 (project overview: why, what, and what it is for). Pages 07–12 form Part 2 (real runtime data): every claim is anchored to live measurements on two public repositories. Each page footer carries its data source and page number.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571500" y="2095500"/>
            <a:ext cx="5448300" cy="3733800"/>
          </a:xfrm>
          <a:prstGeom prst="roundRect">
            <a:avLst>
              <a:gd name="adj" fmla="val 2551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42950" y="2228850"/>
            <a:ext cx="510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E3A33E"/>
                </a:solidFill>
                <a:latin typeface="PingFang SC"/>
                <a:ea typeface="PingFang SC"/>
              </a:rPr>
              <a:t>PART 1 · </a:t>
            </a:r>
            <a:r>
              <a:rPr lang="zh-CN" sz="975" b="1" spc="75">
                <a:solidFill>
                  <a:srgbClr val="E3A33E"/>
                </a:solidFill>
                <a:latin typeface="PingFang SC"/>
                <a:ea typeface="PingFang SC"/>
              </a:rPr>
              <a:t>项目概述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42950" y="2419350"/>
            <a:ext cx="51054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Project overview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42950" y="264795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E3A33E"/>
                </a:solidFill>
                <a:latin typeface="PingFang SC"/>
                <a:ea typeface="PingFang SC"/>
              </a:rPr>
              <a:t>P03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990600" y="2647950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EDF1F5"/>
                </a:solidFill>
                <a:latin typeface="PingFang SC"/>
                <a:ea typeface="PingFang SC"/>
              </a:rPr>
              <a:t>问题：读代码看不到的三类信息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990600" y="2867025"/>
            <a:ext cx="4857750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The problem: three things code never shows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42950" y="312420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E3A33E"/>
                </a:solidFill>
                <a:latin typeface="PingFang SC"/>
                <a:ea typeface="PingFang SC"/>
              </a:rPr>
              <a:t>P04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990600" y="3124200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EDF1F5"/>
                </a:solidFill>
                <a:latin typeface="PingFang SC"/>
                <a:ea typeface="PingFang SC"/>
              </a:rPr>
              <a:t>方案：三段流水线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990600" y="3343275"/>
            <a:ext cx="4857750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The solution: a three-stage pipeline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42950" y="360045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E3A33E"/>
                </a:solidFill>
                <a:latin typeface="PingFang SC"/>
                <a:ea typeface="PingFang SC"/>
              </a:rPr>
              <a:t>P05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990600" y="3600450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EDF1F5"/>
                </a:solidFill>
                <a:latin typeface="PingFang SC"/>
                <a:ea typeface="PingFang SC"/>
              </a:rPr>
              <a:t>产品形态与核心用途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990600" y="3819525"/>
            <a:ext cx="4857750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Product forms and core uses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42950" y="407670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E3A33E"/>
                </a:solidFill>
                <a:latin typeface="PingFang SC"/>
                <a:ea typeface="PingFang SC"/>
              </a:rPr>
              <a:t>P06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990600" y="4076700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EDF1F5"/>
                </a:solidFill>
                <a:latin typeface="PingFang SC"/>
                <a:ea typeface="PingFang SC"/>
              </a:rPr>
              <a:t>价值、场景与已知边界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990600" y="4295775"/>
            <a:ext cx="4857750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Value, scenarios and known boundaries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172200" y="2095500"/>
            <a:ext cx="5448300" cy="3733800"/>
          </a:xfrm>
          <a:prstGeom prst="roundRect">
            <a:avLst>
              <a:gd name="adj" fmla="val 2551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343650" y="2228850"/>
            <a:ext cx="510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4CB8A6"/>
                </a:solidFill>
                <a:latin typeface="PingFang SC"/>
                <a:ea typeface="PingFang SC"/>
              </a:rPr>
              <a:t>PART 2 · </a:t>
            </a:r>
            <a:r>
              <a:rPr lang="zh-CN" sz="975" b="1" spc="75">
                <a:solidFill>
                  <a:srgbClr val="4CB8A6"/>
                </a:solidFill>
                <a:latin typeface="PingFang SC"/>
                <a:ea typeface="PingFang SC"/>
              </a:rPr>
              <a:t>真实运行数据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343650" y="2419350"/>
            <a:ext cx="51054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Real runtime data — openclaw/openclaw &amp; ody-cai/topfo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343650" y="264795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4CB8A6"/>
                </a:solidFill>
                <a:latin typeface="PingFang SC"/>
                <a:ea typeface="PingFang SC"/>
              </a:rPr>
              <a:t>P07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591300" y="2647950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EDF1F5"/>
                </a:solidFill>
                <a:latin typeface="PingFang SC"/>
                <a:ea typeface="PingFang SC"/>
              </a:rPr>
              <a:t>测试方法与可复现性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591300" y="2867025"/>
            <a:ext cx="4857750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Method and reproducibility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343650" y="312420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4CB8A6"/>
                </a:solidFill>
                <a:latin typeface="PingFang SC"/>
                <a:ea typeface="PingFang SC"/>
              </a:rPr>
              <a:t>P08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591300" y="3124200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EDF1F5"/>
                </a:solidFill>
                <a:latin typeface="PingFang SC"/>
                <a:ea typeface="PingFang SC"/>
              </a:rPr>
              <a:t>实测</a:t>
            </a:r>
            <a:r>
              <a:rPr lang="en-US" sz="938">
                <a:solidFill>
                  <a:srgbClr val="EDF1F5"/>
                </a:solidFill>
                <a:latin typeface="PingFang SC"/>
                <a:ea typeface="PingFang SC"/>
              </a:rPr>
              <a:t> A</a:t>
            </a:r>
            <a:r>
              <a:rPr lang="zh-CN" sz="938">
                <a:solidFill>
                  <a:srgbClr val="EDF1F5"/>
                </a:solidFill>
                <a:latin typeface="PingFang SC"/>
                <a:ea typeface="PingFang SC"/>
              </a:rPr>
              <a:t>：</a:t>
            </a:r>
            <a:r>
              <a:rPr lang="en-US" sz="938">
                <a:solidFill>
                  <a:srgbClr val="EDF1F5"/>
                </a:solidFill>
                <a:latin typeface="PingFang SC"/>
                <a:ea typeface="PingFang SC"/>
              </a:rPr>
              <a:t>openclaw/openclaw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591300" y="3343275"/>
            <a:ext cx="4857750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Measured A: openclaw/openclaw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343650" y="360045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4CB8A6"/>
                </a:solidFill>
                <a:latin typeface="PingFang SC"/>
                <a:ea typeface="PingFang SC"/>
              </a:rPr>
              <a:t>P09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591300" y="3600450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EDF1F5"/>
                </a:solidFill>
                <a:latin typeface="PingFang SC"/>
                <a:ea typeface="PingFang SC"/>
              </a:rPr>
              <a:t>实测</a:t>
            </a:r>
            <a:r>
              <a:rPr lang="en-US" sz="938">
                <a:solidFill>
                  <a:srgbClr val="EDF1F5"/>
                </a:solidFill>
                <a:latin typeface="PingFang SC"/>
                <a:ea typeface="PingFang SC"/>
              </a:rPr>
              <a:t> B</a:t>
            </a:r>
            <a:r>
              <a:rPr lang="zh-CN" sz="938">
                <a:solidFill>
                  <a:srgbClr val="EDF1F5"/>
                </a:solidFill>
                <a:latin typeface="PingFang SC"/>
                <a:ea typeface="PingFang SC"/>
              </a:rPr>
              <a:t>：</a:t>
            </a:r>
            <a:r>
              <a:rPr lang="en-US" sz="938">
                <a:solidFill>
                  <a:srgbClr val="EDF1F5"/>
                </a:solidFill>
                <a:latin typeface="PingFang SC"/>
                <a:ea typeface="PingFang SC"/>
              </a:rPr>
              <a:t>ody-cai/topfo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591300" y="3819525"/>
            <a:ext cx="4857750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Measured B: ody-cai/topfo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343650" y="407670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4CB8A6"/>
                </a:solidFill>
                <a:latin typeface="PingFang SC"/>
                <a:ea typeface="PingFang SC"/>
              </a:rPr>
              <a:t>P10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591300" y="4076700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EDF1F5"/>
                </a:solidFill>
                <a:latin typeface="PingFang SC"/>
                <a:ea typeface="PingFang SC"/>
              </a:rPr>
              <a:t>「被放弃的尝试」逐条清单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591300" y="4295775"/>
            <a:ext cx="4857750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Abandoned attempts, item by item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343650" y="455295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4CB8A6"/>
                </a:solidFill>
                <a:latin typeface="PingFang SC"/>
                <a:ea typeface="PingFang SC"/>
              </a:rPr>
              <a:t>P11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591300" y="4552950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EDF1F5"/>
                </a:solidFill>
                <a:latin typeface="PingFang SC"/>
                <a:ea typeface="PingFang SC"/>
              </a:rPr>
              <a:t>多模型分析层与证据接地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591300" y="4772025"/>
            <a:ext cx="4857750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Multi-model layer and evidence grounding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343650" y="502920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4CB8A6"/>
                </a:solidFill>
                <a:latin typeface="PingFang SC"/>
                <a:ea typeface="PingFang SC"/>
              </a:rPr>
              <a:t>P12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591300" y="5029200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EDF1F5"/>
                </a:solidFill>
                <a:latin typeface="PingFang SC"/>
                <a:ea typeface="PingFang SC"/>
              </a:rPr>
              <a:t>工程完备性、自我证伪与问答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591300" y="5248275"/>
            <a:ext cx="4857750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Engineering, self-falsification, Q&amp;A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571500" y="5943600"/>
            <a:ext cx="11049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测试范围声明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/ Scope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：本次全部实测严格限定为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openclaw/openclaw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与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ody-cai/topfo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两个公开仓库，未测试任何第三个仓库。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571500" y="6229350"/>
            <a:ext cx="11049000" cy="342900"/>
          </a:xfrm>
          <a:custGeom>
            <a:pathLst>
              <a:path w="1160" h="36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571500" y="6315075"/>
            <a:ext cx="3743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代码考古学</a:t>
            </a: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 / Code Archaeology · BAYTECH 2026 · AI </a:t>
            </a: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应用与工程赛道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229975" y="63150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247" name="" descr="&lt;Slide style={{ width: '1280px', height: '720px', padding: '20px 60px', background: '#10141A', fontFamily: &quot;'PingFang SC','Microsoft YaHei','Helvetica Neue',sans-serif&quot;, flexDirection: 'column' }}&gt;&#10;&#10;  &lt;Box style={{ height: 96, justifyContent: 'center' }}&gt;&#10;    &lt;Box style={{ flexDirection: 'row', alignItems: 'flex-end', justifyContent: 'space-between' }}&gt;&#10;      &lt;Box&gt;&#10;        &lt;Text style={{ fontSize: 32, fontWeight: 'bold', lineHeight: 1.22, color: '#EDF1F5', fontFamily: &quot;'Source Han Serif SC','Noto Serif SC','Songti SC',serif&quot; }}&gt;有一类信息，读代码永远看不到&lt;/Text&gt;&#10;        &lt;Text style={{ fontSize: 14.5, color: '#8892A0', marginTop: 7, letterSpacing: 0.3 }}&gt;Some information never shows up in the code itself&lt;/Text&gt;&#10;      &lt;/Box&gt;&#10;      &#10;    &lt;/Box&gt;&#10;  &lt;/Box&gt;&#10;    &lt;Box style={{ height: 500 }}&gt;&#10;      &lt;Box style={{ height: 76, padding: '11px 18px', background: '#1D242E', borderLeft: '3px solid #E3A33E', borderRadius: 10, justifyContent: 'center' }}&gt;&#10;        &#10;    &lt;Text style={{ fontSize: 13, lineHeight: 1.5, color: '#EDF1F5' }}&gt;技术尽调评估复杂度、覆盖率与维护成本，却几乎不评估更致命的一项：这个代码库的知识还能不能被交接。下面三条全部来自本次两个仓库的现场实测。&lt;/Text&gt;&#10;    &lt;Text style={{ fontSize: 10.5, lineHeight: 1.45, color: '#8892A0', marginTop: 5 }}&gt;Due diligence measures complexity, coverage and maintenance cost — almost never the more fatal question: can this codebase's knowledge still be handed over? All three findings below are live measurements from the two repositories tested.&lt;/Text&gt;&#10;      &lt;/Box&gt;&#10;&#10;      &lt;Box style={{ flexDirection: 'row', gap: 16, height: 344, marginTop: 14 }}&gt;&#10;&#10;        &lt;Box style={{ flex: 1, padding: '16px 18px', background: '#1D242E', borderRadius: 10, border: '1px solid #232C38', flexDirection: 'column' }}&gt;&#10;          &lt;Text style={{ fontSize: 30, fontWeight: 'bold', lineHeight: 1, color: '#E3A33E', fontFamily: &quot;'Source Han Serif SC','Noto Serif SC','Songti SC',serif&quot; }}&gt;01&lt;/Text&gt;&#10;          &lt;Text style={{ fontSize: 17, fontWeight: 'bold', color: '#EDF1F5', marginTop: 8 }}&gt;节奏被压扁&lt;/Text&gt;&#10;          &lt;Text style={{ fontSize: 11, color: '#8892A0', marginTop: 3, letterSpacing: 0.3 }}&gt;Velocity is invisible in the final state&lt;/Text&gt;&#10;          &lt;Text style={{ fontSize: 12.5, lineHeight: 1.55, color: '#A8B2BE', marginTop: 10 }}&gt;openclaw/openclaw 的 60 次提交全部落在 &lt;span style={{ color: '#E3A33E', fontWeight: 'bold' }}&gt;2h 15m 47s&lt;/span&gt; 之内，约合每小时 26.5 次、平均每 2.3 分钟一次，活跃天数 1 天。读 main 分支的终态看不到这种速度，也无法判断哪些改动是被时限逼出来的。&lt;/Text&gt;&#10;          &lt;Text style={{ fontSize: 10, lineHeight: 1.4, color: '#6B7684', marginTop: 5 }}&gt;All 60 commits fall inside a single 2h16m window — about 26.5 commits per hour. The final state of main tells you nothing about this tempo.&lt;/Text&gt;&#10;          &lt;Box style={{ marginTop: 'auto', paddingTop: 10, borderTop: '1px solid #2C3542' }}&gt;&#10;            &lt;Text style={{ fontSize: 11, lineHeight: 1.4, color: '#4CB8A6' }}&gt;实测 openclaw：60 次提交 / 2h 15m 47s / 26.5 次·小时&lt;/Text&gt;&#10;          &lt;/Box&gt;&#10;        &lt;/Box&gt;&#10;&#10;        &lt;Box style={{ flex: 1, padding: '16px 18px', background: '#1D242E', borderRadius: 10, border: '1px solid #232C38', flexDirection: 'column' }}&gt;&#10;          &lt;Text style={{ fontSize: 30, fontWeight: 'bold', lineHeight: 1, color: '#E3A33E', fontFamily: &quot;'Source Han Serif SC','Noto Serif SC','Songti SC',serif&quot; }}&gt;02&lt;/Text&gt;&#10;          &lt;Text style={{ fontSize: 17, fontWeight: 'bold', color: '#EDF1F5', marginTop: 8 }}&gt;知识集中在一个人头上&lt;/Text&gt;&#10;          &lt;Text style={{ fontSize: 11, color: '#8892A0', marginTop: 3, letterSpacing: 0.3 }}&gt;Single point of knowledge&lt;/Text&gt;&#10;          &lt;Text style={{ fontSize: 12.5, lineHeight: 1.55, color: '#A8B2BE', marginTop: 10 }}&gt;openclaw 有 8 位作者，但 &lt;span style={{ color: '#E3A33E', fontWeight: 'bold' }}&gt;80%&lt;/span&gt; 的提交来自 Peter Steinberger 一人（47 次提交、19,278 行改动、294 个文件）。ody-cai/topfo 更极端：&lt;span style={{ color: '#E3A33E', fontWeight: 'bold' }}&gt;96%&lt;/span&gt; 的提交来自 ody-cai。代码里没有任何一行标注「这些文件只有一个人懂」。&lt;/Text&gt;&#10;          &lt;Text style={{ fontSize: 10, lineHeight: 1.4, color: '#6B7684', marginTop: 5 }}&gt;openclaw has 8 authors, yet 80% of commits come from one person. topfo is starker: 96% from a single author. No line of code records this.&lt;/Text&gt;&#10;          &lt;Box style={{ marginTop: 'auto', paddingTop: 10, borderTop: '1px solid #2C3542' }}&gt;&#10;            &lt;Text style={{ fontSize: 11, lineHeight: 1.4, color: '#4CB8A6' }}&gt;实测 openclaw：47/59 次（80%）／topfo：22/23 次（96%）&lt;/Text&gt;&#10;          &lt;/Box&gt;&#10;        &lt;/Box&gt;&#10;&#10;        &lt;Box style={{ flex: 1, padding: '16px 18px', background: '#1D242E', borderRadius: 10, border: '1px solid #232C38', flexDirection: 'column' }}&gt;&#10;          &lt;Text style={{ fontSize: 30, fontWeight: 'bold', lineHeight: 1, color: '#E3A33E', fontFamily: &quot;'Source Han Serif SC','Noto Serif SC','Songti SC',serif&quot; }}&gt;03&lt;/Text&gt;&#10;          &lt;Text style={{ fontSize: 17, fontWeight: 'bold', color: '#EDF1F5', marginTop: 8 }}&gt;先进后出，代码里零痕迹&lt;/Text&gt;&#10;          &lt;Text style={{ fontSize: 11, color: '#8892A0', marginTop: 3, letterSpacing: 0.3 }}&gt;Added then removed — zero trace&lt;/Text&gt;&#10;          &lt;Text style={{ fontSize: 12.5, lineHeight: 1.55, color: '#A8B2BE', marginTop: 10 }}&gt;ody-cai/topfo 有 &lt;span style={{ color: '#E3A33E', fontWeight: 'bold' }}&gt;7 处&lt;/span&gt;改动在数小时内被整体拆除，拆除内容与当初新增内容重合 &lt;span style={{ color: '#E3A33E', fontWeight: 'bold' }}&gt;93%–100%&lt;/span&gt;，存活时间最短 1 小时 2 分、最长 2 小时 30 分。这些功能在今天的代码库里查不到任何痕迹 —— 没有 TODO、没有注释、没有残留分支，只能从提交历史里挖出来。&lt;/Text&gt;&#10;          &lt;Text style={{ fontSize: 10, lineHeight: 1.4, color: '#6B7684', marginTop: 5 }}&gt;Seven changes in topfo were added and then wholly removed within hours, with 93–100% content overlap. Today the code contains no trace of them.&lt;/Text&gt;&#10;          &lt;Box style={{ marginTop: 'auto', paddingTop: 10, borderTop: '1px solid #2C3542' }}&gt;&#10;            &lt;Text style={{ fontSize: 11, lineHeight: 1.4, color: '#4CB8A6' }}&gt;实测 topfo：7 处已核实 · 重合 93%–100% · 存活 1 小时 2 分–2 小时 30 分&lt;/Text&gt;&#10;          &lt;/Box&gt;&#10;        &lt;/Box&gt;&#10;      &lt;/Box&gt;&#10;&#10;      &lt;Box style={{ height: 48, marginTop: 14, padding: '0 18px', background: 'rgba(227,163,62,0.10)', border: '1px solid rgba(227,163,62,0.35)', borderRadius: 10, justifyContent: 'center', flexDirection: 'row', alignItems: 'center', gap: 14 }}&gt;&#10;        &lt;Text style={{ fontSize: 14, color: '#E3A33E', fontWeight: 'bold' }}&gt;于是问题不是「这个项目好不好」，而是「它还能不能被交接」。&lt;/Text&gt;&#10;        &lt;Text style={{ fontSize: 10.5, color: '#8892A0' }}&gt;The real question is not whether the project is good — but whether it can still be handed over.&lt;/Text&gt;&#10;      &lt;/Box&gt;&#10;    &lt;/Box&gt;&#10;&#10;  &lt;Box style={{ height: 32, justifyContent: 'center' }}&gt;&#10;    &lt;Text style={{ fontSize: 10, lineHeight: 1.4, color: '#6B7684', textAlign: 'right' }}&gt;第三方仓库来源 / Third-party source：openclaw/openclaw（TypeScript · 390,102 stars）· GitHub REST API v3 · 采集窗口 2026-09-20T00:07:32Z → 2026-09-20T02:23:19Z（UTC） ｜ 第三方仓库来源 / Third-party source：ody-cai/topfo（HTML · 2 stars）· GitHub REST API v3 · 采集窗口 2026-07-09T02:38:58Z → 2026-09-20T01:53:29Z（UTC）&lt;/Text&gt;&#10;  &lt;/Box&gt;&#10;  &lt;Box style={{ height: 36, marginTop: 6, paddingTop: 8, borderTop: '1px solid #232C38', flexDirection: 'row', alignItems: 'flex-start', justifyContent: 'space-between' }}&gt;&#10;    &lt;Text style={{ fontSize: 12, color: '#8892A0' }}&gt;代码考古学 / Code Archaeology · BAYTECH 2026 · AI 应用与工程赛道&lt;/Text&gt;&#10;    &lt;Text style={{ fontSize: 12, color: '#8892A0' }}&gt;03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141A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4267200" cy="447675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2400" b="1">
                <a:solidFill>
                  <a:srgbClr val="EDF1F5"/>
                </a:solidFill>
                <a:latin typeface="Source Han Serif SC"/>
                <a:ea typeface="Source Han Serif SC"/>
              </a:rPr>
              <a:t>有一类信息，读代码永远看不到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571500" y="819150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spc="22">
                <a:solidFill>
                  <a:srgbClr val="8892A0"/>
                </a:solidFill>
                <a:latin typeface="PingFang SC"/>
                <a:ea typeface="PingFang SC"/>
              </a:rPr>
              <a:t>Some information never shows up in the code itself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00075" y="1104900"/>
            <a:ext cx="11049000" cy="723900"/>
          </a:xfrm>
          <a:prstGeom prst="roundRect">
            <a:avLst>
              <a:gd name="adj" fmla="val 13158"/>
            </a:avLst>
          </a:prstGeom>
          <a:solidFill>
            <a:srgbClr val="1D242E"/>
          </a:soli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600075" y="1104900"/>
            <a:ext cx="11049000" cy="723900"/>
          </a:xfrm>
          <a:custGeom>
            <a:pathLst>
              <a:path w="1160" h="76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69"/>
                </a:lnTo>
                <a:cubicBezTo>
                  <a:pt x="3" y="72"/>
                  <a:pt x="5" y="75"/>
                  <a:pt x="8" y="76"/>
                </a:cubicBezTo>
                <a:cubicBezTo>
                  <a:pt x="3" y="75"/>
                  <a:pt x="0" y="71"/>
                  <a:pt x="0" y="6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E3A33E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71525" y="1152525"/>
            <a:ext cx="106775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EDF1F5"/>
                </a:solidFill>
                <a:latin typeface="PingFang SC"/>
                <a:ea typeface="PingFang SC"/>
              </a:rPr>
              <a:t>技术尽调评估复杂度、覆盖率与维护成本，却几乎不评估更致命的一项：这个代码库的知识还能不能被交接。下面三条全部来自本次两个仓库的现场实测。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71525" y="1428750"/>
            <a:ext cx="1067752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Due diligence measures complexity, coverage and maintenance cost — almost never the more fatal question: can this codebase's knowledge still be handed over? All three findings below are live measurements from the two repositories tested.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571500" y="1962150"/>
            <a:ext cx="3581400" cy="3276600"/>
          </a:xfrm>
          <a:prstGeom prst="roundRect">
            <a:avLst>
              <a:gd name="adj" fmla="val 2907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42950" y="2114550"/>
            <a:ext cx="3238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3A33E"/>
                </a:solidFill>
                <a:latin typeface="Source Han Serif SC"/>
                <a:ea typeface="Source Han Serif SC"/>
              </a:rPr>
              <a:t>01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42950" y="253365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DF1F5"/>
                </a:solidFill>
                <a:latin typeface="PingFang SC"/>
                <a:ea typeface="PingFang SC"/>
              </a:rPr>
              <a:t>节奏被压扁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42950" y="2762250"/>
            <a:ext cx="3238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22">
                <a:solidFill>
                  <a:srgbClr val="8892A0"/>
                </a:solidFill>
                <a:latin typeface="PingFang SC"/>
                <a:ea typeface="PingFang SC"/>
              </a:rPr>
              <a:t>Velocity is invisible in the final state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742950" y="2990850"/>
            <a:ext cx="32385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openclaw/openclaw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的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60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次提交全部落在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</a:t>
            </a:r>
            <a:r>
              <a:rPr lang="en-US" sz="938" b="1">
                <a:solidFill>
                  <a:srgbClr val="E3A33E"/>
                </a:solidFill>
                <a:latin typeface="PingFang SC"/>
                <a:ea typeface="PingFang SC"/>
              </a:rPr>
              <a:t>2h 15m 47s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之内，约合每小时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26.5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次、平均每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2.3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分钟一次，活跃天数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1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天。读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main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分支的终态看不到这种速度，也无法判断哪些改动是被时限逼出来的。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742950" y="3924300"/>
            <a:ext cx="32385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All 60 commits fall inside a single 2h16m window — about 26.5 commits per hour. The final state of main tells you nothing about this tempo.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742950" y="4800600"/>
            <a:ext cx="3238500" cy="295275"/>
          </a:xfrm>
          <a:custGeom>
            <a:pathLst>
              <a:path w="340" h="31">
                <a:moveTo>
                  <a:pt x="0" y="0"/>
                </a:moveTo>
                <a:lnTo>
                  <a:pt x="340" y="0"/>
                </a:lnTo>
                <a:lnTo>
                  <a:pt x="340" y="1"/>
                </a:lnTo>
                <a:lnTo>
                  <a:pt x="0" y="1"/>
                </a:lnTo>
                <a:close/>
              </a:path>
            </a:pathLst>
          </a:custGeom>
          <a:solidFill>
            <a:srgbClr val="2C3542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42950" y="4905375"/>
            <a:ext cx="32385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实测</a:t>
            </a:r>
            <a:r>
              <a:rPr lang="en-US" sz="825">
                <a:solidFill>
                  <a:srgbClr val="4CB8A6"/>
                </a:solidFill>
                <a:latin typeface="PingFang SC"/>
                <a:ea typeface="PingFang SC"/>
              </a:rPr>
              <a:t> openclaw</a:t>
            </a: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：</a:t>
            </a:r>
            <a:r>
              <a:rPr lang="en-US" sz="825">
                <a:solidFill>
                  <a:srgbClr val="4CB8A6"/>
                </a:solidFill>
                <a:latin typeface="PingFang SC"/>
                <a:ea typeface="PingFang SC"/>
              </a:rPr>
              <a:t>60 </a:t>
            </a: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次提交</a:t>
            </a:r>
            <a:r>
              <a:rPr lang="en-US" sz="825">
                <a:solidFill>
                  <a:srgbClr val="4CB8A6"/>
                </a:solidFill>
                <a:latin typeface="PingFang SC"/>
                <a:ea typeface="PingFang SC"/>
              </a:rPr>
              <a:t> / 2h 15m 47s / 26.5 </a:t>
            </a: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次·小时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4305300" y="1962150"/>
            <a:ext cx="3581400" cy="3276600"/>
          </a:xfrm>
          <a:prstGeom prst="roundRect">
            <a:avLst>
              <a:gd name="adj" fmla="val 2907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4476750" y="2114550"/>
            <a:ext cx="3238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3A33E"/>
                </a:solidFill>
                <a:latin typeface="Source Han Serif SC"/>
                <a:ea typeface="Source Han Serif SC"/>
              </a:rPr>
              <a:t>02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4476750" y="253365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DF1F5"/>
                </a:solidFill>
                <a:latin typeface="PingFang SC"/>
                <a:ea typeface="PingFang SC"/>
              </a:rPr>
              <a:t>知识集中在一个人头上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476750" y="2762250"/>
            <a:ext cx="3238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22">
                <a:solidFill>
                  <a:srgbClr val="8892A0"/>
                </a:solidFill>
                <a:latin typeface="PingFang SC"/>
                <a:ea typeface="PingFang SC"/>
              </a:rPr>
              <a:t>Single point of knowledge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476750" y="2990850"/>
            <a:ext cx="32385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openclaw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有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8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位作者，但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</a:t>
            </a:r>
            <a:r>
              <a:rPr lang="en-US" sz="938" b="1">
                <a:solidFill>
                  <a:srgbClr val="E3A33E"/>
                </a:solidFill>
                <a:latin typeface="PingFang SC"/>
                <a:ea typeface="PingFang SC"/>
              </a:rPr>
              <a:t>80%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的提交来自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Peter Steinberger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一人（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47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次提交、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19,278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行改动、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294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个文件）。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ody-cai/topfo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更极端：</a:t>
            </a:r>
            <a:r>
              <a:rPr lang="en-US" sz="938" b="1">
                <a:solidFill>
                  <a:srgbClr val="E3A33E"/>
                </a:solidFill>
                <a:latin typeface="PingFang SC"/>
                <a:ea typeface="PingFang SC"/>
              </a:rPr>
              <a:t>96%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的提交来自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ody-cai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。代码里没有任何一行标注「这些文件只有一个人懂」。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4476750" y="3924300"/>
            <a:ext cx="32385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openclaw has 8 authors, yet 80% of commits come from one person. topfo is starker: 96% from a single author. No line of code records this.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4476750" y="4800600"/>
            <a:ext cx="3238500" cy="295275"/>
          </a:xfrm>
          <a:custGeom>
            <a:pathLst>
              <a:path w="340" h="31">
                <a:moveTo>
                  <a:pt x="0" y="0"/>
                </a:moveTo>
                <a:lnTo>
                  <a:pt x="340" y="0"/>
                </a:lnTo>
                <a:lnTo>
                  <a:pt x="340" y="1"/>
                </a:lnTo>
                <a:lnTo>
                  <a:pt x="0" y="1"/>
                </a:lnTo>
                <a:close/>
              </a:path>
            </a:pathLst>
          </a:custGeom>
          <a:solidFill>
            <a:srgbClr val="2C3542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476750" y="4905375"/>
            <a:ext cx="32385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实测</a:t>
            </a:r>
            <a:r>
              <a:rPr lang="en-US" sz="825">
                <a:solidFill>
                  <a:srgbClr val="4CB8A6"/>
                </a:solidFill>
                <a:latin typeface="PingFang SC"/>
                <a:ea typeface="PingFang SC"/>
              </a:rPr>
              <a:t> openclaw</a:t>
            </a: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：</a:t>
            </a:r>
            <a:r>
              <a:rPr lang="en-US" sz="825">
                <a:solidFill>
                  <a:srgbClr val="4CB8A6"/>
                </a:solidFill>
                <a:latin typeface="PingFang SC"/>
                <a:ea typeface="PingFang SC"/>
              </a:rPr>
              <a:t>47/59 </a:t>
            </a: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次（</a:t>
            </a:r>
            <a:r>
              <a:rPr lang="en-US" sz="825">
                <a:solidFill>
                  <a:srgbClr val="4CB8A6"/>
                </a:solidFill>
                <a:latin typeface="PingFang SC"/>
                <a:ea typeface="PingFang SC"/>
              </a:rPr>
              <a:t>80%</a:t>
            </a: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）／</a:t>
            </a:r>
            <a:r>
              <a:rPr lang="en-US" sz="825">
                <a:solidFill>
                  <a:srgbClr val="4CB8A6"/>
                </a:solidFill>
                <a:latin typeface="PingFang SC"/>
                <a:ea typeface="PingFang SC"/>
              </a:rPr>
              <a:t>topfo</a:t>
            </a: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：</a:t>
            </a:r>
            <a:r>
              <a:rPr lang="en-US" sz="825">
                <a:solidFill>
                  <a:srgbClr val="4CB8A6"/>
                </a:solidFill>
                <a:latin typeface="PingFang SC"/>
                <a:ea typeface="PingFang SC"/>
              </a:rPr>
              <a:t>22/23 </a:t>
            </a: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次（</a:t>
            </a:r>
            <a:r>
              <a:rPr lang="en-US" sz="825">
                <a:solidFill>
                  <a:srgbClr val="4CB8A6"/>
                </a:solidFill>
                <a:latin typeface="PingFang SC"/>
                <a:ea typeface="PingFang SC"/>
              </a:rPr>
              <a:t>96%</a:t>
            </a: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8039100" y="1962150"/>
            <a:ext cx="3581400" cy="3286125"/>
          </a:xfrm>
          <a:prstGeom prst="roundRect">
            <a:avLst>
              <a:gd name="adj" fmla="val 2899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210550" y="2114550"/>
            <a:ext cx="3238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3A33E"/>
                </a:solidFill>
                <a:latin typeface="Source Han Serif SC"/>
                <a:ea typeface="Source Han Serif SC"/>
              </a:rPr>
              <a:t>03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210550" y="2533650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DF1F5"/>
                </a:solidFill>
                <a:latin typeface="PingFang SC"/>
                <a:ea typeface="PingFang SC"/>
              </a:rPr>
              <a:t>先进后出，代码里零痕迹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210550" y="2762250"/>
            <a:ext cx="3238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22">
                <a:solidFill>
                  <a:srgbClr val="8892A0"/>
                </a:solidFill>
                <a:latin typeface="PingFang SC"/>
                <a:ea typeface="PingFang SC"/>
              </a:rPr>
              <a:t>Added then removed — zero trace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210550" y="2990850"/>
            <a:ext cx="3238500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ody-cai/topfo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有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</a:t>
            </a:r>
            <a:r>
              <a:rPr lang="en-US" sz="938" b="1">
                <a:solidFill>
                  <a:srgbClr val="E3A33E"/>
                </a:solidFill>
                <a:latin typeface="PingFang SC"/>
                <a:ea typeface="PingFang SC"/>
              </a:rPr>
              <a:t>7 </a:t>
            </a:r>
            <a:r>
              <a:rPr lang="zh-CN" sz="938" b="1">
                <a:solidFill>
                  <a:srgbClr val="E3A33E"/>
                </a:solidFill>
                <a:latin typeface="PingFang SC"/>
                <a:ea typeface="PingFang SC"/>
              </a:rPr>
              <a:t>处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改动在数小时内被整体拆除，拆除内容与当初新增内容重合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</a:t>
            </a:r>
            <a:r>
              <a:rPr lang="en-US" sz="938" b="1">
                <a:solidFill>
                  <a:srgbClr val="E3A33E"/>
                </a:solidFill>
                <a:latin typeface="PingFang SC"/>
                <a:ea typeface="PingFang SC"/>
              </a:rPr>
              <a:t>93%–100%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，存活时间最短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1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小时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2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分、最长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2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小时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30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分。这些功能在今天的代码库里查不到任何痕迹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——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没有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TODO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、没有注释、没有残留分支，只能从提交历史里挖出来。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210550" y="4152900"/>
            <a:ext cx="32385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Seven changes in topfo were added and then wholly removed within hours, with 93–100% content overlap. Today the code contains no trace of them.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8210550" y="4638675"/>
            <a:ext cx="3238500" cy="466725"/>
          </a:xfrm>
          <a:custGeom>
            <a:pathLst>
              <a:path w="340" h="49">
                <a:moveTo>
                  <a:pt x="0" y="0"/>
                </a:moveTo>
                <a:lnTo>
                  <a:pt x="340" y="0"/>
                </a:lnTo>
                <a:lnTo>
                  <a:pt x="340" y="1"/>
                </a:lnTo>
                <a:lnTo>
                  <a:pt x="0" y="1"/>
                </a:lnTo>
                <a:close/>
              </a:path>
            </a:pathLst>
          </a:custGeom>
          <a:solidFill>
            <a:srgbClr val="2C3542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210550" y="4743450"/>
            <a:ext cx="32385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实测</a:t>
            </a:r>
            <a:r>
              <a:rPr lang="en-US" sz="825">
                <a:solidFill>
                  <a:srgbClr val="4CB8A6"/>
                </a:solidFill>
                <a:latin typeface="PingFang SC"/>
                <a:ea typeface="PingFang SC"/>
              </a:rPr>
              <a:t> topfo</a:t>
            </a: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：</a:t>
            </a:r>
            <a:r>
              <a:rPr lang="en-US" sz="825">
                <a:solidFill>
                  <a:srgbClr val="4CB8A6"/>
                </a:solidFill>
                <a:latin typeface="PingFang SC"/>
                <a:ea typeface="PingFang SC"/>
              </a:rPr>
              <a:t>7 </a:t>
            </a: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处已核实</a:t>
            </a:r>
            <a:r>
              <a:rPr lang="en-US" sz="825">
                <a:solidFill>
                  <a:srgbClr val="4CB8A6"/>
                </a:solidFill>
                <a:latin typeface="PingFang SC"/>
                <a:ea typeface="PingFang SC"/>
              </a:rPr>
              <a:t> · </a:t>
            </a: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重合</a:t>
            </a:r>
            <a:r>
              <a:rPr lang="en-US" sz="825">
                <a:solidFill>
                  <a:srgbClr val="4CB8A6"/>
                </a:solidFill>
                <a:latin typeface="PingFang SC"/>
                <a:ea typeface="PingFang SC"/>
              </a:rPr>
              <a:t> 93%–100% · </a:t>
            </a: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存活</a:t>
            </a:r>
            <a:r>
              <a:rPr lang="en-US" sz="825">
                <a:solidFill>
                  <a:srgbClr val="4CB8A6"/>
                </a:solidFill>
                <a:latin typeface="PingFang SC"/>
                <a:ea typeface="PingFang SC"/>
              </a:rPr>
              <a:t> 1 </a:t>
            </a: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小时</a:t>
            </a:r>
            <a:r>
              <a:rPr lang="en-US" sz="825">
                <a:solidFill>
                  <a:srgbClr val="4CB8A6"/>
                </a:solidFill>
                <a:latin typeface="PingFang SC"/>
                <a:ea typeface="PingFang SC"/>
              </a:rPr>
              <a:t> 2 </a:t>
            </a: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分–</a:t>
            </a:r>
            <a:r>
              <a:rPr lang="en-US" sz="825">
                <a:solidFill>
                  <a:srgbClr val="4CB8A6"/>
                </a:solidFill>
                <a:latin typeface="PingFang SC"/>
                <a:ea typeface="PingFang SC"/>
              </a:rPr>
              <a:t>2 </a:t>
            </a: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小时</a:t>
            </a:r>
            <a:r>
              <a:rPr lang="en-US" sz="825">
                <a:solidFill>
                  <a:srgbClr val="4CB8A6"/>
                </a:solidFill>
                <a:latin typeface="PingFang SC"/>
                <a:ea typeface="PingFang SC"/>
              </a:rPr>
              <a:t> 30 </a:t>
            </a:r>
            <a:r>
              <a:rPr lang="zh-CN" sz="825">
                <a:solidFill>
                  <a:srgbClr val="4CB8A6"/>
                </a:solidFill>
                <a:latin typeface="PingFang SC"/>
                <a:ea typeface="PingFang SC"/>
              </a:rPr>
              <a:t>分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571500" y="5372100"/>
            <a:ext cx="11049000" cy="457200"/>
          </a:xfrm>
          <a:prstGeom prst="roundRect">
            <a:avLst>
              <a:gd name="adj" fmla="val 20833"/>
            </a:avLst>
          </a:prstGeom>
          <a:solidFill>
            <a:srgbClr val="E3A33E">
              <a:alpha val="10000"/>
            </a:srgbClr>
          </a:solidFill>
          <a:ln w="12700">
            <a:solidFill>
              <a:srgbClr val="E3A33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895475" y="5524500"/>
            <a:ext cx="3867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3A33E"/>
                </a:solidFill>
                <a:latin typeface="PingFang SC"/>
                <a:ea typeface="PingFang SC"/>
              </a:rPr>
              <a:t>于是问题不是「这个项目好不好」，而是「它还能不能被交接」。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5895975" y="5543550"/>
            <a:ext cx="44100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The real question is not whether the project is good — but whether it can still be handed over.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571500" y="5857875"/>
            <a:ext cx="11049000" cy="323850"/>
          </a:xfrm>
          <a:prstGeom prst="rect"/>
        </p:spPr>
        <p:txBody>
          <a:bodyPr wrap="square" lIns="0" tIns="0" rIns="0" bIns="0">
            <a:normAutofit/>
          </a:bodyPr>
          <a:p>
            <a:pPr algn="r">
              <a:lnSpc>
                <a:spcPct val="140000"/>
              </a:lnSpc>
            </a:pP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第三方仓库来源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/ Third-party source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：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openclaw/openclaw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（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TypeScript · 390,102 stars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）·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GitHub REST API v3 ·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采集窗口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2026-09-20T00:07:32Z → 2026-09-20T02:23:19Z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（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UTC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）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｜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第三方仓库来源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/ Third-party source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：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ody-cai/topfo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（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HTML · 2 stars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）·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GitHub REST API v3 ·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采集窗口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2026-07-09T02:38:58Z → 2026-09-20T01:53:29Z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（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UTC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571500" y="6229350"/>
            <a:ext cx="11049000" cy="342900"/>
          </a:xfrm>
          <a:custGeom>
            <a:pathLst>
              <a:path w="1160" h="36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571500" y="6315075"/>
            <a:ext cx="3743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代码考古学</a:t>
            </a: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 / Code Archaeology · BAYTECH 2026 · AI </a:t>
            </a: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应用与工程赛道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1229975" y="63150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86" name="" descr="&lt;Slide style={{ width: '1280px', height: '720px', padding: '20px 60px', background: '#10141A', fontFamily: &quot;'PingFang SC','Microsoft YaHei','Helvetica Neue',sans-serif&quot;, flexDirection: 'column' }}&gt;&#10;&#10;  &lt;Box style={{ height: 96, justifyContent: 'center' }}&gt;&#10;    &lt;Box style={{ flexDirection: 'row', alignItems: 'flex-end', justifyContent: 'space-between' }}&gt;&#10;      &lt;Box&gt;&#10;        &lt;Text style={{ fontSize: 32, fontWeight: 'bold', lineHeight: 1.22, color: '#EDF1F5', fontFamily: &quot;'Source Han Serif SC','Noto Serif SC','Songti SC',serif&quot; }}&gt;先筛地层，再挖文物，最后自己查自己&lt;/Text&gt;&#10;        &lt;Text style={{ fontSize: 14.5, color: '#8892A0', marginTop: 7, letterSpacing: 0.3 }}&gt;Sift the strata, excavate the artifacts, then audit ourselves&lt;/Text&gt;&#10;      &lt;/Box&gt;&#10;      &#10;    &lt;/Box&gt;&#10;  &lt;/Box&gt;&#10;    &lt;Box style={{ height: 500 }}&gt;&#10;      &lt;svg width={1160} height={132} viewBox='0 0 1160 132'&gt;&#10;        &lt;rect x='0' y='24' width='356' height='86' rx='8' fill='#1D242E' stroke='#2C3542' /&gt;&#10;        &lt;rect x='392' y='24' width='356' height='86' rx='8' fill='#1D242E' stroke='#2C3542' /&gt;&#10;        &lt;rect x='784' y='24' width='376' height='86' rx='8' fill='#1D242E' stroke='#4CB8A6' /&gt;&#10;        &lt;text x='24' y='48' fill='#4CB8A6' fontFamily='Helvetica Neue, sans-serif' fontSize='11' fontWeight='bold'&gt;STAGE 01 · PURE COMPUTATION&lt;/text&gt;&#10;        &lt;text x='24' y='72' fill='#EDF1F5' fontFamily='PingFang SC, sans-serif' fontSize='14'&gt;信噪分离 · 纯计算&lt;/text&gt;&#10;        &lt;text x='24' y='92' fill='#8892A0' fontFamily='Helvetica Neue, sans-serif' fontSize='10.5'&gt;Signal / noise separation&lt;/text&gt;&#10;        &lt;text x='416' y='48' fill='#E3A33E' fontFamily='Helvetica Neue, sans-serif' fontSize='11' fontWeight='bold'&gt;STAGE 02 · 3 VENDORS&lt;/text&gt;&#10;        &lt;text x='416' y='72' fill='#EDF1F5' fontFamily='PingFang SC, sans-serif' fontSize='14'&gt;多模型分工 · 3 家供应商&lt;/text&gt;&#10;        &lt;text x='416' y='92' fill='#8892A0' fontFamily='Helvetica Neue, sans-serif' fontSize='10.5'&gt;Three models, sequential roles&lt;/text&gt;&#10;        &lt;text x='808' y='48' fill='#4CB8A6' fontFamily='Helvetica Neue, sans-serif' fontSize='11' fontWeight='bold'&gt;STAGE 03 · SET ARITHMETIC&lt;/text&gt;&#10;        &lt;text x='808' y='72' fill='#EDF1F5' fontFamily='PingFang SC, sans-serif' fontSize='14'&gt;证据接地校验 · SHA 集合运算&lt;/text&gt;&#10;        &lt;text x='808' y='92' fill='#8892A0' fontFamily='Helvetica Neue, sans-serif' fontSize='10.5'&gt;Evidence grounding check&lt;/text&gt;&#10;        &lt;path d='M358 67 L388 67' stroke='#E3A33E' strokeWidth='2' /&gt;&#10;        &lt;path d='M382 62 L390 67 L382 72 Z' fill='#E3A33E' /&gt;&#10;        &lt;path d='M750 67 L780 67' stroke='#4CB8A6' strokeWidth='2' /&gt;&#10;        &lt;path d='M774 62 L782 67 L774 72 Z' fill='#4CB8A6' /&gt;&#10;        &lt;text x='0' y='12' fill='#6B7684' fontFamily='PingFang SC, sans-serif' fontSize='10.5'&gt;输入 owner/name（公开仓库）→ 输出：客观指标 + 决策史 + 证据接地报告 ｜ Input: owner/name of a public repo. Output: hard metrics, decision history, grounding report.&lt;/text&gt;&#10;        &lt;text x='0' y='126' fill='#4CB8A6' fontFamily='PingFang SC, sans-serif' fontSize='10.5'&gt;STAGE 01 不调用任何模型，STAGE 03 不出现在任何模型的输出里 —— 两者都由程序独立完成。 ｜ Neither stage 01 nor stage 03 involves any model.&lt;/text&gt;&#10;      &lt;/svg&gt;&#10;&#10;      &lt;Box style={{ flexDirection: 'row', gap: 16, height: 356, marginTop: 6 }}&gt;&#10;&#10;        &lt;Box style={{ flex: 1, padding: '15px 17px', background: '#1D242E', borderRadius: 10, border: '1px solid #232C38', flexDirection: 'column' }}&gt;&#10;          &lt;Text style={{ fontSize: 10.5, fontWeight: 'bold', color: '#4CB8A6', letterSpacing: 1.5 }}&gt;STAGE 01&lt;/Text&gt;&#10;          &lt;Text style={{ fontSize: 16, fontWeight: 'bold', color: '#EDF1F5', marginTop: 6 }}&gt;信噪分离&lt;/Text&gt;&#10;          &lt;Text style={{ fontSize: 10.5, color: '#8892A0', marginTop: 3 }}&gt;Signal / noise separation — pure computation&lt;/Text&gt;&#10;          &lt;Text style={{ fontSize: 12.5, lineHeight: 1.55, color: '#A8B2BE', marginTop: 9 }}&gt;先用机器规则把自动化提交（机器人、生成物）与人类决策分开，再逐文件解析改动。这一层不调用任何模型，输出全部是可验证的客观统计：信噪比、改动热度、原地打转、被放弃的尝试、提交信息卫生、沉寂期。报告的第一个数字是信噪比，而不是结论。&lt;/Text&gt;&#10;          &lt;Text style={{ fontSize: 10, lineHeight: 1.4, color: '#6B7684', marginTop: 4 }}&gt;Robotic and generated commits are separated before any analysis. No model is involved; every output is a verifiable statistic.&lt;/Text&gt;&#10;          &lt;Box style={{ marginTop: 'auto', paddingTop: 9, borderTop: '1px solid #2C3542' }}&gt;&#10;            &lt;Text style={{ fontSize: 10.5, lineHeight: 1.4, color: '#4CB8A6' }}&gt;实测：openclaw 62 次 API 调用 / 6.95 秒；topfo 25 次 / 4.3 秒&lt;/Text&gt;&#10;          &lt;/Box&gt;&#10;        &lt;/Box&gt;&#10;&#10;        &lt;Box style={{ flex: 1, padding: '15px 17px', background: '#1D242E', borderRadius: 10, border: '1px solid #232C38', flexDirection: 'column' }}&gt;&#10;          &lt;Text style={{ fontSize: 10.5, fontWeight: 'bold', color: '#E3A33E', letterSpacing: 1.5 }}&gt;STAGE 02&lt;/Text&gt;&#10;          &lt;Text style={{ fontSize: 16, fontWeight: 'bold', color: '#EDF1F5', marginTop: 6 }}&gt;多模型真分工&lt;/Text&gt;&#10;          &lt;Text style={{ fontSize: 10.5, color: '#8892A0', marginTop: 3 }}&gt;Three models from three vendors, working in sequence&lt;/Text&gt;&#10;          &lt;Text style={{ fontSize: 12.5, lineHeight: 1.55, color: '#A8B2BE', marginTop: 9 }}&gt;叙事者 gpt-4o 把提交序列还原成决策史；假设者推断「先进后出」的改动当年想做什么、为何被放弃；审稿人拿到客观指标后复核前两者，并给出裁决、给接手者的建议、以及该去问原作者的问题清单。三者来自三家不同供应商，是&lt;span style={{ color: '#E3A33E', fontWeight: 'bold' }}&gt;串行有依赖&lt;/span&gt;，不是并行投票。&lt;/Text&gt;&#10;          &lt;Text style={{ fontSize: 10, lineHeight: 1.4, color: '#6B7684', marginTop: 4 }}&gt;Narrator reconstructs the decision history; hypothesizer infers abandoned intent; appraiser reviews both and issues a verdict plus interview questions.&lt;/Text&gt;&#10;          &lt;Box style={{ marginTop: 'auto', paddingTop: 9, borderTop: '1px solid #2C3542' }}&gt;&#10;            &lt;Text style={{ fontSize: 10.5, lineHeight: 1.4, color: '#E3A33E' }}&gt;实测：3 个模型 · 多模型分工 · openclaw 全流程 13.19 秒 / topfo 38.35 秒&lt;/Text&gt;&#10;          &lt;/Box&gt;&#10;        &lt;/Box&gt;&#10;&#10;        &lt;Box style={{ flex: 1, padding: '15px 17px', background: '#1D242E', borderRadius: 10, border: '1px solid #232C38', flexDirection: 'column' }}&gt;&#10;          &lt;Text style={{ fontSize: 10.5, fontWeight: 'bold', color: '#4CB8A6', letterSpacing: 1.5 }}&gt;STAGE 03&lt;/Text&gt;&#10;          &lt;Text style={{ fontSize: 16, fontWeight: 'bold', color: '#EDF1F5', marginTop: 6 }}&gt;证据接地校验&lt;/Text&gt;&#10;          &lt;Text style={{ fontSize: 10.5, color: '#8892A0', marginTop: 3 }}&gt;Evidence grounding — set arithmetic, not model self-review&lt;/Text&gt;&#10;          &lt;Text style={{ fontSize: 12.5, lineHeight: 1.55, color: '#A8B2BE', marginTop: 9 }}&gt;常见做法是让另一个模型检查前一个有没有胡说 —— 但判官自己也会幻觉，而且无法查证。我们的做法：模型产出的每条结论必须引用具体的 commit SHA，而这些 SHA 是程序从 GitHub 真实拉回来的，于是「引用了一个不存在的提交」可以被&lt;span style={{ color: '#E3A33E', fontWeight: 'bold' }}&gt;一次集合运算&lt;/span&gt;直接判定：这是可证明的编造，不是主观判断。&lt;/Text&gt;&#10;          &lt;Text style={{ fontSize: 10, lineHeight: 1.4, color: '#6B7684', marginTop: 4 }}&gt;Every claim must cite a commit SHA pulled from GitHub. A cited-but-nonexistent commit is provable fabrication — decided by set arithmetic, never by a model.&lt;/Text&gt;&#10;          &lt;Box style={{ marginTop: 'auto', paddingTop: 9, borderTop: '1px solid #2C3542' }}&gt;&#10;            &lt;Text style={{ fontSize: 10.5, lineHeight: 1.4, color: '#4CB8A6' }}&gt;实测：两仓库共 10 条推断 · 编造 0 条 · 无效引用 0 条&lt;/Text&gt;&#10;          &lt;/Box&gt;&#10;        &lt;/Box&gt;&#10;      &lt;/Box&gt;&#10;    &lt;/Box&gt;&#10;&#10;  &lt;Box style={{ height: 32, justifyContent: 'center' }}&gt;&#10;    &lt;Text style={{ fontSize: 10, lineHeight: 1.4, color: '#6B7684', textAlign: 'right' }}&gt;本页为方案说明，不引用第三方数据；时序与调用次数为本次两仓库实测量。 / Method page: no third-party data cited; timings and call counts are measured on the two repositories tested.&lt;/Text&gt;&#10;  &lt;/Box&gt;&#10;  &lt;Box style={{ height: 36, marginTop: 6, paddingTop: 8, borderTop: '1px solid #232C38', flexDirection: 'row', alignItems: 'flex-start', justifyContent: 'space-between' }}&gt;&#10;    &lt;Text style={{ fontSize: 12, color: '#8892A0' }}&gt;代码考古学 / Code Archaeology · BAYTECH 2026 · AI 应用与工程赛道&lt;/Text&gt;&#10;    &lt;Text style={{ fontSize: 12, color: '#8892A0' }}&gt;04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141A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5181600" cy="447675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2400" b="1">
                <a:solidFill>
                  <a:srgbClr val="EDF1F5"/>
                </a:solidFill>
                <a:latin typeface="Source Han Serif SC"/>
                <a:ea typeface="Source Han Serif SC"/>
              </a:rPr>
              <a:t>先筛地层，再挖文物，最后自己查自己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71500" y="819150"/>
            <a:ext cx="518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spc="22">
                <a:solidFill>
                  <a:srgbClr val="8892A0"/>
                </a:solidFill>
                <a:latin typeface="PingFang SC"/>
                <a:ea typeface="PingFang SC"/>
              </a:rPr>
              <a:t>Sift the strata, excavate the artifacts, then audit ourselves</a:t>
            </a:r>
            <a:endParaRPr/>
          </a:p>
        </p:txBody>
      </p:sp>
      <p:pic>
        <p:nvPicPr>
          <p:cNvPr id="2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104900"/>
            <a:ext cx="11049000" cy="1257300"/>
          </a:xfrm>
          <a:prstGeom prst="rect">
            <a:avLst/>
          </a:prstGeom>
          <a:ln/>
        </p:spPr>
      </p:pic>
      <p:sp>
        <p:nvSpPr>
          <p:cNvPr id="291" name=""/>
          <p:cNvSpPr/>
          <p:nvPr/>
        </p:nvSpPr>
        <p:spPr>
          <a:xfrm rot="0" flipH="0" flipV="0">
            <a:off x="571500" y="2419350"/>
            <a:ext cx="3581400" cy="3390900"/>
          </a:xfrm>
          <a:prstGeom prst="roundRect">
            <a:avLst>
              <a:gd name="adj" fmla="val 2809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33425" y="2562225"/>
            <a:ext cx="3257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 spc="113">
                <a:solidFill>
                  <a:srgbClr val="4CB8A6"/>
                </a:solidFill>
                <a:latin typeface="PingFang SC"/>
                <a:ea typeface="PingFang SC"/>
              </a:rPr>
              <a:t>STAGE 01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33425" y="2743200"/>
            <a:ext cx="3257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DF1F5"/>
                </a:solidFill>
                <a:latin typeface="PingFang SC"/>
                <a:ea typeface="PingFang SC"/>
              </a:rPr>
              <a:t>信噪分离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733425" y="2962275"/>
            <a:ext cx="3257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Signal / noise separation — pure computation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33425" y="3171825"/>
            <a:ext cx="3257550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先用机器规则把自动化提交（机器人、生成物）与人类决策分开，再逐文件解析改动。这一层不调用任何模型，输出全部是可验证的客观统计：信噪比、改动热度、原地打转、被放弃的尝试、提交信息卫生、沉寂期。报告的第一个数字是信噪比，而不是结论。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733425" y="4324350"/>
            <a:ext cx="325755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Robotic and generated commits are separated before any analysis. No model is involved; every output is a verifiable statistic.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733425" y="5400675"/>
            <a:ext cx="3257550" cy="276225"/>
          </a:xfrm>
          <a:custGeom>
            <a:pathLst>
              <a:path w="342" h="29">
                <a:moveTo>
                  <a:pt x="0" y="0"/>
                </a:moveTo>
                <a:lnTo>
                  <a:pt x="342" y="0"/>
                </a:lnTo>
                <a:lnTo>
                  <a:pt x="342" y="1"/>
                </a:lnTo>
                <a:lnTo>
                  <a:pt x="0" y="1"/>
                </a:lnTo>
                <a:close/>
              </a:path>
            </a:pathLst>
          </a:custGeom>
          <a:solidFill>
            <a:srgbClr val="2C3542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733425" y="5495925"/>
            <a:ext cx="32575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实测：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openclaw 62 </a:t>
            </a: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次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 API </a:t>
            </a: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调用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 / 6.95 </a:t>
            </a: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秒；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topfo 25 </a:t>
            </a: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次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 / 4.3 </a:t>
            </a: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秒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4305300" y="2419350"/>
            <a:ext cx="3581400" cy="3390900"/>
          </a:xfrm>
          <a:prstGeom prst="roundRect">
            <a:avLst>
              <a:gd name="adj" fmla="val 2809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467225" y="2562225"/>
            <a:ext cx="3257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 spc="113">
                <a:solidFill>
                  <a:srgbClr val="E3A33E"/>
                </a:solidFill>
                <a:latin typeface="PingFang SC"/>
                <a:ea typeface="PingFang SC"/>
              </a:rPr>
              <a:t>STAGE 02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467225" y="2743200"/>
            <a:ext cx="3257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DF1F5"/>
                </a:solidFill>
                <a:latin typeface="PingFang SC"/>
                <a:ea typeface="PingFang SC"/>
              </a:rPr>
              <a:t>多模型真分工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467225" y="2962275"/>
            <a:ext cx="3257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Three models from three vendors, working in sequence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467225" y="3171825"/>
            <a:ext cx="3257550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叙事者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gpt-4o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把提交序列还原成决策史；假设者推断「先进后出」的改动当年想做什么、为何被放弃；审稿人拿到客观指标后复核前两者，并给出裁决、给接手者的建议、以及该去问原作者的问题清单。三者来自三家不同供应商，是</a:t>
            </a:r>
            <a:r>
              <a:rPr lang="zh-CN" sz="938" b="1">
                <a:solidFill>
                  <a:srgbClr val="E3A33E"/>
                </a:solidFill>
                <a:latin typeface="PingFang SC"/>
                <a:ea typeface="PingFang SC"/>
              </a:rPr>
              <a:t>串行有依赖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，不是并行投票。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467225" y="4324350"/>
            <a:ext cx="32575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Narrator reconstructs the decision history; hypothesizer infers abandoned intent; appraiser reviews both and issues a verdict plus interview questions.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4467225" y="5229225"/>
            <a:ext cx="3257550" cy="447675"/>
          </a:xfrm>
          <a:custGeom>
            <a:pathLst>
              <a:path w="342" h="47">
                <a:moveTo>
                  <a:pt x="0" y="0"/>
                </a:moveTo>
                <a:lnTo>
                  <a:pt x="342" y="0"/>
                </a:lnTo>
                <a:lnTo>
                  <a:pt x="342" y="1"/>
                </a:lnTo>
                <a:lnTo>
                  <a:pt x="0" y="1"/>
                </a:lnTo>
                <a:close/>
              </a:path>
            </a:pathLst>
          </a:custGeom>
          <a:solidFill>
            <a:srgbClr val="2C3542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467225" y="5324475"/>
            <a:ext cx="325755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88">
                <a:solidFill>
                  <a:srgbClr val="E3A33E"/>
                </a:solidFill>
                <a:latin typeface="PingFang SC"/>
                <a:ea typeface="PingFang SC"/>
              </a:rPr>
              <a:t>实测：</a:t>
            </a:r>
            <a:r>
              <a:rPr lang="en-US" sz="788">
                <a:solidFill>
                  <a:srgbClr val="E3A33E"/>
                </a:solidFill>
                <a:latin typeface="PingFang SC"/>
                <a:ea typeface="PingFang SC"/>
              </a:rPr>
              <a:t>3 </a:t>
            </a:r>
            <a:r>
              <a:rPr lang="zh-CN" sz="788">
                <a:solidFill>
                  <a:srgbClr val="E3A33E"/>
                </a:solidFill>
                <a:latin typeface="PingFang SC"/>
                <a:ea typeface="PingFang SC"/>
              </a:rPr>
              <a:t>个模型</a:t>
            </a:r>
            <a:r>
              <a:rPr lang="en-US" sz="788">
                <a:solidFill>
                  <a:srgbClr val="E3A33E"/>
                </a:solidFill>
                <a:latin typeface="PingFang SC"/>
                <a:ea typeface="PingFang SC"/>
              </a:rPr>
              <a:t> · </a:t>
            </a:r>
            <a:r>
              <a:rPr lang="zh-CN" sz="788">
                <a:solidFill>
                  <a:srgbClr val="E3A33E"/>
                </a:solidFill>
                <a:latin typeface="PingFang SC"/>
                <a:ea typeface="PingFang SC"/>
              </a:rPr>
              <a:t>多模型分工</a:t>
            </a:r>
            <a:r>
              <a:rPr lang="en-US" sz="788">
                <a:solidFill>
                  <a:srgbClr val="E3A33E"/>
                </a:solidFill>
                <a:latin typeface="PingFang SC"/>
                <a:ea typeface="PingFang SC"/>
              </a:rPr>
              <a:t> · openclaw </a:t>
            </a:r>
            <a:r>
              <a:rPr lang="zh-CN" sz="788">
                <a:solidFill>
                  <a:srgbClr val="E3A33E"/>
                </a:solidFill>
                <a:latin typeface="PingFang SC"/>
                <a:ea typeface="PingFang SC"/>
              </a:rPr>
              <a:t>全流程</a:t>
            </a:r>
            <a:r>
              <a:rPr lang="en-US" sz="788">
                <a:solidFill>
                  <a:srgbClr val="E3A33E"/>
                </a:solidFill>
                <a:latin typeface="PingFang SC"/>
                <a:ea typeface="PingFang SC"/>
              </a:rPr>
              <a:t> 13.19 </a:t>
            </a:r>
            <a:r>
              <a:rPr lang="zh-CN" sz="788">
                <a:solidFill>
                  <a:srgbClr val="E3A33E"/>
                </a:solidFill>
                <a:latin typeface="PingFang SC"/>
                <a:ea typeface="PingFang SC"/>
              </a:rPr>
              <a:t>秒</a:t>
            </a:r>
            <a:r>
              <a:rPr lang="en-US" sz="788">
                <a:solidFill>
                  <a:srgbClr val="E3A33E"/>
                </a:solidFill>
                <a:latin typeface="PingFang SC"/>
                <a:ea typeface="PingFang SC"/>
              </a:rPr>
              <a:t> / topfo 38.35 </a:t>
            </a:r>
            <a:r>
              <a:rPr lang="zh-CN" sz="788">
                <a:solidFill>
                  <a:srgbClr val="E3A33E"/>
                </a:solidFill>
                <a:latin typeface="PingFang SC"/>
                <a:ea typeface="PingFang SC"/>
              </a:rPr>
              <a:t>秒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8039100" y="2419350"/>
            <a:ext cx="3581400" cy="3390900"/>
          </a:xfrm>
          <a:prstGeom prst="roundRect">
            <a:avLst>
              <a:gd name="adj" fmla="val 2809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201025" y="2562225"/>
            <a:ext cx="3257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 spc="113">
                <a:solidFill>
                  <a:srgbClr val="4CB8A6"/>
                </a:solidFill>
                <a:latin typeface="PingFang SC"/>
                <a:ea typeface="PingFang SC"/>
              </a:rPr>
              <a:t>STAGE 03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201025" y="2743200"/>
            <a:ext cx="3257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DF1F5"/>
                </a:solidFill>
                <a:latin typeface="PingFang SC"/>
                <a:ea typeface="PingFang SC"/>
              </a:rPr>
              <a:t>证据接地校验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201025" y="2962275"/>
            <a:ext cx="3257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Evidence grounding — set arithmetic, not model self-review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201025" y="3171825"/>
            <a:ext cx="3257550" cy="1333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常见做法是让另一个模型检查前一个有没有胡说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——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但判官自己也会幻觉，而且无法查证。我们的做法：模型产出的每条结论必须引用具体的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commit SHA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，而这些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SHA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是程序从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GitHub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真实拉回来的，于是「引用了一个不存在的提交」可以被</a:t>
            </a:r>
            <a:r>
              <a:rPr lang="zh-CN" sz="938" b="1">
                <a:solidFill>
                  <a:srgbClr val="E3A33E"/>
                </a:solidFill>
                <a:latin typeface="PingFang SC"/>
                <a:ea typeface="PingFang SC"/>
              </a:rPr>
              <a:t>一次集合运算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直接判定：这是可证明的编造，不是主观判断。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8201025" y="4543425"/>
            <a:ext cx="32575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Every claim must cite a commit SHA pulled from GitHub. A cited-but-nonexistent commit is provable fabrication — decided by set arithmetic, never by a model.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8201025" y="5400675"/>
            <a:ext cx="3257550" cy="276225"/>
          </a:xfrm>
          <a:custGeom>
            <a:pathLst>
              <a:path w="342" h="29">
                <a:moveTo>
                  <a:pt x="0" y="0"/>
                </a:moveTo>
                <a:lnTo>
                  <a:pt x="342" y="0"/>
                </a:lnTo>
                <a:lnTo>
                  <a:pt x="342" y="1"/>
                </a:lnTo>
                <a:lnTo>
                  <a:pt x="0" y="1"/>
                </a:lnTo>
                <a:close/>
              </a:path>
            </a:pathLst>
          </a:custGeom>
          <a:solidFill>
            <a:srgbClr val="2C3542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201025" y="5495925"/>
            <a:ext cx="32575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实测：两仓库共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 10 </a:t>
            </a: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条推断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 · </a:t>
            </a: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编造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 0 </a:t>
            </a: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条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 · </a:t>
            </a: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无效引用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 0 </a:t>
            </a: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条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571500" y="5943600"/>
            <a:ext cx="11049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本页为方案说明，不引用第三方数据；时序与调用次数为本次两仓库实测量。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/ Method page: no third-party data cited; timings and call counts are measured on the two repositories tested.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571500" y="6229350"/>
            <a:ext cx="11049000" cy="342900"/>
          </a:xfrm>
          <a:custGeom>
            <a:pathLst>
              <a:path w="1160" h="36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571500" y="6315075"/>
            <a:ext cx="3743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代码考古学</a:t>
            </a: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 / Code Archaeology · BAYTECH 2026 · AI </a:t>
            </a: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应用与工程赛道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1229975" y="63150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319" name="" descr="&lt;Slide style={{ width: '1280px', height: '720px', padding: '20px 60px', background: '#10141A', fontFamily: &quot;'PingFang SC','Microsoft YaHei','Helvetica Neue',sans-serif&quot;, flexDirection: 'column' }}&gt;&#10;&#10;  &lt;Box style={{ height: 96, justifyContent: 'center' }}&gt;&#10;    &lt;Box style={{ flexDirection: 'row', alignItems: 'flex-end', justifyContent: 'space-between' }}&gt;&#10;      &lt;Box&gt;&#10;        &lt;Text style={{ fontSize: 32, fontWeight: 'bold', lineHeight: 1.22, color: '#EDF1F5', fontFamily: &quot;'Source Han Serif SC','Noto Serif SC','Songti SC',serif&quot; }}&gt;一次实现，三种形态&lt;/Text&gt;&#10;        &lt;Text style={{ fontSize: 14.5, color: '#8892A0', marginTop: 7, letterSpacing: 0.3 }}&gt;One engine, three forms&lt;/Text&gt;&#10;      &lt;/Box&gt;&#10;      &#10;    &lt;/Box&gt;&#10;  &lt;/Box&gt;&#10;    &lt;Box style={{ height: 500 }}&gt;&#10;      &lt;Box style={{ height: 62, padding: '10px 18px', background: '#1D242E', borderLeft: '3px solid #E3A33E', borderRadius: 10, justifyContent: 'center' }}&gt;&#10;        &#10;    &lt;Text style={{ fontSize: 13, lineHeight: 1.5, color: '#EDF1F5' }}&gt;引擎只有一套，可被三种方式调用。核心用途：量化代码库的&lt;span style={{ color: '#E3A33E', fontWeight: 'bold' }}&gt;知识可继承性&lt;/span&gt;，并指出风险集中在哪几个文件。&lt;/Text&gt;&#10;    &lt;Text style={{ fontSize: 10.5, lineHeight: 1.45, color: '#8892A0', marginTop: 5 }}&gt;One engine, three entry points — quantifying knowledge inheritability and naming the riskiest files.&lt;/Text&gt;&#10;      &lt;/Box&gt;&#10;&#10;      &lt;Box style={{ flexDirection: 'row', gap: 16, height: 270, marginTop: 14 }}&gt;&#10;&#10;        &lt;Box style={{ flex: 1, padding: '15px 17px', background: '#1D242E', borderRadius: 10, border: '1px solid #232C38', flexDirection: 'column' }}&gt;&#10;          &lt;Text style={{ fontSize: 9.5, fontWeight: 'bold', color: '#4CB8A6', letterSpacing: 1.2 }}&gt;WEB · 同源前端&lt;/Text&gt;&#10;          &lt;Text style={{ fontSize: 16, fontWeight: 'bold', color: '#EDF1F5', marginTop: 6 }}&gt;网页端&lt;/Text&gt;&#10;          &lt;Text style={{ fontSize: 10.5, color: '#8892A0', marginTop: 3 }}&gt;Zero-build front-end, same origin as the API&lt;/Text&gt;&#10;          &lt;Text style={{ fontSize: 12.5, lineHeight: 1.55, color: '#A8B2BE', marginTop: 9 }}&gt;原生 JS + CSS，无构建、无框架、无跨域。输入 owner/name 即可看到信噪比、风险因子拆解、提交时间轴、文件热度、被放弃的尝试清单与原地打转分析。左上角实时显示模型层状态与所用模型数量。&lt;/Text&gt;&#10;          &lt;Text style={{ fontSize: 10, lineHeight: 1.4, color: '#6B7684', marginTop: 4 }}&gt;Vanilla JS, no build step, no cross-origin. Paste an owner/name and read the whole report.&lt;/Text&gt;&#10;          &lt;Box style={{ marginTop: 'auto', paddingTop: 9, borderTop: '1px solid #2C3542' }}&gt;&#10;            &lt;Text style={{ fontSize: 10.5, lineHeight: 1.4, color: '#4CB8A6' }}&gt;线上地址 https://code-archaeology.odycai.workers.dev（Worker 版本 ad70fdf1）&lt;/Text&gt;&#10;          &lt;/Box&gt;&#10;        &lt;/Box&gt;&#10;&#10;        &lt;Box style={{ flex: 1, padding: '15px 17px', background: '#1D242E', borderRadius: 10, border: '1px solid #232C38', flexDirection: 'column' }}&gt;&#10;          &lt;Text style={{ fontSize: 9.5, fontWeight: 'bold', color: '#E3A33E', letterSpacing: 1.2 }}&gt;CLI · 可接 CI&lt;/Text&gt;&#10;          &lt;Text style={{ fontSize: 16, fontWeight: 'bold', color: '#EDF1F5', marginTop: 6 }}&gt;命令行&lt;/Text&gt;&#10;          &lt;Text style={{ fontSize: 10.5, color: '#8892A0', marginTop: 3 }}&gt;A CLI that can gate a pull request&lt;/Text&gt;&#10;          &lt;Text style={{ fontSize: 12.5, lineHeight: 1.55, color: '#A8B2BE', marginTop: 9 }}&gt;同一条流水线可在终端运行，并支持 --fail-on-risk 指定阈值：风险分超过阈值时以&lt;span style={{ color: '#E3A33E', fontWeight: 'bold' }}&gt;退出码 2&lt;/span&gt; 结束，可直接用于卡住合并请求。这让它从一次性报告变成流水线里的一道闸门。&lt;/Text&gt;&#10;          &lt;Text style={{ fontSize: 10, lineHeight: 1.4, color: '#6B7684', marginTop: 4 }}&gt;Runs the same pipeline in a terminal; exits with code 2 when the risk score exceeds a threshold.&lt;/Text&gt;&#10;          &lt;Box style={{ marginTop: 'auto', paddingTop: 9, borderTop: '1px solid #2C3542' }}&gt;&#10;            &lt;Text style={{ fontSize: 10.5, lineHeight: 1.4, color: '#E3A33E' }}&gt;实测 181 个单元测试 181/181 通过、0 失败&lt;/Text&gt;&#10;          &lt;/Box&gt;&#10;        &lt;/Box&gt;&#10;&#10;        &lt;Box style={{ flex: 1, padding: '15px 17px', background: '#1D242E', borderRadius: 10, border: '1px solid #232C38', flexDirection: 'column' }}&gt;&#10;          &lt;Text style={{ fontSize: 9.5, fontWeight: 'bold', color: '#4CB8A6', letterSpacing: 1.2 }}&gt;API · 8 端点&lt;/Text&gt;&#10;          &lt;Text style={{ fontSize: 16, fontWeight: 'bold', color: '#EDF1F5', marginTop: 6 }}&gt;HTTP 接口&lt;/Text&gt;&#10;          &lt;Text style={{ fontSize: 10.5, color: '#8892A0', marginTop: 3 }}&gt;Eight endpoints, four of them reusable alone&lt;/Text&gt;&#10;          &lt;Text style={{ fontSize: 12.5, lineHeight: 1.55, color: '#A8B2BE', marginTop: 9 }}&gt;健康检查、能力清单、纯计算挖掘、完整考古，以及可单独复用的叙事 / 假设 / 评估 / 安全重构四层。调用方无需外部文档即可发现接口。&lt;/Text&gt;&#10;          &lt;Text style={{ fontSize: 10, lineHeight: 1.4, color: '#6B7684', marginTop: 4 }}&gt;Health, capabilities, mining, full excavation, plus narrative / hypothesis / appraisal / refactor layers usable on their own.&lt;/Text&gt;&#10;          &lt;Box style={{ marginTop: 'auto', paddingTop: 9, borderTop: '1px solid #2C3542' }}&gt;&#10;            &lt;Text style={{ fontSize: 10.5, lineHeight: 1.4, color: '#4CB8A6' }}&gt;能力清单端点返回 8 个可用接口&lt;/Text&gt;&#10;          &lt;/Box&gt;&#10;        &lt;/Box&gt;&#10;      &lt;/Box&gt;&#10;&#10;      &lt;Box style={{ flexDirection: 'row', gap: 16, height: 130, marginTop: 14 }}&gt;&#10;        &lt;Box style={{ flex: 1.35, padding: '14px 18px', background: '#1D242E', borderRadius: 10, border: '1px solid #232C38' }}&gt;&#10;          &lt;Text style={{ fontSize: 12, fontWeight: 'bold', color: '#EDF1F5' }}&gt;自有代码构成 / Own source code&lt;/Text&gt;&#10;          &lt;Text style={{ fontSize: 10, color: '#8892A0', marginTop: 3 }}&gt;共 9,395 行 / 51 个文件（零依赖框架）&lt;/Text&gt;&#10;          &lt;Box style={{ flexDirection: 'row', gap: 10, marginTop: 12 }}&gt;&#10;            &#10;            &lt;Box style={{ flex: 1 }}&gt;&#10;              &lt;Text style={{ fontSize: 15, fontWeight: 'bold', color: '#4CB8A6' }}&gt;2,737&lt;/Text&gt;&#10;              &lt;Text style={{ fontSize: 10, color: '#EDF1F5', marginTop: 2 }}&gt;src&lt;/Text&gt;&#10;              &lt;Text style={{ fontSize: 9.5, color: '#8892A0' }}&gt;26 files&lt;/Text&gt;&#10;            &lt;/Box&gt;&#10;            &lt;Box style={{ flex: 1 }}&gt;&#10;              &lt;Text style={{ fontSize: 15, fontWeight: 'bold', color: '#E3A33E' }}&gt;2,459&lt;/Text&gt;&#10;              &lt;Text style={{ fontSize: 10, color: '#EDF1F5', marginTop: 2 }}&gt;public&lt;/Text&gt;&#10;              &lt;Text style={{ fontSize: 9.5, color: '#8892A0' }}&gt;5 files&lt;/Text&gt;&#10;            &lt;/Box&gt;&#10;            &lt;Box style={{ flex: 1 }}&gt;&#10;              &lt;Text style={{ fontSize: 15, fontWeight: 'bold', color: '#4CB8A6' }}&gt;2,820&lt;/Text&gt;&#10;              &lt;Text style={{ fontSize: 10, color: '#EDF1F5', marginTop: 2 }}&gt;tests&lt;/Text&gt;&#10;              &lt;Text style={{ fontSize: 9.5, color: '#8892A0' }}&gt;13 files&lt;/Text&gt;&#10;            &lt;/Box&gt;&#10;            &lt;Box style={{ flex: 1 }}&gt;&#10;              &lt;Text style={{ fontSize: 15, fontWeight: 'bold', color: '#8892A0' }}&gt;709&lt;/Text&gt;&#10;              &lt;Text style={{ fontSize: 10, color: '#EDF1F5', marginTop: 2 }}&gt;bin&lt;/Text&gt;&#10;              &lt;Text style={{ fontSize: 9.5, color: '#8892A0' }}&gt;2 files&lt;/Text&gt;&#10;            &lt;/Box&gt;&#10;            &lt;Box style={{ flex: 1 }}&gt;&#10;              &lt;Text style={{ fontSize: 15, fontWeight: 'bold', color: '#8892A0' }}&gt;670&lt;/Text&gt;&#10;              &lt;Text style={{ fontSize: 10, color: '#EDF1F5', marginTop: 2 }}&gt;scripts&lt;/Text&gt;&#10;              &lt;Text style={{ fontSize: 9.5, color: '#8892A0' }}&gt;5 files&lt;/Text&gt;&#10;            &lt;/Box&gt;&#10;          &lt;/Box&gt;&#10;        &lt;/Box&gt;&#10;        &lt;Box style={{ flex: 1, padding: '14px 18px', background: '#1D242E', borderRadius: 10, border: '1px solid #232C38' }}&gt;&#10;          &lt;Text style={{ fontSize: 12, fontWeight: 'bold', color: '#EDF1F5' }}&gt;技术栈与部署 / Stack &amp; deployment&lt;/Text&gt;&#10;          &lt;Text style={{ fontSize: 11, lineHeight: 1.6, color: '#A8B2BE', marginTop: 8 }}&gt;&#10;            Node.js ESM · Cloudflare Workers + Assets 绑定（前端与 API 同源）· 零构建原生前端&#10;          &lt;/Text&gt;&#10;          &lt;Text style={{ fontSize: 10, lineHeight: 1.5, color: '#8892A0', marginTop: 5 }}&gt;&#10;            同一套路由层也能跑在本地 Node HTTP 容器里 —— 云端不可用时行为一致，不是备份方案而是容错设计。&#10;          &lt;/Text&gt;&#10;        &lt;/Box&gt;&#10;      &lt;/Box&gt;&#10;    &lt;/Box&gt;&#10;&#10;  &lt;Box style={{ height: 32, justifyContent: 'center' }}&gt;&#10;    &lt;Text style={{ fontSize: 10, lineHeight: 1.4, color: '#6B7684', textAlign: 'right' }}&gt;本页代码规模与测试数来自本机实测（2026-09-20T02:28:13Z）；部署版本来自 Cloudflare Workers deployments list。&lt;/Text&gt;&#10;  &lt;/Box&gt;&#10;  &lt;Box style={{ height: 36, marginTop: 6, paddingTop: 8, borderTop: '1px solid #232C38', flexDirection: 'row', alignItems: 'flex-start', justifyContent: 'space-between' }}&gt;&#10;    &lt;Text style={{ fontSize: 12, color: '#8892A0' }}&gt;代码考古学 / Code Archaeology · BAYTECH 2026 · AI 应用与工程赛道&lt;/Text&gt;&#10;    &lt;Text style={{ fontSize: 12, color: '#8892A0' }}&gt;05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141A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2743200" cy="447675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2400" b="1">
                <a:solidFill>
                  <a:srgbClr val="EDF1F5"/>
                </a:solidFill>
                <a:latin typeface="Source Han Serif SC"/>
                <a:ea typeface="Source Han Serif SC"/>
              </a:rPr>
              <a:t>一次实现，三种形态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71500" y="819150"/>
            <a:ext cx="274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spc="22">
                <a:solidFill>
                  <a:srgbClr val="8892A0"/>
                </a:solidFill>
                <a:latin typeface="PingFang SC"/>
                <a:ea typeface="PingFang SC"/>
              </a:rPr>
              <a:t>One engine, three forms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00075" y="1104900"/>
            <a:ext cx="11049000" cy="590550"/>
          </a:xfrm>
          <a:prstGeom prst="roundRect">
            <a:avLst>
              <a:gd name="adj" fmla="val 16129"/>
            </a:avLst>
          </a:prstGeom>
          <a:solidFill>
            <a:srgbClr val="1D242E"/>
          </a:solidFill>
          <a:ln/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600075" y="1104900"/>
            <a:ext cx="11049000" cy="590550"/>
          </a:xfrm>
          <a:custGeom>
            <a:pathLst>
              <a:path w="1160" h="62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55"/>
                </a:lnTo>
                <a:cubicBezTo>
                  <a:pt x="3" y="58"/>
                  <a:pt x="5" y="61"/>
                  <a:pt x="8" y="62"/>
                </a:cubicBezTo>
                <a:cubicBezTo>
                  <a:pt x="3" y="61"/>
                  <a:pt x="0" y="57"/>
                  <a:pt x="0" y="5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E3A33E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71525" y="1171575"/>
            <a:ext cx="106775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EDF1F5"/>
                </a:solidFill>
                <a:latin typeface="PingFang SC"/>
                <a:ea typeface="PingFang SC"/>
              </a:rPr>
              <a:t>引擎只有一套，可被三种方式调用。核心用途：量化代码库的</a:t>
            </a:r>
            <a:r>
              <a:rPr lang="zh-CN" sz="975" b="1">
                <a:solidFill>
                  <a:srgbClr val="E3A33E"/>
                </a:solidFill>
                <a:latin typeface="PingFang SC"/>
                <a:ea typeface="PingFang SC"/>
              </a:rPr>
              <a:t>知识可继承性</a:t>
            </a:r>
            <a:r>
              <a:rPr lang="zh-CN" sz="975">
                <a:solidFill>
                  <a:srgbClr val="EDF1F5"/>
                </a:solidFill>
                <a:latin typeface="PingFang SC"/>
                <a:ea typeface="PingFang SC"/>
              </a:rPr>
              <a:t>，并指出风险集中在哪几个文件。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771525" y="1447800"/>
            <a:ext cx="1067752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One engine, three entry points — quantifying knowledge inheritability and naming the riskiest files.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571500" y="1828800"/>
            <a:ext cx="3581400" cy="2571750"/>
          </a:xfrm>
          <a:prstGeom prst="roundRect">
            <a:avLst>
              <a:gd name="adj" fmla="val 3704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733425" y="1971675"/>
            <a:ext cx="32575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b="1" spc="90">
                <a:solidFill>
                  <a:srgbClr val="4CB8A6"/>
                </a:solidFill>
                <a:latin typeface="PingFang SC"/>
                <a:ea typeface="PingFang SC"/>
              </a:rPr>
              <a:t>WEB · </a:t>
            </a:r>
            <a:r>
              <a:rPr lang="zh-CN" sz="713" b="1" spc="90">
                <a:solidFill>
                  <a:srgbClr val="4CB8A6"/>
                </a:solidFill>
                <a:latin typeface="PingFang SC"/>
                <a:ea typeface="PingFang SC"/>
              </a:rPr>
              <a:t>同源前端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33425" y="2143125"/>
            <a:ext cx="3257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DF1F5"/>
                </a:solidFill>
                <a:latin typeface="PingFang SC"/>
                <a:ea typeface="PingFang SC"/>
              </a:rPr>
              <a:t>网页端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733425" y="2362200"/>
            <a:ext cx="3257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Zero-build front-end, same origin as the API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733425" y="2571750"/>
            <a:ext cx="32575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原生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JS + CSS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，无构建、无框架、无跨域。输入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owner/name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即可看到信噪比、风险因子拆解、提交时间轴、文件热度、被放弃的尝试清单与原地打转分析。左上角实时显示模型层状态与所用模型数量。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33425" y="3495675"/>
            <a:ext cx="325755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Vanilla JS, no build step, no cross-origin. Paste an owner/name and read the whole report.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733425" y="3819525"/>
            <a:ext cx="3257550" cy="447675"/>
          </a:xfrm>
          <a:custGeom>
            <a:pathLst>
              <a:path w="342" h="47">
                <a:moveTo>
                  <a:pt x="0" y="0"/>
                </a:moveTo>
                <a:lnTo>
                  <a:pt x="342" y="0"/>
                </a:lnTo>
                <a:lnTo>
                  <a:pt x="342" y="1"/>
                </a:lnTo>
                <a:lnTo>
                  <a:pt x="0" y="1"/>
                </a:lnTo>
                <a:close/>
              </a:path>
            </a:pathLst>
          </a:custGeom>
          <a:solidFill>
            <a:srgbClr val="2C3542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733425" y="3914775"/>
            <a:ext cx="325755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线上地址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 https://code-archaeology.odycai.workers.dev</a:t>
            </a: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（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Worker </a:t>
            </a: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版本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 ad70fdf1</a:t>
            </a: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4305300" y="1828800"/>
            <a:ext cx="3581400" cy="2571750"/>
          </a:xfrm>
          <a:prstGeom prst="roundRect">
            <a:avLst>
              <a:gd name="adj" fmla="val 3704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467225" y="1971675"/>
            <a:ext cx="32575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b="1" spc="90">
                <a:solidFill>
                  <a:srgbClr val="E3A33E"/>
                </a:solidFill>
                <a:latin typeface="PingFang SC"/>
                <a:ea typeface="PingFang SC"/>
              </a:rPr>
              <a:t>CLI · </a:t>
            </a:r>
            <a:r>
              <a:rPr lang="zh-CN" sz="713" b="1" spc="90">
                <a:solidFill>
                  <a:srgbClr val="E3A33E"/>
                </a:solidFill>
                <a:latin typeface="PingFang SC"/>
                <a:ea typeface="PingFang SC"/>
              </a:rPr>
              <a:t>可接</a:t>
            </a:r>
            <a:r>
              <a:rPr lang="en-US" sz="713" b="1" spc="90">
                <a:solidFill>
                  <a:srgbClr val="E3A33E"/>
                </a:solidFill>
                <a:latin typeface="PingFang SC"/>
                <a:ea typeface="PingFang SC"/>
              </a:rPr>
              <a:t> CI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467225" y="2143125"/>
            <a:ext cx="3257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DF1F5"/>
                </a:solidFill>
                <a:latin typeface="PingFang SC"/>
                <a:ea typeface="PingFang SC"/>
              </a:rPr>
              <a:t>命令行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467225" y="2362200"/>
            <a:ext cx="3257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A CLI that can gate a pull request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467225" y="2571750"/>
            <a:ext cx="32575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同一条流水线可在终端运行，并支持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--fail-on-risk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指定阈值：风险分超过阈值时以</a:t>
            </a:r>
            <a:r>
              <a:rPr lang="zh-CN" sz="938" b="1">
                <a:solidFill>
                  <a:srgbClr val="E3A33E"/>
                </a:solidFill>
                <a:latin typeface="PingFang SC"/>
                <a:ea typeface="PingFang SC"/>
              </a:rPr>
              <a:t>退出码</a:t>
            </a:r>
            <a:r>
              <a:rPr lang="en-US" sz="938" b="1">
                <a:solidFill>
                  <a:srgbClr val="E3A33E"/>
                </a:solidFill>
                <a:latin typeface="PingFang SC"/>
                <a:ea typeface="PingFang SC"/>
              </a:rPr>
              <a:t> 2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结束，可直接用于卡住合并请求。这让它从一次性报告变成流水线里的一道闸门。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467225" y="3276600"/>
            <a:ext cx="325755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Runs the same pipeline in a terminal; exits with code 2 when the risk score exceeds a threshold.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4467225" y="3990975"/>
            <a:ext cx="3257550" cy="276225"/>
          </a:xfrm>
          <a:custGeom>
            <a:pathLst>
              <a:path w="342" h="29">
                <a:moveTo>
                  <a:pt x="0" y="0"/>
                </a:moveTo>
                <a:lnTo>
                  <a:pt x="342" y="0"/>
                </a:lnTo>
                <a:lnTo>
                  <a:pt x="342" y="1"/>
                </a:lnTo>
                <a:lnTo>
                  <a:pt x="0" y="1"/>
                </a:lnTo>
                <a:close/>
              </a:path>
            </a:pathLst>
          </a:custGeom>
          <a:solidFill>
            <a:srgbClr val="2C3542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467225" y="4086225"/>
            <a:ext cx="32575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E3A33E"/>
                </a:solidFill>
                <a:latin typeface="PingFang SC"/>
                <a:ea typeface="PingFang SC"/>
              </a:rPr>
              <a:t>实测</a:t>
            </a:r>
            <a:r>
              <a:rPr lang="en-US" sz="788">
                <a:solidFill>
                  <a:srgbClr val="E3A33E"/>
                </a:solidFill>
                <a:latin typeface="PingFang SC"/>
                <a:ea typeface="PingFang SC"/>
              </a:rPr>
              <a:t> 181 </a:t>
            </a:r>
            <a:r>
              <a:rPr lang="zh-CN" sz="788">
                <a:solidFill>
                  <a:srgbClr val="E3A33E"/>
                </a:solidFill>
                <a:latin typeface="PingFang SC"/>
                <a:ea typeface="PingFang SC"/>
              </a:rPr>
              <a:t>个单元测试</a:t>
            </a:r>
            <a:r>
              <a:rPr lang="en-US" sz="788">
                <a:solidFill>
                  <a:srgbClr val="E3A33E"/>
                </a:solidFill>
                <a:latin typeface="PingFang SC"/>
                <a:ea typeface="PingFang SC"/>
              </a:rPr>
              <a:t> 181/181 </a:t>
            </a:r>
            <a:r>
              <a:rPr lang="zh-CN" sz="788">
                <a:solidFill>
                  <a:srgbClr val="E3A33E"/>
                </a:solidFill>
                <a:latin typeface="PingFang SC"/>
                <a:ea typeface="PingFang SC"/>
              </a:rPr>
              <a:t>通过、</a:t>
            </a:r>
            <a:r>
              <a:rPr lang="en-US" sz="788">
                <a:solidFill>
                  <a:srgbClr val="E3A33E"/>
                </a:solidFill>
                <a:latin typeface="PingFang SC"/>
                <a:ea typeface="PingFang SC"/>
              </a:rPr>
              <a:t>0 </a:t>
            </a:r>
            <a:r>
              <a:rPr lang="zh-CN" sz="788">
                <a:solidFill>
                  <a:srgbClr val="E3A33E"/>
                </a:solidFill>
                <a:latin typeface="PingFang SC"/>
                <a:ea typeface="PingFang SC"/>
              </a:rPr>
              <a:t>失败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8039100" y="1828800"/>
            <a:ext cx="3581400" cy="2571750"/>
          </a:xfrm>
          <a:prstGeom prst="roundRect">
            <a:avLst>
              <a:gd name="adj" fmla="val 3704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201025" y="1971675"/>
            <a:ext cx="32575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b="1" spc="90">
                <a:solidFill>
                  <a:srgbClr val="4CB8A6"/>
                </a:solidFill>
                <a:latin typeface="PingFang SC"/>
                <a:ea typeface="PingFang SC"/>
              </a:rPr>
              <a:t>API · 8 </a:t>
            </a:r>
            <a:r>
              <a:rPr lang="zh-CN" sz="713" b="1" spc="90">
                <a:solidFill>
                  <a:srgbClr val="4CB8A6"/>
                </a:solidFill>
                <a:latin typeface="PingFang SC"/>
                <a:ea typeface="PingFang SC"/>
              </a:rPr>
              <a:t>端点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8201025" y="2143125"/>
            <a:ext cx="3257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DF1F5"/>
                </a:solidFill>
                <a:latin typeface="PingFang SC"/>
                <a:ea typeface="PingFang SC"/>
              </a:rPr>
              <a:t>HTTP </a:t>
            </a:r>
            <a:r>
              <a:rPr lang="zh-CN" sz="1200" b="1">
                <a:solidFill>
                  <a:srgbClr val="EDF1F5"/>
                </a:solidFill>
                <a:latin typeface="PingFang SC"/>
                <a:ea typeface="PingFang SC"/>
              </a:rPr>
              <a:t>接口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201025" y="2362200"/>
            <a:ext cx="3257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Eight endpoints, four of them reusable alone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201025" y="2571750"/>
            <a:ext cx="32575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健康检查、能力清单、纯计算挖掘、完整考古，以及可单独复用的叙事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/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假设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/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评估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/ 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安全重构四层。调用方无需外部文档即可发现接口。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8201025" y="3276600"/>
            <a:ext cx="325755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Health, capabilities, mining, full excavation, plus narrative / hypothesis / appraisal / refactor layers usable on their own.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8201025" y="3990975"/>
            <a:ext cx="3257550" cy="276225"/>
          </a:xfrm>
          <a:custGeom>
            <a:pathLst>
              <a:path w="342" h="29">
                <a:moveTo>
                  <a:pt x="0" y="0"/>
                </a:moveTo>
                <a:lnTo>
                  <a:pt x="342" y="0"/>
                </a:lnTo>
                <a:lnTo>
                  <a:pt x="342" y="1"/>
                </a:lnTo>
                <a:lnTo>
                  <a:pt x="0" y="1"/>
                </a:lnTo>
                <a:close/>
              </a:path>
            </a:pathLst>
          </a:custGeom>
          <a:solidFill>
            <a:srgbClr val="2C3542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8201025" y="4086225"/>
            <a:ext cx="32575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能力清单端点返回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 8 </a:t>
            </a: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个可用接口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571500" y="4533900"/>
            <a:ext cx="6257925" cy="1238250"/>
          </a:xfrm>
          <a:prstGeom prst="roundRect">
            <a:avLst>
              <a:gd name="adj" fmla="val 7692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742950" y="4667250"/>
            <a:ext cx="5915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DF1F5"/>
                </a:solidFill>
                <a:latin typeface="PingFang SC"/>
                <a:ea typeface="PingFang SC"/>
              </a:rPr>
              <a:t>自有代码构成</a:t>
            </a:r>
            <a:r>
              <a:rPr lang="en-US" sz="900" b="1">
                <a:solidFill>
                  <a:srgbClr val="EDF1F5"/>
                </a:solidFill>
                <a:latin typeface="PingFang SC"/>
                <a:ea typeface="PingFang SC"/>
              </a:rPr>
              <a:t> / Own source code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742950" y="4838700"/>
            <a:ext cx="59150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共</a:t>
            </a: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 9,395 </a:t>
            </a: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行</a:t>
            </a: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 / 51 </a:t>
            </a: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个文件（零依赖框架）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742950" y="506730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CB8A6"/>
                </a:solidFill>
                <a:latin typeface="PingFang SC"/>
                <a:ea typeface="PingFang SC"/>
              </a:rPr>
              <a:t>2,737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742950" y="5257800"/>
            <a:ext cx="1104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DF1F5"/>
                </a:solidFill>
                <a:latin typeface="PingFang SC"/>
                <a:ea typeface="PingFang SC"/>
              </a:rPr>
              <a:t>src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742950" y="5372100"/>
            <a:ext cx="1104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26 files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943100" y="506730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3A33E"/>
                </a:solidFill>
                <a:latin typeface="PingFang SC"/>
                <a:ea typeface="PingFang SC"/>
              </a:rPr>
              <a:t>2,459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943100" y="5257800"/>
            <a:ext cx="1104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DF1F5"/>
                </a:solidFill>
                <a:latin typeface="PingFang SC"/>
                <a:ea typeface="PingFang SC"/>
              </a:rPr>
              <a:t>public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1943100" y="5372100"/>
            <a:ext cx="1104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5 files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3143250" y="5067300"/>
            <a:ext cx="1114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CB8A6"/>
                </a:solidFill>
                <a:latin typeface="PingFang SC"/>
                <a:ea typeface="PingFang SC"/>
              </a:rPr>
              <a:t>2,820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3143250" y="5257800"/>
            <a:ext cx="11144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DF1F5"/>
                </a:solidFill>
                <a:latin typeface="PingFang SC"/>
                <a:ea typeface="PingFang SC"/>
              </a:rPr>
              <a:t>tests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3143250" y="5372100"/>
            <a:ext cx="11144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13 files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4352925" y="506730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892A0"/>
                </a:solidFill>
                <a:latin typeface="PingFang SC"/>
                <a:ea typeface="PingFang SC"/>
              </a:rPr>
              <a:t>709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352925" y="5257800"/>
            <a:ext cx="1104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DF1F5"/>
                </a:solidFill>
                <a:latin typeface="PingFang SC"/>
                <a:ea typeface="PingFang SC"/>
              </a:rPr>
              <a:t>bin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352925" y="5372100"/>
            <a:ext cx="1104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2 files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553075" y="506730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892A0"/>
                </a:solidFill>
                <a:latin typeface="PingFang SC"/>
                <a:ea typeface="PingFang SC"/>
              </a:rPr>
              <a:t>670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553075" y="5257800"/>
            <a:ext cx="1104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DF1F5"/>
                </a:solidFill>
                <a:latin typeface="PingFang SC"/>
                <a:ea typeface="PingFang SC"/>
              </a:rPr>
              <a:t>scripts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5553075" y="5372100"/>
            <a:ext cx="1104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5 files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6981825" y="4533900"/>
            <a:ext cx="4638675" cy="1238250"/>
          </a:xfrm>
          <a:prstGeom prst="roundRect">
            <a:avLst>
              <a:gd name="adj" fmla="val 7692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7153275" y="4667250"/>
            <a:ext cx="4295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DF1F5"/>
                </a:solidFill>
                <a:latin typeface="PingFang SC"/>
                <a:ea typeface="PingFang SC"/>
              </a:rPr>
              <a:t>技术栈与部署</a:t>
            </a:r>
            <a:r>
              <a:rPr lang="en-US" sz="900" b="1">
                <a:solidFill>
                  <a:srgbClr val="EDF1F5"/>
                </a:solidFill>
                <a:latin typeface="PingFang SC"/>
                <a:ea typeface="PingFang SC"/>
              </a:rPr>
              <a:t> / Stack &amp; deployment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7153275" y="4886325"/>
            <a:ext cx="4295775" cy="209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Node.js ESM · Cloudflare Workers + Assets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绑定（前端与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API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同源）·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零构建原生前端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7153275" y="5143500"/>
            <a:ext cx="429577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同一套路由层也能跑在本地</a:t>
            </a: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 Node HTTP </a:t>
            </a: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容器里</a:t>
            </a: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 —— </a:t>
            </a: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云端不可用时行为一致，不是备份方案而是容错设计。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571500" y="5943600"/>
            <a:ext cx="11049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本页代码规模与测试数来自本机实测（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2026-09-20T02:28:13Z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）；部署版本来自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Cloudflare Workers deployments list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571500" y="6229350"/>
            <a:ext cx="11049000" cy="342900"/>
          </a:xfrm>
          <a:custGeom>
            <a:pathLst>
              <a:path w="1160" h="36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571500" y="6315075"/>
            <a:ext cx="3743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代码考古学</a:t>
            </a: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 / Code Archaeology · BAYTECH 2026 · AI </a:t>
            </a: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应用与工程赛道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1229975" y="63150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377" name="" descr="&lt;Slide style={{ width: '1280px', height: '720px', padding: '20px 60px', background: '#10141A', fontFamily: &quot;'PingFang SC','Microsoft YaHei','Helvetica Neue',sans-serif&quot;, flexDirection: 'column' }}&gt;&#10;&#10;  &lt;Box style={{ height: 96, justifyContent: 'center' }}&gt;&#10;    &lt;Box style={{ flexDirection: 'row', alignItems: 'flex-end', justifyContent: 'space-between' }}&gt;&#10;      &lt;Box&gt;&#10;        &lt;Text style={{ fontSize: 32, fontWeight: 'bold', lineHeight: 1.22, color: '#EDF1F5', fontFamily: &quot;'Source Han Serif SC','Noto Serif SC','Songti SC',serif&quot; }}&gt;价值：三个真实场景，一台可追踪的仪表&lt;/Text&gt;&#10;        &lt;Text style={{ fontSize: 14.5, color: '#8892A0', marginTop: 7, letterSpacing: 0.3 }}&gt;Value: three real scenarios — and an instrument, not a one-off report&lt;/Text&gt;&#10;      &lt;/Box&gt;&#10;      &#10;    &lt;/Box&gt;&#10;  &lt;/Box&gt;&#10;    &lt;Box style={{ height: 500 }}&gt;&#10;      &lt;Box style={{ flexDirection: 'row', gap: 16, height: 302 }}&gt;&#10;&#10;        &lt;Box style={{ flex: 1, padding: '14px 16px', background: '#1D242E', borderRadius: 10, border: '1px solid #232C38', flexDirection: 'column' }}&gt;&#10;          &lt;Text style={{ fontSize: 10, fontWeight: 'bold', color: '#4CB8A6', letterSpacing: 1.2 }}&gt;场景 01 · 技术尽调&lt;/Text&gt;&#10;          &lt;Text style={{ fontSize: 15.5, fontWeight: 'bold', color: '#EDF1F5', marginTop: 6 }}&gt;并购与投资前的代码尽调&lt;/Text&gt;&#10;          &lt;Text style={{ fontSize: 10.5, color: '#8892A0', marginTop: 3 }}&gt;Technical due diligence&lt;/Text&gt;&#10;          &lt;Text style={{ fontSize: 12.5, lineHeight: 1.55, color: '#A8B2BE', marginTop: 9 }}&gt;公开仓库可直接输入 owner/name，几秒内拿到风险分、五类风险因子拆解、文件热度与被放弃的尝试清单。不需要读完代码，就能定位「哪里已经没人能解释为什么」，并把问题交回给人。&lt;/Text&gt;&#10;          &lt;Text style={{ fontSize: 10, lineHeight: 1.4, color: '#6B7684', marginTop: 4 }}&gt;Paste a public owner/name and get a risk score, risk factor breakdown and the list of abandoned attempts in seconds.&lt;/Text&gt;&#10;          &lt;Box style={{ marginTop: 'auto', paddingTop: 9, borderTop: '1px solid #2C3542' }}&gt;&#10;            &lt;Text style={{ fontSize: 10.5, lineHeight: 1.4, color: '#4CB8A6' }}&gt;对应评分点：风险可量化、结论可复核 / Quantified, reviewable risk finding&lt;/Text&gt;&#10;          &lt;/Box&gt;&#10;        &lt;/Box&gt;&#10;&#10;        &lt;Box style={{ flex: 1, padding: '14px 16px', background: '#1D242E', borderRadius: 10, border: '1px solid #232C38', flexDirection: 'column' }}&gt;&#10;          &lt;Text style={{ fontSize: 10, fontWeight: 'bold', color: '#4CB8A6', letterSpacing: 1.2 }}&gt;场景 02 · 团队交接&lt;/Text&gt;&#10;          &lt;Text style={{ fontSize: 15.5, fontWeight: 'bold', color: '#EDF1F5', marginTop: 6 }}&gt;新人接手前的交接清单&lt;/Text&gt;&#10;          &lt;Text style={{ fontSize: 10.5, color: '#8892A0', marginTop: 3 }}&gt;Handover checklist&lt;/Text&gt;&#10;          &lt;Text style={{ fontSize: 12.5, lineHeight: 1.55, color: '#A8B2BE', marginTop: 9 }}&gt;输出不只是分数，还包括「给接手者的建议」和「该去问原作者的问题清单」。这两项由审稿模型基于客观指标生成，问题直接指向证据不足处，而不是泛泛的注意事项。&lt;/Text&gt;&#10;          &lt;Text style={{ fontSize: 10, lineHeight: 1.4, color: '#6B7684', marginTop: 4 }}&gt;Beyond a score, it emits advice for newcomers and a list of questions to ask the original author, each tied to the evidence.&lt;/Text&gt;&#10;          &lt;Box style={{ marginTop: 'auto', paddingTop: 9, borderTop: '1px solid #2C3542' }}&gt;&#10;            &lt;Text style={{ fontSize: 10.5, lineHeight: 1.4, color: '#4CB8A6' }}&gt;实测 openclaw 产出 3 条待问原作者的问题 / 3 questions emitted&lt;/Text&gt;&#10;          &lt;/Box&gt;&#10;        &lt;/Box&gt;&#10;&#10;        &lt;Box style={{ flex: 1, padding: '14px 16px', background: '#1D242E', borderRadius: 10, border: '1px solid #232C38', flexDirection: 'column' }}&gt;&#10;          &lt;Text style={{ fontSize: 10, fontWeight: 'bold', color: '#4CB8A6', letterSpacing: 1.2 }}&gt;场景 03 · 架构复盘&lt;/Text&gt;&#10;          &lt;Text style={{ fontSize: 15.5, fontWeight: 'bold', color: '#EDF1F5', marginTop: 6 }}&gt;把走过的路摊开看&lt;/Text&gt;&#10;          &lt;Text style={{ fontSize: 10.5, color: '#8892A0', marginTop: 3 }}&gt;Architecture retro&lt;/Text&gt;&#10;          &lt;Text style={{ fontSize: 12.5, lineHeight: 1.55, color: '#A8B2BE', marginTop: 9 }}&gt;把「被放弃的尝试」与「原地打转」两类证据并排摊开：哪些功能加了又删、哪些文件反复推翻但净变化为零。这类信息只存在于历史里，代码终态永远看不到。&lt;/Text&gt;&#10;          &lt;Text style={{ fontSize: 10, lineHeight: 1.4, color: '#6B7684', marginTop: 4 }}&gt;Abandoned attempts and thrashing files side by side — information that exists only in history, never in the final code.&lt;/Text&gt;&#10;          &lt;Box style={{ marginTop: 'auto', paddingTop: 9, borderTop: '1px solid #2C3542' }}&gt;&#10;            &lt;Text style={{ fontSize: 10.5, lineHeight: 1.4, color: '#4CB8A6' }}&gt;实测 topfo：7 处被放弃 · 9 个文件原地打转 / 9 thrashing files&lt;/Text&gt;&#10;          &lt;/Box&gt;&#10;        &lt;/Box&gt;&#10;      &lt;/Box&gt;&#10;&#10;      &lt;Box style={{ flexDirection: 'row', gap: 16, height: 186, marginTop: 12 }}&gt;&#10;        &lt;Box style={{ flex: 1, padding: '13px 16px', background: '#1D242E', borderRadius: 10, border: '1px solid #232C38' }}&gt;&#10;          &lt;Text style={{ fontSize: 12, color: '#E3A33E', fontWeight: 'bold' }}&gt;从一次性报告，变成流水线里的一道闸门 / From report to gate&lt;/Text&gt;&#10;          &lt;Text style={{ fontSize: 11.5, lineHeight: 1.55, color: '#A8B2BE', marginTop: 8 }}&gt;&#10;            命令行形态支持 --fail-on-risk 指定阈值：风险分高于阈值时以&lt;span style={{ color: '#E3A33E', fontWeight: 'bold' }}&gt;退出码 2&lt;/span&gt; 结束，可直接用于阻断合并请求。三个月后再跑一次同一个仓库，就能看出知识可追溯率有没有变好。&#10;          &lt;/Text&gt;&#10;          &lt;Text style={{ fontSize: 10, lineHeight: 1.45, color: '#6B7684', marginTop: 6 }}&gt;&#10;            Exit code 2 above a configurable threshold makes it a merge gate. Re-run the same repo months later and watch knowledge traceability move.&#10;          &lt;/Text&gt;&#10;        &lt;/Box&gt;&#10;        &lt;Box style={{ flex: 1, padding: '13px 16px', background: '#1D242E', borderRadius: 10, border: '1px solid rgba(227,163,62,0.35)' }}&gt;&#10;          &lt;Text style={{ fontSize: 12, color: '#E3A33E', fontWeight: 'bold' }}&gt;已知边界（主动写在 PPT 里）/ Known boundaries&lt;/Text&gt;&#10;          &lt;Text style={{ fontSize: 11.5, lineHeight: 1.55, color: '#A8B2BE', marginTop: 8 }}&gt;&#10;            · 当前依赖 GitHub REST API，因此读不到私有仓库的完整历史，单次窗口上限 100 次提交。&lt;br /&gt;&#10;            · 刻意不读 PR 与 issue —— 这是 24 小时内的取舍：优先保住「不幻觉」，而不是扩大证据面。&lt;br /&gt;&#10;            · 下一步：改用本地 git log，零 API 成本、完整历史、且不接触对方任何凭据。&#10;          &lt;/Text&gt;&#10;          &lt;Text style={{ fontSize: 10, lineHeight: 1.45, color: '#6B7684', marginTop: 6 }}&gt;&#10;            Public repos only, 100-commit window. PR/issue reading was deliberately deferred to protect accuracy. Next step: local git log.&#10;          &lt;/Text&gt;&#10;        &lt;/Box&gt;&#10;      &lt;/Box&gt;&#10;    &lt;/Box&gt;&#10;&#10;  &lt;Box style={{ height: 32, justifyContent: 'center' }}&gt;&#10;    &lt;Text style={{ fontSize: 10, lineHeight: 1.4, color: '#6B7684', textAlign: 'right' }}&gt;本页场景为产品设计说明；其中引用的数字（问题清单条数、被放弃处数、打转文件数）均为本次两仓库实测。 / Scenarios are by design; the figures quoted are measured on the two repositories tested.&lt;/Text&gt;&#10;  &lt;/Box&gt;&#10;  &lt;Box style={{ height: 36, marginTop: 6, paddingTop: 8, borderTop: '1px solid #232C38', flexDirection: 'row', alignItems: 'flex-start', justifyContent: 'space-between' }}&gt;&#10;    &lt;Text style={{ fontSize: 12, color: '#8892A0' }}&gt;代码考古学 / Code Archaeology · BAYTECH 2026 · AI 应用与工程赛道&lt;/Text&gt;&#10;    &lt;Text style={{ fontSize: 12, color: '#8892A0' }}&gt;06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141A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5486400" cy="447675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2400" b="1">
                <a:solidFill>
                  <a:srgbClr val="EDF1F5"/>
                </a:solidFill>
                <a:latin typeface="Source Han Serif SC"/>
                <a:ea typeface="Source Han Serif SC"/>
              </a:rPr>
              <a:t>价值：三个真实场景，一台可追踪的仪表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571500" y="819150"/>
            <a:ext cx="548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spc="22">
                <a:solidFill>
                  <a:srgbClr val="8892A0"/>
                </a:solidFill>
                <a:latin typeface="PingFang SC"/>
                <a:ea typeface="PingFang SC"/>
              </a:rPr>
              <a:t>Value: three real scenarios — and an instrument, not a one-off report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571500" y="1104900"/>
            <a:ext cx="3581400" cy="2876550"/>
          </a:xfrm>
          <a:prstGeom prst="roundRect">
            <a:avLst>
              <a:gd name="adj" fmla="val 3311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723900" y="1238250"/>
            <a:ext cx="32766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 spc="90">
                <a:solidFill>
                  <a:srgbClr val="4CB8A6"/>
                </a:solidFill>
                <a:latin typeface="PingFang SC"/>
                <a:ea typeface="PingFang SC"/>
              </a:rPr>
              <a:t>场景</a:t>
            </a:r>
            <a:r>
              <a:rPr lang="en-US" sz="750" b="1" spc="90">
                <a:solidFill>
                  <a:srgbClr val="4CB8A6"/>
                </a:solidFill>
                <a:latin typeface="PingFang SC"/>
                <a:ea typeface="PingFang SC"/>
              </a:rPr>
              <a:t> 01 · </a:t>
            </a:r>
            <a:r>
              <a:rPr lang="zh-CN" sz="750" b="1" spc="90">
                <a:solidFill>
                  <a:srgbClr val="4CB8A6"/>
                </a:solidFill>
                <a:latin typeface="PingFang SC"/>
                <a:ea typeface="PingFang SC"/>
              </a:rPr>
              <a:t>技术尽调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723900" y="1409700"/>
            <a:ext cx="32766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EDF1F5"/>
                </a:solidFill>
                <a:latin typeface="PingFang SC"/>
                <a:ea typeface="PingFang SC"/>
              </a:rPr>
              <a:t>并购与投资前的代码尽调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723900" y="1619250"/>
            <a:ext cx="3276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Technical due diligence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723900" y="1828800"/>
            <a:ext cx="32766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公开仓库可直接输入</a:t>
            </a:r>
            <a:r>
              <a:rPr lang="en-US" sz="938">
                <a:solidFill>
                  <a:srgbClr val="A8B2BE"/>
                </a:solidFill>
                <a:latin typeface="PingFang SC"/>
                <a:ea typeface="PingFang SC"/>
              </a:rPr>
              <a:t> owner/name</a:t>
            </a: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，几秒内拿到风险分、五类风险因子拆解、文件热度与被放弃的尝试清单。不需要读完代码，就能定位「哪里已经没人能解释为什么」，并把问题交回给人。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723900" y="2752725"/>
            <a:ext cx="32766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Paste a public owner/name and get a risk score, risk factor breakdown and the list of abandoned attempts in seconds.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723900" y="3409950"/>
            <a:ext cx="3276600" cy="447675"/>
          </a:xfrm>
          <a:custGeom>
            <a:pathLst>
              <a:path w="344" h="47">
                <a:moveTo>
                  <a:pt x="0" y="0"/>
                </a:moveTo>
                <a:lnTo>
                  <a:pt x="344" y="0"/>
                </a:lnTo>
                <a:lnTo>
                  <a:pt x="344" y="1"/>
                </a:lnTo>
                <a:lnTo>
                  <a:pt x="0" y="1"/>
                </a:lnTo>
                <a:close/>
              </a:path>
            </a:pathLst>
          </a:custGeom>
          <a:solidFill>
            <a:srgbClr val="2C3542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723900" y="3505200"/>
            <a:ext cx="32766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对应评分点：风险可量化、结论可复核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 / Quantified, reviewable risk finding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4305300" y="1104900"/>
            <a:ext cx="3581400" cy="2876550"/>
          </a:xfrm>
          <a:prstGeom prst="roundRect">
            <a:avLst>
              <a:gd name="adj" fmla="val 3311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4457700" y="1238250"/>
            <a:ext cx="32766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 spc="90">
                <a:solidFill>
                  <a:srgbClr val="4CB8A6"/>
                </a:solidFill>
                <a:latin typeface="PingFang SC"/>
                <a:ea typeface="PingFang SC"/>
              </a:rPr>
              <a:t>场景</a:t>
            </a:r>
            <a:r>
              <a:rPr lang="en-US" sz="750" b="1" spc="90">
                <a:solidFill>
                  <a:srgbClr val="4CB8A6"/>
                </a:solidFill>
                <a:latin typeface="PingFang SC"/>
                <a:ea typeface="PingFang SC"/>
              </a:rPr>
              <a:t> 02 · </a:t>
            </a:r>
            <a:r>
              <a:rPr lang="zh-CN" sz="750" b="1" spc="90">
                <a:solidFill>
                  <a:srgbClr val="4CB8A6"/>
                </a:solidFill>
                <a:latin typeface="PingFang SC"/>
                <a:ea typeface="PingFang SC"/>
              </a:rPr>
              <a:t>团队交接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4457700" y="1409700"/>
            <a:ext cx="32766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EDF1F5"/>
                </a:solidFill>
                <a:latin typeface="PingFang SC"/>
                <a:ea typeface="PingFang SC"/>
              </a:rPr>
              <a:t>新人接手前的交接清单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4457700" y="1619250"/>
            <a:ext cx="3276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Handover checklist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4457700" y="1828800"/>
            <a:ext cx="32766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输出不只是分数，还包括「给接手者的建议」和「该去问原作者的问题清单」。这两项由审稿模型基于客观指标生成，问题直接指向证据不足处，而不是泛泛的注意事项。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4457700" y="2533650"/>
            <a:ext cx="32766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Beyond a score, it emits advice for newcomers and a list of questions to ask the original author, each tied to the evidence.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4457700" y="3581400"/>
            <a:ext cx="3276600" cy="276225"/>
          </a:xfrm>
          <a:custGeom>
            <a:pathLst>
              <a:path w="344" h="29">
                <a:moveTo>
                  <a:pt x="0" y="0"/>
                </a:moveTo>
                <a:lnTo>
                  <a:pt x="344" y="0"/>
                </a:lnTo>
                <a:lnTo>
                  <a:pt x="344" y="1"/>
                </a:lnTo>
                <a:lnTo>
                  <a:pt x="0" y="1"/>
                </a:lnTo>
                <a:close/>
              </a:path>
            </a:pathLst>
          </a:custGeom>
          <a:solidFill>
            <a:srgbClr val="2C3542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457700" y="3676650"/>
            <a:ext cx="32766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实测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 openclaw </a:t>
            </a: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产出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 3 </a:t>
            </a: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条待问原作者的问题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 / 3 questions emitted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8039100" y="1104900"/>
            <a:ext cx="3581400" cy="2876550"/>
          </a:xfrm>
          <a:prstGeom prst="roundRect">
            <a:avLst>
              <a:gd name="adj" fmla="val 3311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8191500" y="1238250"/>
            <a:ext cx="32766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 spc="90">
                <a:solidFill>
                  <a:srgbClr val="4CB8A6"/>
                </a:solidFill>
                <a:latin typeface="PingFang SC"/>
                <a:ea typeface="PingFang SC"/>
              </a:rPr>
              <a:t>场景</a:t>
            </a:r>
            <a:r>
              <a:rPr lang="en-US" sz="750" b="1" spc="90">
                <a:solidFill>
                  <a:srgbClr val="4CB8A6"/>
                </a:solidFill>
                <a:latin typeface="PingFang SC"/>
                <a:ea typeface="PingFang SC"/>
              </a:rPr>
              <a:t> 03 · </a:t>
            </a:r>
            <a:r>
              <a:rPr lang="zh-CN" sz="750" b="1" spc="90">
                <a:solidFill>
                  <a:srgbClr val="4CB8A6"/>
                </a:solidFill>
                <a:latin typeface="PingFang SC"/>
                <a:ea typeface="PingFang SC"/>
              </a:rPr>
              <a:t>架构复盘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8191500" y="1409700"/>
            <a:ext cx="32766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EDF1F5"/>
                </a:solidFill>
                <a:latin typeface="PingFang SC"/>
                <a:ea typeface="PingFang SC"/>
              </a:rPr>
              <a:t>把走过的路摊开看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8191500" y="1619250"/>
            <a:ext cx="3276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Architecture retro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191500" y="1828800"/>
            <a:ext cx="32766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A8B2BE"/>
                </a:solidFill>
                <a:latin typeface="PingFang SC"/>
                <a:ea typeface="PingFang SC"/>
              </a:rPr>
              <a:t>把「被放弃的尝试」与「原地打转」两类证据并排摊开：哪些功能加了又删、哪些文件反复推翻但净变化为零。这类信息只存在于历史里，代码终态永远看不到。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191500" y="2533650"/>
            <a:ext cx="32766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Abandoned attempts and thrashing files side by side — information that exists only in history, never in the final code.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8191500" y="3581400"/>
            <a:ext cx="3276600" cy="276225"/>
          </a:xfrm>
          <a:custGeom>
            <a:pathLst>
              <a:path w="344" h="29">
                <a:moveTo>
                  <a:pt x="0" y="0"/>
                </a:moveTo>
                <a:lnTo>
                  <a:pt x="344" y="0"/>
                </a:lnTo>
                <a:lnTo>
                  <a:pt x="344" y="1"/>
                </a:lnTo>
                <a:lnTo>
                  <a:pt x="0" y="1"/>
                </a:lnTo>
                <a:close/>
              </a:path>
            </a:pathLst>
          </a:custGeom>
          <a:solidFill>
            <a:srgbClr val="2C3542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8191500" y="3676650"/>
            <a:ext cx="32766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实测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 topfo</a:t>
            </a: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：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7 </a:t>
            </a: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处被放弃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 · 9 </a:t>
            </a:r>
            <a:r>
              <a:rPr lang="zh-CN" sz="788">
                <a:solidFill>
                  <a:srgbClr val="4CB8A6"/>
                </a:solidFill>
                <a:latin typeface="PingFang SC"/>
                <a:ea typeface="PingFang SC"/>
              </a:rPr>
              <a:t>个文件原地打转</a:t>
            </a: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 / 9 thrashing files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571500" y="4095750"/>
            <a:ext cx="5448300" cy="1771650"/>
          </a:xfrm>
          <a:prstGeom prst="roundRect">
            <a:avLst>
              <a:gd name="adj" fmla="val 5376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723900" y="4219575"/>
            <a:ext cx="5143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3A33E"/>
                </a:solidFill>
                <a:latin typeface="PingFang SC"/>
                <a:ea typeface="PingFang SC"/>
              </a:rPr>
              <a:t>从一次性报告，变成流水线里的一道闸门</a:t>
            </a:r>
            <a:r>
              <a:rPr lang="en-US" sz="900" b="1">
                <a:solidFill>
                  <a:srgbClr val="E3A33E"/>
                </a:solidFill>
                <a:latin typeface="PingFang SC"/>
                <a:ea typeface="PingFang SC"/>
              </a:rPr>
              <a:t> / From report to gate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723900" y="4438650"/>
            <a:ext cx="514350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命令行形态支持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--fail-on-risk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指定阈值：风险分高于阈值时以</a:t>
            </a:r>
            <a:r>
              <a:rPr lang="zh-CN" sz="863" b="1">
                <a:solidFill>
                  <a:srgbClr val="E3A33E"/>
                </a:solidFill>
                <a:latin typeface="PingFang SC"/>
                <a:ea typeface="PingFang SC"/>
              </a:rPr>
              <a:t>退出码</a:t>
            </a:r>
            <a:r>
              <a:rPr lang="en-US" sz="863" b="1">
                <a:solidFill>
                  <a:srgbClr val="E3A33E"/>
                </a:solidFill>
                <a:latin typeface="PingFang SC"/>
                <a:ea typeface="PingFang SC"/>
              </a:rPr>
              <a:t> 2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结束，可直接用于阻断合并请求。三个月后再跑一次同一个仓库，就能看出知识可追溯率有没有变好。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723900" y="4905375"/>
            <a:ext cx="5143500" cy="333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Exit code 2 above a configurable threshold makes it a merge gate. Re-run the same repo months later and watch knowledge traceability move.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6172200" y="4095750"/>
            <a:ext cx="5448300" cy="1771650"/>
          </a:xfrm>
          <a:prstGeom prst="roundRect">
            <a:avLst>
              <a:gd name="adj" fmla="val 5376"/>
            </a:avLst>
          </a:prstGeom>
          <a:solidFill>
            <a:srgbClr val="1D242E"/>
          </a:solidFill>
          <a:ln w="12700">
            <a:solidFill>
              <a:srgbClr val="E3A33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324600" y="4219575"/>
            <a:ext cx="5143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3A33E"/>
                </a:solidFill>
                <a:latin typeface="PingFang SC"/>
                <a:ea typeface="PingFang SC"/>
              </a:rPr>
              <a:t>已知边界（主动写在</a:t>
            </a:r>
            <a:r>
              <a:rPr lang="en-US" sz="900" b="1">
                <a:solidFill>
                  <a:srgbClr val="E3A33E"/>
                </a:solidFill>
                <a:latin typeface="PingFang SC"/>
                <a:ea typeface="PingFang SC"/>
              </a:rPr>
              <a:t> PPT </a:t>
            </a:r>
            <a:r>
              <a:rPr lang="zh-CN" sz="900" b="1">
                <a:solidFill>
                  <a:srgbClr val="E3A33E"/>
                </a:solidFill>
                <a:latin typeface="PingFang SC"/>
                <a:ea typeface="PingFang SC"/>
              </a:rPr>
              <a:t>里）</a:t>
            </a:r>
            <a:r>
              <a:rPr lang="en-US" sz="900" b="1">
                <a:solidFill>
                  <a:srgbClr val="E3A33E"/>
                </a:solidFill>
                <a:latin typeface="PingFang SC"/>
                <a:ea typeface="PingFang SC"/>
              </a:rPr>
              <a:t>/ Known boundaries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6324600" y="4438650"/>
            <a:ext cx="5143500" cy="619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当前依赖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GitHub REST API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，因此读不到私有仓库的完整历史，单次窗口上限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100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次提交。</a:t>
            </a:r>
            <a:endParaRPr/>
          </a:p>
          <a:p>
            <a:pPr>
              <a:lnSpc>
                <a:spcPct val="155000"/>
              </a:lnSpc>
            </a:pP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刻意不读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PR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与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issue ——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这是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24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小时内的取舍：优先保住「不幻觉」，而不是扩大证据面。</a:t>
            </a:r>
            <a:endParaRPr/>
          </a:p>
          <a:p>
            <a:pPr>
              <a:lnSpc>
                <a:spcPct val="155000"/>
              </a:lnSpc>
            </a:pP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下一步：改用本地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git log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，零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API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成本、完整历史、且不接触对方任何凭据。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324600" y="5114925"/>
            <a:ext cx="5143500" cy="333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Public repos only, 100-commit window. PR/issue reading was deliberately deferred to protect accuracy. Next step: local git log.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571500" y="5943600"/>
            <a:ext cx="11049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本页场景为产品设计说明；其中引用的数字（问题清单条数、被放弃处数、打转文件数）均为本次两仓库实测。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/ Scenarios are by design; the figures quoted are measured on the two repositories tested.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571500" y="6229350"/>
            <a:ext cx="11049000" cy="342900"/>
          </a:xfrm>
          <a:custGeom>
            <a:pathLst>
              <a:path w="1160" h="36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571500" y="6315075"/>
            <a:ext cx="3743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代码考古学</a:t>
            </a: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 / Code Archaeology · BAYTECH 2026 · AI </a:t>
            </a: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应用与工程赛道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11229975" y="63150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417" name="" descr="&lt;Slide style={{ width: '1280px', height: '720px', padding: '20px 60px', background: '#10141A', fontFamily: &quot;'PingFang SC','Microsoft YaHei','Helvetica Neue',sans-serif&quot;, flexDirection: 'column' }}&gt;&#10;&#10;  &lt;Box style={{ height: 96, justifyContent: 'center' }}&gt;&#10;    &lt;Box style={{ flexDirection: 'row', alignItems: 'flex-end', justifyContent: 'space-between' }}&gt;&#10;      &lt;Box&gt;&#10;        &lt;Text style={{ fontSize: 32, fontWeight: 'bold', lineHeight: 1.22, color: '#EDF1F5', fontFamily: &quot;'Source Han Serif SC','Noto Serif SC','Songti SC',serif&quot; }}&gt;测试方法与可复现性&lt;/Text&gt;&#10;        &lt;Text style={{ fontSize: 14.5, color: '#8892A0', marginTop: 7, letterSpacing: 0.3 }}&gt;Method and reproducibility&lt;/Text&gt;&#10;      &lt;/Box&gt;&#10;      &#10;    &lt;/Box&gt;&#10;  &lt;/Box&gt;&#10;    &lt;Box style={{ height: 500 }}&gt;&#10;      &lt;Box style={{ height: 62, padding: '10px 18px', background: 'rgba(76,184,166,0.10)', border: '1px solid rgba(76,184,166,0.40)', borderRadius: 10, justifyContent: 'center' }}&gt;&#10;        &lt;Text style={{ fontSize: 13.5, fontWeight: 'bold', color: '#4CB8A6' }}&gt;&#10;          测试范围：严格限定为 openclaw/openclaw 与 ody-cai/topfo 两个公开仓库，仅此两个，未测试任何第三个仓库。&#10;        &lt;/Text&gt;&#10;        &lt;Text style={{ fontSize: 10.5, color: '#8892A0', marginTop: 4 }}&gt;&#10;          Scope: strictly openclaw/openclaw and ody-cai/topfo — these two public repositories only. No third repository was tested.&#10;        &lt;/Text&gt;&#10;      &lt;/Box&gt;&#10;&#10;      &lt;Box style={{ flexDirection: 'row', gap: 16, height: 240, marginTop: 14 }}&gt;&#10;        &lt;Box style={{ flex: 1.05, padding: '13px 16px', background: '#1D242E', borderRadius: 10, border: '1px solid #232C38' }}&gt;&#10;          &lt;Text style={{ fontSize: 12, fontWeight: 'bold', color: '#EDF1F5' }}&gt;复现命令 / Reproduce&lt;/Text&gt;&#10;          &lt;Text style={{ fontSize: 10, color: '#8892A0', marginTop: 3 }}&gt;在本项目根目录依次执行，结果与本 PPT 一致。&lt;/Text&gt;&#10;          &lt;Box style={{ marginTop: 8 }}&gt;&#10;            &lt;Text style={{ fontSize: 11, lineHeight: 1.75, color: '#A8B2BE' }}&gt;# 纯计算层：信噪分离与硬指标&lt;/Text&gt;&#10;            &lt;Text style={{ fontSize: 11, lineHeight: 1.75, color: '#A8B2BE' }}&gt;node bin/ca.mjs mine --repo=openclaw/openclaw --limit=60 --json&lt;/Text&gt;&#10;            &lt;Text style={{ fontSize: 11, lineHeight: 1.75, color: '#A8B2BE' }}&gt;node bin/ca.mjs mine --repo=ody-cai/topfo     --limit=60 --json&lt;/Text&gt;&#10;            &lt;Text style={{ fontSize: 11, lineHeight: 1.75, color: '#E3A33E' }}&gt;# 完整三模型流水线 + 证据接地校验&lt;/Text&gt;&#10;            &lt;Text style={{ fontSize: 11, lineHeight: 1.75, color: '#A8B2BE' }}&gt;node bin/ca.mjs excavate --repo=ody-cai/topfo --limit=60 --json&lt;/Text&gt;&#10;            &lt;Text style={{ fontSize: 11, lineHeight: 1.75, color: '#A8B2BE' }}&gt;node --test tests/*.test.mjs   # 单元测试&lt;/Text&gt;&#10;            &lt;Text style={{ fontSize: 11, lineHeight: 1.75, color: '#A8B2BE' }}&gt;node bin/ca.mjs capabilities   # 列出全部接口&lt;/Text&gt;&#10;          &lt;/Box&gt;&#10;        &lt;/Box&gt;&#10;&#10;        &lt;Box style={{ flex: 1, padding: '13px 16px', background: '#1D242E', borderRadius: 10, border: '1px solid #232C38' }}&gt;&#10;          &lt;Text style={{ fontSize: 12, fontWeight: 'bold', color: '#EDF1F5' }}&gt;采集口径 / Capture&lt;/Text&gt;&#10;          &lt;Text style={{ fontSize: 10, color: '#8892A0', marginTop: 3 }}&gt;全部数字来自 GitHub REST API v3 现场拉取，无一条预置。&lt;/Text&gt;&#10;          &lt;Box style={{ marginTop: 9 }}&gt;&#10;            &lt;Box style={{ flexDirection: 'row', height: 22, borderBottom: '1px solid #2C3542' }}&gt;&#10;              &lt;Text style={{ width: 168, fontSize: 10, color: '#8892A0', textAlign: 'left' }}&gt;仓库 / Repository&lt;/Text&gt;&#10;              &lt;Text style={{ width: 46, fontSize: 10, color: '#8892A0', textAlign: 'right' }}&gt;提交数&lt;/Text&gt;&#10;              &lt;Text style={{ width: 58, fontSize: 10, color: '#8892A0', textAlign: 'right' }}&gt;API 调用&lt;/Text&gt;&#10;              &lt;Text style={{ width: 52, fontSize: 10, color: '#8892A0', textAlign: 'right' }}&gt;纯计算&lt;/Text&gt;&#10;              &lt;Text style={{ width: 52, fontSize: 10, color: '#8892A0', textAlign: 'right' }}&gt;全流程&lt;/Text&gt;&#10;            &lt;/Box&gt;&#10;            &lt;Box style={{ flexDirection: 'row', marginTop: 7 }}&gt;&#10;              &lt;Text style={{ width: 168, fontSize: 10.5, color: '#EDF1F5', textAlign: 'left' }}&gt;openclaw/openclaw&lt;/Text&gt;&#10;              &lt;Text style={{ width: 46, fontSize: 10.5, color: '#EDF1F5', textAlign: 'right' }}&gt;60&lt;/Text&gt;&#10;              &lt;Text style={{ width: 58, fontSize: 10.5, color: '#EDF1F5', textAlign: 'right' }}&gt;62&lt;/Text&gt;&#10;              &lt;Text style={{ width: 52, fontSize: 10.5, color: '#4CB8A6', textAlign: 'right' }}&gt;6.95s&lt;/Text&gt;&#10;              &lt;Text style={{ width: 52, fontSize: 10.5, color: '#4CB8A6', textAlign: 'right' }}&gt;13.19s&lt;/Text&gt;&#10;            &lt;/Box&gt;&#10;            &lt;Box style={{ flexDirection: 'row', marginTop: 6 }}&gt;&#10;              &lt;Text style={{ width: 168, fontSize: 10.5, color: '#EDF1F5', textAlign: 'left' }}&gt;ody-cai/topfo&lt;/Text&gt;&#10;              &lt;Text style={{ width: 46, fontSize: 10.5, color: '#EDF1F5', textAlign: 'right' }}&gt;23&lt;/Text&gt;&#10;              &lt;Text style={{ width: 58, fontSize: 10.5, color: '#EDF1F5', textAlign: 'right' }}&gt;25&lt;/Text&gt;&#10;              &lt;Text style={{ width: 52, fontSize: 10.5, color: '#4CB8A6', textAlign: 'right' }}&gt;4.3s&lt;/Text&gt;&#10;              &lt;Text style={{ width: 52, fontSize: 10.5, color: '#4CB8A6', textAlign: 'right' }}&gt;38.35s&lt;/Text&gt;&#10;            &lt;/Box&gt;&#10;          &lt;/Box&gt;&#10;          &lt;Text style={{ fontSize: 10, lineHeight: 1.5, color: '#6B7684', marginTop: 10 }}&gt;&#10;            窗口 openclaw：2026-09-20T00:07:32Z → 2026-09-20T02:23:19Z（2h 15m 47s）&#10;            &lt;br /&gt;窗口 topfo：2026-07-09T02:38:58Z → 2026-09-20T01:53:29Z（73 天）&#10;            &lt;br /&gt;耗时为本机 /usr/bin/time 实测墙钟；窗口会随时间滚动，重跑得到的窗口可能不同，方法与字段完全一致。&#10;          &lt;/Text&gt;&#10;        &lt;/Box&gt;&#10;      &lt;/Box&gt;&#10;&#10;      &lt;Box style={{ flexDirection: 'row', gap: 16, height: 170, marginTop: 14 }}&gt;&#10;        &lt;Box style={{ flex: 1, padding: '12px 16px', background: '#1D242E', borderRadius: 10, border: '1px solid #232C38' }}&gt;&#10;          &lt;Text style={{ fontSize: 11.5, fontWeight: 'bold', color: '#4CB8A6' }}&gt;多模型分工 / Model assignment&lt;/Text&gt;&#10;          &lt;Text style={{ fontSize: 11, lineHeight: 1.6, color: '#A8B2BE', marginTop: 6 }}&gt;&#10;            叙事者 gpt-4o · 假设者 deepseek-v4-pro · 审稿人 gemini-2.5-flash&#10;            &lt;br /&gt;3 个模型 · 多模型分工 · 统一走 OpenAI 兼容协议&#10;            &lt;br /&gt;三者是&lt;span style={{ color: '#E3A33E', fontWeight: 'bold' }}&gt;串行有依赖&lt;/span&gt;而非并行投票：假设者读叙事者的输出，审稿人读前两者输出加程序给出的客观指标，因此它能说出「这条结论引用了不存在的提交」，而不是含糊地说「可能不准」。&#10;          &lt;/Text&gt;&#10;          &lt;Text style={{ fontSize: 9.5, lineHeight: 1.45, color: '#6B7684', marginTop: 5 }}&gt;&#10;            Sequential dependency, not parallel voting — the appraiser sees the program's evidence check before judging.&#10;          &lt;/Text&gt;&#10;        &lt;/Box&gt;&#10;        &lt;Box style={{ flex: 1, padding: '12px 16px', background: '#1D242E', borderRadius: 10, border: '1px solid #232C38' }}&gt;&#10;          &lt;Text style={{ fontSize: 11.5, color: '#E3A33E', fontWeight: 'bold' }}&gt;零预置数据 / No prefabricated data&lt;/Text&gt;&#10;          &lt;Text style={{ fontSize: 11, lineHeight: 1.6, color: '#A8B2BE', marginTop: 6 }}&gt;&#10;            {/* 诚实声明：API 失败就降级，不填假数据 */}&#10;            无合成 fixture 出现在演示路径上。任一上游不可用时会显式降级并把降级原因写入输出（本次两仓库 0 次降级），而不是补一个看起来合理的数字。&#10;            &lt;br /&gt;运行环境：Node.js ESM · macOS · GitHub API 已鉴权；两个仓库合计消耗 87 次 API 调用。&#10;          &lt;/Text&gt;&#10;          &lt;Text style={{ fontSize: 9.5, lineHeight: 1.45, color: '#6B7684', marginTop: 5 }}&gt;&#10;            No synthetic fixtures on the demo path; degradations are reported instead of papered over. This run used 87 API calls in total.&#10;          &lt;/Text&gt;&#10;        &lt;/Box&gt;&#10;      &lt;/Box&gt;&#10;    &lt;/Box&gt;&#10;&#10;  &lt;Box style={{ height: 32, justifyContent: 'center' }}&gt;&#10;    &lt;Text style={{ fontSize: 10, lineHeight: 1.4, color: '#6B7684', textAlign: 'right' }}&gt;测试范围声明 / Scope：本次全部实测严格限定为 openclaw/openclaw 与 ody-cai/topfo 两个公开仓库，未对任何第三个仓库运行测试。&lt;/Text&gt;&#10;  &lt;/Box&gt;&#10;  &lt;Box style={{ height: 36, marginTop: 6, paddingTop: 8, borderTop: '1px solid #232C38', flexDirection: 'row', alignItems: 'flex-start', justifyContent: 'space-between' }}&gt;&#10;    &lt;Text style={{ fontSize: 12, color: '#8892A0' }}&gt;代码考古学 / Code Archaeology · BAYTECH 2026 · AI 应用与工程赛道&lt;/Text&gt;&#10;    &lt;Text style={{ fontSize: 12, color: '#8892A0' }}&gt;07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141A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2743200" cy="447675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2400" b="1">
                <a:solidFill>
                  <a:srgbClr val="EDF1F5"/>
                </a:solidFill>
                <a:latin typeface="Source Han Serif SC"/>
                <a:ea typeface="Source Han Serif SC"/>
              </a:rPr>
              <a:t>测试方法与可复现性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571500" y="819150"/>
            <a:ext cx="274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spc="22">
                <a:solidFill>
                  <a:srgbClr val="8892A0"/>
                </a:solidFill>
                <a:latin typeface="PingFang SC"/>
                <a:ea typeface="PingFang SC"/>
              </a:rPr>
              <a:t>Method and reproducibility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571500" y="1104900"/>
            <a:ext cx="11049000" cy="590550"/>
          </a:xfrm>
          <a:prstGeom prst="roundRect">
            <a:avLst>
              <a:gd name="adj" fmla="val 16129"/>
            </a:avLst>
          </a:prstGeom>
          <a:solidFill>
            <a:srgbClr val="4CB8A6">
              <a:alpha val="10000"/>
            </a:srgbClr>
          </a:solidFill>
          <a:ln w="12700">
            <a:solidFill>
              <a:srgbClr val="4CB8A6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742950" y="1238250"/>
            <a:ext cx="1070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4CB8A6"/>
                </a:solidFill>
                <a:latin typeface="PingFang SC"/>
                <a:ea typeface="PingFang SC"/>
              </a:rPr>
              <a:t>测试范围：严格限定为</a:t>
            </a:r>
            <a:r>
              <a:rPr lang="en-US" sz="1013" b="1">
                <a:solidFill>
                  <a:srgbClr val="4CB8A6"/>
                </a:solidFill>
                <a:latin typeface="PingFang SC"/>
                <a:ea typeface="PingFang SC"/>
              </a:rPr>
              <a:t> openclaw/openclaw </a:t>
            </a:r>
            <a:r>
              <a:rPr lang="zh-CN" sz="1013" b="1">
                <a:solidFill>
                  <a:srgbClr val="4CB8A6"/>
                </a:solidFill>
                <a:latin typeface="PingFang SC"/>
                <a:ea typeface="PingFang SC"/>
              </a:rPr>
              <a:t>与</a:t>
            </a:r>
            <a:r>
              <a:rPr lang="en-US" sz="1013" b="1">
                <a:solidFill>
                  <a:srgbClr val="4CB8A6"/>
                </a:solidFill>
                <a:latin typeface="PingFang SC"/>
                <a:ea typeface="PingFang SC"/>
              </a:rPr>
              <a:t> ody-cai/topfo </a:t>
            </a:r>
            <a:r>
              <a:rPr lang="zh-CN" sz="1013" b="1">
                <a:solidFill>
                  <a:srgbClr val="4CB8A6"/>
                </a:solidFill>
                <a:latin typeface="PingFang SC"/>
                <a:ea typeface="PingFang SC"/>
              </a:rPr>
              <a:t>两个公开仓库，仅此两个，未测试任何第三个仓库。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742950" y="1438275"/>
            <a:ext cx="107061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Scope: strictly openclaw/openclaw and ody-cai/topfo — these two public repositories only. No third repository was tested.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571500" y="1828800"/>
            <a:ext cx="5581650" cy="2286000"/>
          </a:xfrm>
          <a:prstGeom prst="roundRect">
            <a:avLst>
              <a:gd name="adj" fmla="val 4167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723900" y="1952625"/>
            <a:ext cx="5276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DF1F5"/>
                </a:solidFill>
                <a:latin typeface="PingFang SC"/>
                <a:ea typeface="PingFang SC"/>
              </a:rPr>
              <a:t>复现命令</a:t>
            </a:r>
            <a:r>
              <a:rPr lang="en-US" sz="900" b="1">
                <a:solidFill>
                  <a:srgbClr val="EDF1F5"/>
                </a:solidFill>
                <a:latin typeface="PingFang SC"/>
                <a:ea typeface="PingFang SC"/>
              </a:rPr>
              <a:t> / Reproduce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723900" y="2124075"/>
            <a:ext cx="5276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在本项目根目录依次执行，结果与本</a:t>
            </a: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 PPT </a:t>
            </a: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一致。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723900" y="2314575"/>
            <a:ext cx="5276850" cy="2286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#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纯计算层：信噪分离与硬指标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723900" y="2543175"/>
            <a:ext cx="5276850" cy="2286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node bin/ca.mjs mine --repo=openclaw/openclaw --limit=60 --json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723900" y="2771775"/>
            <a:ext cx="5276850" cy="2286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node bin/ca.mjs mine --repo=ody-cai/topfo     --limit=60 --json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723900" y="3000375"/>
            <a:ext cx="5276850" cy="2286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825">
                <a:solidFill>
                  <a:srgbClr val="E3A33E"/>
                </a:solidFill>
                <a:latin typeface="PingFang SC"/>
                <a:ea typeface="PingFang SC"/>
              </a:rPr>
              <a:t># </a:t>
            </a:r>
            <a:r>
              <a:rPr lang="zh-CN" sz="825">
                <a:solidFill>
                  <a:srgbClr val="E3A33E"/>
                </a:solidFill>
                <a:latin typeface="PingFang SC"/>
                <a:ea typeface="PingFang SC"/>
              </a:rPr>
              <a:t>完整三模型流水线</a:t>
            </a:r>
            <a:r>
              <a:rPr lang="en-US" sz="825">
                <a:solidFill>
                  <a:srgbClr val="E3A33E"/>
                </a:solidFill>
                <a:latin typeface="PingFang SC"/>
                <a:ea typeface="PingFang SC"/>
              </a:rPr>
              <a:t> + </a:t>
            </a:r>
            <a:r>
              <a:rPr lang="zh-CN" sz="825">
                <a:solidFill>
                  <a:srgbClr val="E3A33E"/>
                </a:solidFill>
                <a:latin typeface="PingFang SC"/>
                <a:ea typeface="PingFang SC"/>
              </a:rPr>
              <a:t>证据接地校验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723900" y="3228975"/>
            <a:ext cx="5276850" cy="2286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node bin/ca.mjs excavate --repo=ody-cai/topfo --limit=60 --json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723900" y="3457575"/>
            <a:ext cx="5276850" cy="2286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node --test tests/*.test.mjs   #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单元测试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723900" y="3686175"/>
            <a:ext cx="5276850" cy="2286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node bin/ca.mjs capabilities   #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列出全部接口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6305550" y="1828800"/>
            <a:ext cx="5314950" cy="2286000"/>
          </a:xfrm>
          <a:prstGeom prst="roundRect">
            <a:avLst>
              <a:gd name="adj" fmla="val 4167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6457950" y="1952625"/>
            <a:ext cx="5010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DF1F5"/>
                </a:solidFill>
                <a:latin typeface="PingFang SC"/>
                <a:ea typeface="PingFang SC"/>
              </a:rPr>
              <a:t>采集口径</a:t>
            </a:r>
            <a:r>
              <a:rPr lang="en-US" sz="900" b="1">
                <a:solidFill>
                  <a:srgbClr val="EDF1F5"/>
                </a:solidFill>
                <a:latin typeface="PingFang SC"/>
                <a:ea typeface="PingFang SC"/>
              </a:rPr>
              <a:t> / Capture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6457950" y="2124075"/>
            <a:ext cx="5010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全部数字来自</a:t>
            </a: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 GitHub REST API v3 </a:t>
            </a: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现场拉取，无一条预置。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457950" y="2324100"/>
            <a:ext cx="5010150" cy="209550"/>
          </a:xfrm>
          <a:custGeom>
            <a:pathLst>
              <a:path w="526" h="22">
                <a:moveTo>
                  <a:pt x="0" y="21"/>
                </a:moveTo>
                <a:lnTo>
                  <a:pt x="526" y="21"/>
                </a:lnTo>
                <a:lnTo>
                  <a:pt x="526" y="22"/>
                </a:lnTo>
                <a:lnTo>
                  <a:pt x="0" y="22"/>
                </a:lnTo>
                <a:close/>
              </a:path>
            </a:pathLst>
          </a:custGeom>
          <a:solidFill>
            <a:srgbClr val="2C3542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6457950" y="2324100"/>
            <a:ext cx="1600200" cy="200025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仓库</a:t>
            </a: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 / Repository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058150" y="2324100"/>
            <a:ext cx="4381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提交数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8496300" y="2324100"/>
            <a:ext cx="5524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API </a:t>
            </a: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调用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9048750" y="2324100"/>
            <a:ext cx="4953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纯计算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9544050" y="2324100"/>
            <a:ext cx="4953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全流程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6457950" y="2600325"/>
            <a:ext cx="1600200" cy="123825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88">
                <a:solidFill>
                  <a:srgbClr val="EDF1F5"/>
                </a:solidFill>
                <a:latin typeface="PingFang SC"/>
                <a:ea typeface="PingFang SC"/>
              </a:rPr>
              <a:t>openclaw/openclaw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8058150" y="2600325"/>
            <a:ext cx="438150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88">
                <a:solidFill>
                  <a:srgbClr val="EDF1F5"/>
                </a:solidFill>
                <a:latin typeface="PingFang SC"/>
                <a:ea typeface="PingFang SC"/>
              </a:rPr>
              <a:t>60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496300" y="2600325"/>
            <a:ext cx="552450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88">
                <a:solidFill>
                  <a:srgbClr val="EDF1F5"/>
                </a:solidFill>
                <a:latin typeface="PingFang SC"/>
                <a:ea typeface="PingFang SC"/>
              </a:rPr>
              <a:t>62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9048750" y="2600325"/>
            <a:ext cx="495300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6.95s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9544050" y="2600325"/>
            <a:ext cx="495300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13.19s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457950" y="2781300"/>
            <a:ext cx="1600200" cy="123825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88">
                <a:solidFill>
                  <a:srgbClr val="EDF1F5"/>
                </a:solidFill>
                <a:latin typeface="PingFang SC"/>
                <a:ea typeface="PingFang SC"/>
              </a:rPr>
              <a:t>ody-cai/topfo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8058150" y="2781300"/>
            <a:ext cx="438150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88">
                <a:solidFill>
                  <a:srgbClr val="EDF1F5"/>
                </a:solidFill>
                <a:latin typeface="PingFang SC"/>
                <a:ea typeface="PingFang SC"/>
              </a:rPr>
              <a:t>23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8496300" y="2781300"/>
            <a:ext cx="552450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88">
                <a:solidFill>
                  <a:srgbClr val="EDF1F5"/>
                </a:solidFill>
                <a:latin typeface="PingFang SC"/>
                <a:ea typeface="PingFang SC"/>
              </a:rPr>
              <a:t>25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9048750" y="2781300"/>
            <a:ext cx="495300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4.3s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9544050" y="2781300"/>
            <a:ext cx="495300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88">
                <a:solidFill>
                  <a:srgbClr val="4CB8A6"/>
                </a:solidFill>
                <a:latin typeface="PingFang SC"/>
                <a:ea typeface="PingFang SC"/>
              </a:rPr>
              <a:t>38.35s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6457950" y="3000375"/>
            <a:ext cx="50101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窗口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openclaw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：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2026-09-20T00:07:32Z → 2026-09-20T02:23:19Z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（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2h 15m 47s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）</a:t>
            </a:r>
            <a:endParaRPr/>
          </a:p>
          <a:p>
            <a:pPr>
              <a:lnSpc>
                <a:spcPct val="150000"/>
              </a:lnSpc>
            </a:pP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窗口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topfo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：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2026-07-09T02:38:58Z → 2026-09-20T01:53:29Z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（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73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天）</a:t>
            </a:r>
            <a:endParaRPr/>
          </a:p>
          <a:p>
            <a:pPr>
              <a:lnSpc>
                <a:spcPct val="150000"/>
              </a:lnSpc>
            </a:pP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耗时为本机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/usr/bin/time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实测墙钟；窗口会随时间滚动，重跑得到的窗口可能不同，方法与字段完全一致。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571500" y="4248150"/>
            <a:ext cx="5448300" cy="1619250"/>
          </a:xfrm>
          <a:prstGeom prst="roundRect">
            <a:avLst>
              <a:gd name="adj" fmla="val 5882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723900" y="4362450"/>
            <a:ext cx="5143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4CB8A6"/>
                </a:solidFill>
                <a:latin typeface="PingFang SC"/>
                <a:ea typeface="PingFang SC"/>
              </a:rPr>
              <a:t>多模型分工</a:t>
            </a:r>
            <a:r>
              <a:rPr lang="en-US" sz="863" b="1">
                <a:solidFill>
                  <a:srgbClr val="4CB8A6"/>
                </a:solidFill>
                <a:latin typeface="PingFang SC"/>
                <a:ea typeface="PingFang SC"/>
              </a:rPr>
              <a:t> / Model assignment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723900" y="4552950"/>
            <a:ext cx="51435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叙事者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gpt-4o ·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假设者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deepseek-v4-pro ·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审稿人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gemini-2.5-flash</a:t>
            </a:r>
            <a:endParaRPr/>
          </a:p>
          <a:p>
            <a:pPr>
              <a:lnSpc>
                <a:spcPct val="160000"/>
              </a:lnSpc>
            </a:pP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3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个模型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·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多模型分工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·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统一走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OpenAI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兼容协议</a:t>
            </a:r>
            <a:endParaRPr/>
          </a:p>
          <a:p>
            <a:pPr>
              <a:lnSpc>
                <a:spcPct val="160000"/>
              </a:lnSpc>
            </a:pP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三者是</a:t>
            </a:r>
            <a:r>
              <a:rPr lang="zh-CN" sz="825" b="1">
                <a:solidFill>
                  <a:srgbClr val="E3A33E"/>
                </a:solidFill>
                <a:latin typeface="PingFang SC"/>
                <a:ea typeface="PingFang SC"/>
              </a:rPr>
              <a:t>串行有依赖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而非并行投票：假设者读叙事者的输出，审稿人读前两者输出加程序给出的客观指标，因此它能说出「这条结论引用了不存在的提交」，而不是含糊地说「可能不准」。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723900" y="5410200"/>
            <a:ext cx="5143500" cy="1619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Sequential dependency, not parallel voting — the appraiser sees the program's evidence check before judging.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6172200" y="4248150"/>
            <a:ext cx="5448300" cy="1619250"/>
          </a:xfrm>
          <a:prstGeom prst="roundRect">
            <a:avLst>
              <a:gd name="adj" fmla="val 5882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6324600" y="4362450"/>
            <a:ext cx="5143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E3A33E"/>
                </a:solidFill>
                <a:latin typeface="PingFang SC"/>
                <a:ea typeface="PingFang SC"/>
              </a:rPr>
              <a:t>零预置数据</a:t>
            </a:r>
            <a:r>
              <a:rPr lang="en-US" sz="863" b="1">
                <a:solidFill>
                  <a:srgbClr val="E3A33E"/>
                </a:solidFill>
                <a:latin typeface="PingFang SC"/>
                <a:ea typeface="PingFang SC"/>
              </a:rPr>
              <a:t> / No prefabricated data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324600" y="4552950"/>
            <a:ext cx="51435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无合成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fixture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出现在演示路径上。任一上游不可用时会显式降级并把降级原因写入输出（本次两仓库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0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次降级），而不是补一个看起来合理的数字。</a:t>
            </a:r>
            <a:endParaRPr/>
          </a:p>
          <a:p>
            <a:pPr>
              <a:lnSpc>
                <a:spcPct val="160000"/>
              </a:lnSpc>
            </a:pP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运行环境：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Node.js ESM · macOS · GitHub API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已鉴权；两个仓库合计消耗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87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次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API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调用。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6324600" y="5210175"/>
            <a:ext cx="51435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No synthetic fixtures on the demo path; degradations are reported instead of papered over. This run used 87 API calls in total.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571500" y="5943600"/>
            <a:ext cx="11049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测试范围声明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/ Scope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：本次全部实测严格限定为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openclaw/openclaw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与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ody-cai/topfo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两个公开仓库，未对任何第三个仓库运行测试。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571500" y="6229350"/>
            <a:ext cx="11049000" cy="342900"/>
          </a:xfrm>
          <a:custGeom>
            <a:pathLst>
              <a:path w="1160" h="36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571500" y="6315075"/>
            <a:ext cx="3743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代码考古学</a:t>
            </a: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 / Code Archaeology · BAYTECH 2026 · AI </a:t>
            </a: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应用与工程赛道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11239500" y="6315075"/>
            <a:ext cx="381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6" name="" descr="&lt;Slide style={{ width: '1280px', height: '720px', padding: '20px 60px', background: '#10141A', fontFamily: &quot;'PingFang SC','Microsoft YaHei','Helvetica Neue',sans-serif&quot;, flexDirection: 'column' }}&gt;&#10;&#10;  &lt;Box style={{ height: 96, justifyContent: 'center' }}&gt;&#10;    &lt;Box style={{ flexDirection: 'row', alignItems: 'flex-end', justifyContent: 'space-between' }}&gt;&#10;      &lt;Box&gt;&#10;        &lt;Text style={{ fontSize: 32, fontWeight: 'bold', lineHeight: 1.22, color: '#EDF1F5', fontFamily: &quot;'Source Han Serif SC','Noto Serif SC','Songti SC',serif&quot; }}&gt;实测 A · openclaw/openclaw&lt;/Text&gt;&#10;        &lt;Text style={{ fontSize: 14.5, color: '#8892A0', marginTop: 7, letterSpacing: 0.3 }}&gt;Measured A · openclaw/openclaw&lt;/Text&gt;&#10;      &lt;/Box&gt;&#10;      &lt;Text style={{ fontSize: 10.5, color: '#8892A0', textAlign: 'right' }}&gt;TypeScript · 390,102 stars · GitHub REST API v3&lt;/Text&gt;&#10;    &lt;/Box&gt;&#10;  &lt;/Box&gt;&#10;    &lt;Box style={{ height: 500 }}&gt;&#10;      &lt;Box style={{ flexDirection: 'row', gap: 16, height: 268, alignItems: 'flex-start' }}&gt;&#10;        &lt;Box style={{ width: 468, padding: 8, background: '#1D242E', borderRadius: 10, border: '1px solid #232C38' }}&gt;&#10;          &lt;Image src=&quot;/Users/odycai/WorkBuddy/BAYTECH26黑客松/outputs/代码考古学-评委展示PPT/assets/openclaw-top.png&quot; style={{ width: 452, height: 223 }} /&gt;&#10;        &lt;/Box&gt;&#10;        &lt;Box style={{ flex: 1, padding: '14px 16px', background: '#1D242E', borderRadius: 10, border: '1px solid #232C38' }}&gt;&#10;          &lt;Text style={{ fontSize: 12, fontWeight: 'bold', color: '#EDF1F5' }}&gt;本次实测关键数字 / Key measurements&lt;/Text&gt;&#10;          &lt;Text style={{ fontSize: 10, color: '#8892A0', marginTop: 3 }}&gt;窗口 2026-09-20T00:07:32Z → 2026-09-20T02:23:19Z（UTC，共 2h 15m 47s）&lt;/Text&gt;&#10;          &lt;Box style={{ flexDirection: 'row', marginTop: 12 }}&gt;&#10;            &#10;        &lt;Box style={{ flex: 1 }}&gt;&#10;          &lt;Text style={{ fontSize: 20, fontWeight: 'bold', color: '#EDF1F5', fontFamily: &quot;'Source Han Serif SC','Noto Serif SC','Songti SC',serif&quot; }}&gt;60&lt;/Text&gt;&#10;          &lt;Text style={{ fontSize: 10.5, color: '#EDF1F5', marginTop: 3 }}&gt;次提交已分析&lt;/Text&gt;&#10;          &lt;Text style={{ fontSize: 9.5, color: '#8892A0', marginTop: 1 }}&gt;commits analysed&lt;/Text&gt;&#10;        &lt;/Box&gt;&#10;            &#10;        &lt;Box style={{ flex: 1 }}&gt;&#10;          &lt;Text style={{ fontSize: 20, fontWeight: 'bold', color: '#4CB8A6', fontFamily: &quot;'Source Han Serif SC','Noto Serif SC','Songti SC',serif&quot; }}&gt;98%&lt;/Text&gt;&#10;          &lt;Text style={{ fontSize: 10.5, color: '#EDF1F5', marginTop: 3 }}&gt;人类决策占比&lt;/Text&gt;&#10;          &lt;Text style={{ fontSize: 9.5, color: '#8892A0', marginTop: 1 }}&gt;human signal&lt;/Text&gt;&#10;        &lt;/Box&gt;&#10;            &#10;        &lt;Box style={{ flex: 1 }}&gt;&#10;          &lt;Text style={{ fontSize: 20, fontWeight: 'bold', color: '#4CB8A6', fontFamily: &quot;'Source Han Serif SC','Noto Serif SC','Songti SC',serif&quot; }}&gt;0/100&lt;/Text&gt;&#10;          &lt;Text style={{ fontSize: 10.5, color: '#EDF1F5', marginTop: 3 }}&gt;风险分（低）&lt;/Text&gt;&#10;          &lt;Text style={{ fontSize: 9.5, color: '#8892A0', marginTop: 1 }}&gt;risk score&lt;/Text&gt;&#10;        &lt;/Box&gt;&#10;          &lt;/Box&gt;&#10;          &lt;Box style={{ flexDirection: 'row', marginTop: 14 }}&gt;&#10;            &#10;        &lt;Box style={{ flex: 1 }}&gt;&#10;          &lt;Text style={{ fontSize: 20, fontWeight: 'bold', color: '#EDF1F5', fontFamily: &quot;'Source Han Serif SC','Noto Serif SC','Songti SC',serif&quot; }}&gt;1&lt;/Text&gt;&#10;          &lt;Text style={{ fontSize: 10.5, color: '#EDF1F5', marginTop: 3 }}&gt;次机器人提交（2%）&lt;/Text&gt;&#10;          &lt;Text style={{ fontSize: 9.5, color: '#8892A0', marginTop: 1 }}&gt;bot commits&lt;/Text&gt;&#10;        &lt;/Box&gt;&#10;            &#10;        &lt;Box style={{ flex: 1 }}&gt;&#10;          &lt;Text style={{ fontSize: 20, fontWeight: 'bold', color: '#E3A33E', fontFamily: &quot;'Source Han Serif SC','Noto Serif SC','Songti SC',serif&quot; }}&gt;26.5&lt;/Text&gt;&#10;          &lt;Text style={{ fontSize: 10.5, color: '#EDF1F5', marginTop: 3 }}&gt;次提交 / 小时&lt;/Text&gt;&#10;          &lt;Text style={{ fontSize: 9.5, color: '#8892A0', marginTop: 1 }}&gt;commits per hour&lt;/Text&gt;&#10;        &lt;/Box&gt;&#10;            &#10;        &lt;Box style={{ flex: 1 }}&gt;&#10;          &lt;Text style={{ fontSize: 20, fontWeight: 'bold', color: '#EDF1F5', fontFamily: &quot;'Source Han Serif SC','Noto Serif SC','Songti SC',serif&quot; }}&gt;8&lt;/Text&gt;&#10;          &lt;Text style={{ fontSize: 10.5, color: '#EDF1F5', marginTop: 3 }}&gt;位作者&lt;/Text&gt;&#10;          &lt;Text style={{ fontSize: 9.5, color: '#8892A0', marginTop: 1 }}&gt;distinct authors&lt;/Text&gt;&#10;        &lt;/Box&gt;&#10;          &lt;/Box&gt;&#10;          &lt;Text style={{ fontSize: 10, lineHeight: 1.5, color: '#6B7684', marginTop: 'auto' }}&gt;&#10;            机器人来源：clawsweeper[bot] ×1；平均每 2.3 分钟一次提交，活跃天数 1 天。&#10;            &lt;br /&gt;界面示例按钮（chalk / axios 等）仅为快捷输入，本次未对其中任何仓库运行测试。&#10;          &lt;/Text&gt;&#10;        &lt;/Box&gt;&#10;      &lt;/Box&gt;&#10;&#10;      &lt;Box style={{ flexDirection: 'row', gap: 16, height: 218, marginTop: 14 }}&gt;&#10;        &lt;Box style={{ flex: 1, padding: '13px 16px', background: '#1D242E', borderRadius: 10, border: '1px solid #232C38' }}&gt;&#10;          &lt;Text style={{ fontSize: 12, fontWeight: 'bold', color: '#EDF1F5' }}&gt;风险因子拆解 / Risk factors&lt;/Text&gt;&#10;          &lt;Text style={{ fontSize: 10, color: '#8892A0', marginTop: 3 }}&gt;总分 0 / 100 · 低&lt;/Text&gt;&#10;          &lt;Box style={{ marginTop: 12 }}&gt;&#10;            &#10;    &lt;Box style={{ flexDirection: 'row', alignItems: 'center', height: 21 }}&gt;&#10;      &lt;Text style={{ width: 132, fontSize: 11.5, color: '#A8B2BE' }}&gt;提交信息质量&lt;/Text&gt;&#10;      &lt;Box style={{ width: 118, height: 7, background: '#232C38', borderRadius: 4 }}&gt;&#10;        &lt;Box style={{ width: 2, height: 7, background: '#3A4553', borderRadius: 4 }} /&gt;&#10;      &lt;/Box&gt;&#10;      &lt;Text style={{ width: 52, fontSize: 11, color: '#3A4553', textAlign: 'right', letterSpacing: 0.5 }}&gt;0/25&lt;/Text&gt;&#10;      &lt;Text style={{ flex: 1, fontSize: 10.5, color: '#6B7684', marginLeft: 12 }}&gt;0 / 59 条无信息量&lt;/Text&gt;&#10;    &lt;/Box&gt;&#10;    &lt;Box style={{ flexDirection: 'row', alignItems: 'center', height: 21 }}&gt;&#10;      &lt;Text style={{ width: 132, fontSize: 11.5, color: '#A8B2BE' }}&gt;原地打转的文件&lt;/Text&gt;&#10;      &lt;Box style={{ width: 118, height: 7, background: '#232C38', borderRadius: 4 }}&gt;&#10;        &lt;Box style={{ width: 2, height: 7, background: '#3A4553', borderRadius: 4 }} /&gt;&#10;      &lt;/Box&gt;&#10;      &lt;Text style={{ width: 52, fontSize: 11, color: '#3A4553', textAlign: 'right', letterSpacing: 0.5 }}&gt;0/25&lt;/Text&gt;&#10;      &lt;Text style={{ flex: 1, fontSize: 10.5, color: '#6B7684', marginLeft: 12 }}&gt;0 个文件反复推翻&lt;/Text&gt;&#10;    &lt;/Box&gt;&#10;    &lt;Box style={{ flexDirection: 'row', alignItems: 'center', height: 21 }}&gt;&#10;      &lt;Text style={{ width: 132, fontSize: 11.5, color: '#A8B2BE' }}&gt;被放弃的尝试&lt;/Text&gt;&#10;      &lt;Box style={{ width: 118, height: 7, background: '#232C38', borderRadius: 4 }}&gt;&#10;        &lt;Box style={{ width: 2, height: 7, background: '#3A4553', borderRadius: 4 }} /&gt;&#10;      &lt;/Box&gt;&#10;      &lt;Text style={{ width: 52, fontSize: 11, color: '#3A4553', textAlign: 'right', letterSpacing: 0.5 }}&gt;0/20&lt;/Text&gt;&#10;      &lt;Text style={{ flex: 1, fontSize: 10.5, color: '#6B7684', marginLeft: 12 }}&gt;0 处已核实（另否定 1 处）&lt;/Text&gt;&#10;    &lt;/Box&gt;&#10;    &lt;Box style={{ flexDirection: 'row', alignItems: 'center', height: 21 }}&gt;&#10;      &lt;Text style={{ width: 132, fontSize: 11.5, color: '#A8B2BE' }}&gt;显式回滚&lt;/Text&gt;&#10;      &lt;Box style={{ width: 118, height: 7, background: '#232C38', borderRadius: 4 }}&gt;&#10;        &lt;Box style={{ width: 2, height: 7, background: '#3A4553', borderRadius: 4 }} /&gt;&#10;      &lt;/Box&gt;&#10;      &lt;Text style={{ width: 52, fontSize: 11, color: '#3A4553', textAlign: 'right', letterSpacing: 0.5 }}&gt;0/15&lt;/Text&gt;&#10;      &lt;Text style={{ flex: 1, fontSize: 10.5, color: '#6B7684', marginLeft: 12 }}&gt;0 次回滚提交&lt;/Text&gt;&#10;    &lt;/Box&gt;&#10;    &lt;Box style={{ flexDirection: 'row', alignItems: 'center', height: 21 }}&gt;&#10;      &lt;Text style={{ width: 132, fontSize: 11.5, color: '#A8B2BE' }}&gt;最长沉寂期&lt;/Text&gt;&#10;      &lt;Box style={{ width: 118, height: 7, background: '#232C38', borderRadius: 4 }}&gt;&#10;        &lt;Box style={{ width: 2, height: 7, background: '#3A4553', borderRadius: 4 }} /&gt;&#10;      &lt;/Box&gt;&#10;      &lt;Text style={{ width: 52, fontSize: 11, color: '#3A4553', textAlign: 'right', letterSpacing: 0.5 }}&gt;0/15&lt;/Text&gt;&#10;      &lt;Text style={{ flex: 1, fontSize: 10.5, color: '#6B7684', marginLeft: 12 }}&gt;0 天无人提交&lt;/Text&gt;&#10;    &lt;/Box&gt;&#10;          &lt;/Box&gt;&#10;        &lt;/Box&gt;&#10;        &lt;Box style={{ flex: 1, padding: '13px 16px', background: '#1D242E', borderRadius: 10, border: '1px solid #232C38' }}&gt;&#10;          &lt;Text style={{ fontSize: 12, fontWeight: 'bold', color: '#EDF1F5' }}&gt;其他可核查指标 / Other verifiable metrics&lt;/Text&gt;&#10;          &lt;Text style={{ fontSize: 11, lineHeight: 1.6, color: '#A8B2BE', marginTop: 8 }}&gt;&#10;            · 提交信息卫生：59 条提交中 0 条无信息量（含糊率 0%），平均信息长度 66 字符&lt;br /&gt;&#10;            · 显式回滚提交：0 次　·　单点归属文件：8 个&lt;br /&gt;&#10;            · 改动热度最高：src/agents/subagents/registry/subagent-registry-restart-recovery.test.ts&lt;br /&gt;&#10;            　（churn 909，净变化 -787，提交 18f1c11）&lt;br /&gt;&#10;            · 知识集中度：Peter Steinberger 一人 47 次提交（80%）、19,278 行改动、294 个文件&#10;          &lt;/Text&gt;&#10;          &lt;Text style={{ fontSize: 9.5, lineHeight: 1.45, color: '#6B7684', marginTop: 'auto' }}&gt;&#10;            All figures above are computed locally from the API response; the UI screenshot is a separate live run on the same day.&#10;          &lt;/Text&gt;&#10;        &lt;/Box&gt;&#10;      &lt;/Box&gt;&#10;    &lt;/Box&gt;&#10;&#10;  &lt;Box style={{ height: 32, justifyContent: 'center' }}&gt;&#10;    &lt;Text style={{ fontSize: 10, lineHeight: 1.4, color: '#6B7684', textAlign: 'right' }}&gt;第三方仓库来源 / Third-party source：openclaw/openclaw（TypeScript · 390,102 stars）· GitHub REST API v3 · 采集窗口 2026-09-20T00:07:32Z → 2026-09-20T02:23:19Z（UTC）&lt;/Text&gt;&#10;  &lt;/Box&gt;&#10;  &lt;Box style={{ height: 36, marginTop: 6, paddingTop: 8, borderTop: '1px solid #232C38', flexDirection: 'row', alignItems: 'flex-start', justifyContent: 'space-between' }}&gt;&#10;    &lt;Text style={{ fontSize: 12, color: '#8892A0' }}&gt;代码考古学 / Code Archaeology · BAYTECH 2026 · AI 应用与工程赛道&lt;/Text&gt;&#10;    &lt;Text style={{ fontSize: 12, color: '#8892A0' }}&gt;08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141A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3838575" cy="447675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2400" b="1">
                <a:solidFill>
                  <a:srgbClr val="EDF1F5"/>
                </a:solidFill>
                <a:latin typeface="Source Han Serif SC"/>
                <a:ea typeface="Source Han Serif SC"/>
              </a:rPr>
              <a:t>实测</a:t>
            </a:r>
            <a:r>
              <a:rPr lang="en-US" sz="2400" b="1">
                <a:solidFill>
                  <a:srgbClr val="EDF1F5"/>
                </a:solidFill>
                <a:latin typeface="Source Han Serif SC"/>
                <a:ea typeface="Source Han Serif SC"/>
              </a:rPr>
              <a:t> A · openclaw/openclaw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571500" y="819150"/>
            <a:ext cx="3838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spc="22">
                <a:solidFill>
                  <a:srgbClr val="8892A0"/>
                </a:solidFill>
                <a:latin typeface="PingFang SC"/>
                <a:ea typeface="PingFang SC"/>
              </a:rPr>
              <a:t>Measured A · openclaw/openclaw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9315450" y="866775"/>
            <a:ext cx="2305050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TypeScript · 390,102 stars · GitHub REST API v3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571500" y="1104900"/>
            <a:ext cx="4457700" cy="2276475"/>
          </a:xfrm>
          <a:prstGeom prst="roundRect">
            <a:avLst>
              <a:gd name="adj" fmla="val 4184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pic>
        <p:nvPicPr>
          <p:cNvPr id="472" name=""/>
          <p:cNvPicPr>
            <a:picLocks noChangeAspect="1"/>
          </p:cNvPicPr>
          <p:nvPr/>
        </p:nvPicPr>
        <p:blipFill>
          <a:blip r:embed="rId1"/>
          <a:srcRect l="0" t="39" r="0" b="39"/>
          <a:stretch>
            <a:fillRect/>
          </a:stretch>
        </p:blipFill>
        <p:spPr>
          <a:xfrm rot="0" flipH="0" flipV="0">
            <a:off x="647700" y="1181100"/>
            <a:ext cx="4305300" cy="2124075"/>
          </a:xfrm>
          <a:prstGeom prst="rect">
            <a:avLst/>
          </a:prstGeom>
          <a:ln/>
        </p:spPr>
      </p:pic>
      <p:sp>
        <p:nvSpPr>
          <p:cNvPr id="473" name=""/>
          <p:cNvSpPr/>
          <p:nvPr/>
        </p:nvSpPr>
        <p:spPr>
          <a:xfrm rot="0" flipH="0" flipV="0">
            <a:off x="5181600" y="1104900"/>
            <a:ext cx="6438900" cy="2152650"/>
          </a:xfrm>
          <a:prstGeom prst="roundRect">
            <a:avLst>
              <a:gd name="adj" fmla="val 4425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5334000" y="1238250"/>
            <a:ext cx="6134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DF1F5"/>
                </a:solidFill>
                <a:latin typeface="PingFang SC"/>
                <a:ea typeface="PingFang SC"/>
              </a:rPr>
              <a:t>本次实测关键数字</a:t>
            </a:r>
            <a:r>
              <a:rPr lang="en-US" sz="900" b="1">
                <a:solidFill>
                  <a:srgbClr val="EDF1F5"/>
                </a:solidFill>
                <a:latin typeface="PingFang SC"/>
                <a:ea typeface="PingFang SC"/>
              </a:rPr>
              <a:t> / Key measurements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5334000" y="1409700"/>
            <a:ext cx="6134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窗口</a:t>
            </a: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 2026-09-20T00:07:32Z → 2026-09-20T02:23:19Z</a:t>
            </a: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（</a:t>
            </a: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UTC</a:t>
            </a: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，共</a:t>
            </a: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 2h 15m 47s</a:t>
            </a: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5334000" y="1638300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DF1F5"/>
                </a:solidFill>
                <a:latin typeface="Source Han Serif SC"/>
                <a:ea typeface="Source Han Serif SC"/>
              </a:rPr>
              <a:t>60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5334000" y="1895475"/>
            <a:ext cx="2047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次提交已分析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5334000" y="2028825"/>
            <a:ext cx="20478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commits analysed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7381875" y="1638300"/>
            <a:ext cx="2038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4CB8A6"/>
                </a:solidFill>
                <a:latin typeface="Source Han Serif SC"/>
                <a:ea typeface="Source Han Serif SC"/>
              </a:rPr>
              <a:t>98%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7381875" y="1895475"/>
            <a:ext cx="20383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人类决策占比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7381875" y="2028825"/>
            <a:ext cx="2038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human signal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9420225" y="1638300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4CB8A6"/>
                </a:solidFill>
                <a:latin typeface="Source Han Serif SC"/>
                <a:ea typeface="Source Han Serif SC"/>
              </a:rPr>
              <a:t>0/100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9420225" y="1895475"/>
            <a:ext cx="2047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风险分（低）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9420225" y="2028825"/>
            <a:ext cx="20478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risk score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5334000" y="2276475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DF1F5"/>
                </a:solidFill>
                <a:latin typeface="Source Han Serif SC"/>
                <a:ea typeface="Source Han Serif SC"/>
              </a:rPr>
              <a:t>1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5334000" y="2533650"/>
            <a:ext cx="2047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次机器人提交（</a:t>
            </a:r>
            <a:r>
              <a:rPr lang="en-US" sz="788">
                <a:solidFill>
                  <a:srgbClr val="EDF1F5"/>
                </a:solidFill>
                <a:latin typeface="PingFang SC"/>
                <a:ea typeface="PingFang SC"/>
              </a:rPr>
              <a:t>2%</a:t>
            </a: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5334000" y="2667000"/>
            <a:ext cx="20478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bot commits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7381875" y="2276475"/>
            <a:ext cx="2038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3A33E"/>
                </a:solidFill>
                <a:latin typeface="Source Han Serif SC"/>
                <a:ea typeface="Source Han Serif SC"/>
              </a:rPr>
              <a:t>26.5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7381875" y="2533650"/>
            <a:ext cx="20383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次提交</a:t>
            </a:r>
            <a:r>
              <a:rPr lang="en-US" sz="788">
                <a:solidFill>
                  <a:srgbClr val="EDF1F5"/>
                </a:solidFill>
                <a:latin typeface="PingFang SC"/>
                <a:ea typeface="PingFang SC"/>
              </a:rPr>
              <a:t> / </a:t>
            </a: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小时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7381875" y="2667000"/>
            <a:ext cx="2038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commits per hour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9420225" y="2276475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DF1F5"/>
                </a:solidFill>
                <a:latin typeface="Source Han Serif SC"/>
                <a:ea typeface="Source Han Serif SC"/>
              </a:rPr>
              <a:t>8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9420225" y="2533650"/>
            <a:ext cx="2047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位作者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9420225" y="2667000"/>
            <a:ext cx="20478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distinct authors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5334000" y="2781300"/>
            <a:ext cx="61341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机器人来源：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clawsweeper[bot] ×1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；平均每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2.3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分钟一次提交，活跃天数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1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天。</a:t>
            </a:r>
            <a:endParaRPr/>
          </a:p>
          <a:p>
            <a:pPr>
              <a:lnSpc>
                <a:spcPct val="150000"/>
              </a:lnSpc>
            </a:pP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界面示例按钮（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chalk / axios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等）仅为快捷输入，本次未对其中任何仓库运行测试。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571500" y="3790950"/>
            <a:ext cx="5448300" cy="2076450"/>
          </a:xfrm>
          <a:prstGeom prst="roundRect">
            <a:avLst>
              <a:gd name="adj" fmla="val 4587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723900" y="3914775"/>
            <a:ext cx="5143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DF1F5"/>
                </a:solidFill>
                <a:latin typeface="PingFang SC"/>
                <a:ea typeface="PingFang SC"/>
              </a:rPr>
              <a:t>风险因子拆解</a:t>
            </a:r>
            <a:r>
              <a:rPr lang="en-US" sz="900" b="1">
                <a:solidFill>
                  <a:srgbClr val="EDF1F5"/>
                </a:solidFill>
                <a:latin typeface="PingFang SC"/>
                <a:ea typeface="PingFang SC"/>
              </a:rPr>
              <a:t> / Risk factors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723900" y="4086225"/>
            <a:ext cx="5143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总分</a:t>
            </a: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 0 / 100 · </a:t>
            </a: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低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723900" y="4352925"/>
            <a:ext cx="125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提交信息质量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1981200" y="4381500"/>
            <a:ext cx="1123950" cy="66675"/>
          </a:xfrm>
          <a:prstGeom prst="roundRect">
            <a:avLst>
              <a:gd name="adj" fmla="val 57143"/>
            </a:avLst>
          </a:prstGeom>
          <a:solidFill>
            <a:srgbClr val="232C38"/>
          </a:solidFill>
          <a:ln/>
        </p:spPr>
        <p:txBody>
          <a:bodyPr/>
          <a:p/>
        </p:txBody>
      </p:sp>
      <p:sp>
        <p:nvSpPr>
          <p:cNvPr id="500" name=""/>
          <p:cNvSpPr/>
          <p:nvPr/>
        </p:nvSpPr>
        <p:spPr>
          <a:xfrm rot="0" flipH="0" flipV="0">
            <a:off x="1981200" y="4381500"/>
            <a:ext cx="19050" cy="66675"/>
          </a:xfrm>
          <a:prstGeom prst="roundRect">
            <a:avLst>
              <a:gd name="adj" fmla="val 200000"/>
            </a:avLst>
          </a:prstGeom>
          <a:solidFill>
            <a:srgbClr val="3A4553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3105150" y="4352925"/>
            <a:ext cx="4953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 spc="38">
                <a:solidFill>
                  <a:srgbClr val="3A4553"/>
                </a:solidFill>
                <a:latin typeface="PingFang SC"/>
                <a:ea typeface="PingFang SC"/>
              </a:rPr>
              <a:t>0/25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3714750" y="4352925"/>
            <a:ext cx="21526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B7684"/>
                </a:solidFill>
                <a:latin typeface="PingFang SC"/>
                <a:ea typeface="PingFang SC"/>
              </a:rPr>
              <a:t>0 / 59 </a:t>
            </a:r>
            <a:r>
              <a:rPr lang="zh-CN" sz="788">
                <a:solidFill>
                  <a:srgbClr val="6B7684"/>
                </a:solidFill>
                <a:latin typeface="PingFang SC"/>
                <a:ea typeface="PingFang SC"/>
              </a:rPr>
              <a:t>条无信息量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723900" y="4552950"/>
            <a:ext cx="125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原地打转的文件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1981200" y="4581525"/>
            <a:ext cx="1123950" cy="66675"/>
          </a:xfrm>
          <a:prstGeom prst="roundRect">
            <a:avLst>
              <a:gd name="adj" fmla="val 57143"/>
            </a:avLst>
          </a:prstGeom>
          <a:solidFill>
            <a:srgbClr val="232C38"/>
          </a:solidFill>
          <a:ln/>
        </p:spPr>
        <p:txBody>
          <a:bodyPr/>
          <a:p/>
        </p:txBody>
      </p:sp>
      <p:sp>
        <p:nvSpPr>
          <p:cNvPr id="505" name=""/>
          <p:cNvSpPr/>
          <p:nvPr/>
        </p:nvSpPr>
        <p:spPr>
          <a:xfrm rot="0" flipH="0" flipV="0">
            <a:off x="1981200" y="4581525"/>
            <a:ext cx="19050" cy="66675"/>
          </a:xfrm>
          <a:prstGeom prst="roundRect">
            <a:avLst>
              <a:gd name="adj" fmla="val 200000"/>
            </a:avLst>
          </a:prstGeom>
          <a:solidFill>
            <a:srgbClr val="3A4553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3105150" y="4552950"/>
            <a:ext cx="4953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 spc="38">
                <a:solidFill>
                  <a:srgbClr val="3A4553"/>
                </a:solidFill>
                <a:latin typeface="PingFang SC"/>
                <a:ea typeface="PingFang SC"/>
              </a:rPr>
              <a:t>0/25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3714750" y="4552950"/>
            <a:ext cx="21526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B7684"/>
                </a:solidFill>
                <a:latin typeface="PingFang SC"/>
                <a:ea typeface="PingFang SC"/>
              </a:rPr>
              <a:t>0 </a:t>
            </a:r>
            <a:r>
              <a:rPr lang="zh-CN" sz="788">
                <a:solidFill>
                  <a:srgbClr val="6B7684"/>
                </a:solidFill>
                <a:latin typeface="PingFang SC"/>
                <a:ea typeface="PingFang SC"/>
              </a:rPr>
              <a:t>个文件反复推翻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723900" y="4752975"/>
            <a:ext cx="125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被放弃的尝试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1981200" y="4781550"/>
            <a:ext cx="1123950" cy="66675"/>
          </a:xfrm>
          <a:prstGeom prst="roundRect">
            <a:avLst>
              <a:gd name="adj" fmla="val 57143"/>
            </a:avLst>
          </a:prstGeom>
          <a:solidFill>
            <a:srgbClr val="232C38"/>
          </a:solidFill>
          <a:ln/>
        </p:spPr>
        <p:txBody>
          <a:bodyPr/>
          <a:p/>
        </p:txBody>
      </p:sp>
      <p:sp>
        <p:nvSpPr>
          <p:cNvPr id="510" name=""/>
          <p:cNvSpPr/>
          <p:nvPr/>
        </p:nvSpPr>
        <p:spPr>
          <a:xfrm rot="0" flipH="0" flipV="0">
            <a:off x="1981200" y="4781550"/>
            <a:ext cx="19050" cy="66675"/>
          </a:xfrm>
          <a:prstGeom prst="roundRect">
            <a:avLst>
              <a:gd name="adj" fmla="val 200000"/>
            </a:avLst>
          </a:prstGeom>
          <a:solidFill>
            <a:srgbClr val="3A4553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3105150" y="4752975"/>
            <a:ext cx="4953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 spc="38">
                <a:solidFill>
                  <a:srgbClr val="3A4553"/>
                </a:solidFill>
                <a:latin typeface="PingFang SC"/>
                <a:ea typeface="PingFang SC"/>
              </a:rPr>
              <a:t>0/20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3714750" y="4752975"/>
            <a:ext cx="21526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B7684"/>
                </a:solidFill>
                <a:latin typeface="PingFang SC"/>
                <a:ea typeface="PingFang SC"/>
              </a:rPr>
              <a:t>0 </a:t>
            </a:r>
            <a:r>
              <a:rPr lang="zh-CN" sz="788">
                <a:solidFill>
                  <a:srgbClr val="6B7684"/>
                </a:solidFill>
                <a:latin typeface="PingFang SC"/>
                <a:ea typeface="PingFang SC"/>
              </a:rPr>
              <a:t>处已核实（另否定</a:t>
            </a:r>
            <a:r>
              <a:rPr lang="en-US" sz="788">
                <a:solidFill>
                  <a:srgbClr val="6B7684"/>
                </a:solidFill>
                <a:latin typeface="PingFang SC"/>
                <a:ea typeface="PingFang SC"/>
              </a:rPr>
              <a:t> 1 </a:t>
            </a:r>
            <a:r>
              <a:rPr lang="zh-CN" sz="788">
                <a:solidFill>
                  <a:srgbClr val="6B7684"/>
                </a:solidFill>
                <a:latin typeface="PingFang SC"/>
                <a:ea typeface="PingFang SC"/>
              </a:rPr>
              <a:t>处）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723900" y="4953000"/>
            <a:ext cx="125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显式回滚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1981200" y="4981575"/>
            <a:ext cx="1123950" cy="66675"/>
          </a:xfrm>
          <a:prstGeom prst="roundRect">
            <a:avLst>
              <a:gd name="adj" fmla="val 57143"/>
            </a:avLst>
          </a:prstGeom>
          <a:solidFill>
            <a:srgbClr val="232C38"/>
          </a:solidFill>
          <a:ln/>
        </p:spPr>
        <p:txBody>
          <a:bodyPr/>
          <a:p/>
        </p:txBody>
      </p:sp>
      <p:sp>
        <p:nvSpPr>
          <p:cNvPr id="515" name=""/>
          <p:cNvSpPr/>
          <p:nvPr/>
        </p:nvSpPr>
        <p:spPr>
          <a:xfrm rot="0" flipH="0" flipV="0">
            <a:off x="1981200" y="4981575"/>
            <a:ext cx="19050" cy="66675"/>
          </a:xfrm>
          <a:prstGeom prst="roundRect">
            <a:avLst>
              <a:gd name="adj" fmla="val 200000"/>
            </a:avLst>
          </a:prstGeom>
          <a:solidFill>
            <a:srgbClr val="3A4553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3105150" y="4953000"/>
            <a:ext cx="4953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 spc="38">
                <a:solidFill>
                  <a:srgbClr val="3A4553"/>
                </a:solidFill>
                <a:latin typeface="PingFang SC"/>
                <a:ea typeface="PingFang SC"/>
              </a:rPr>
              <a:t>0/15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3714750" y="4953000"/>
            <a:ext cx="21526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B7684"/>
                </a:solidFill>
                <a:latin typeface="PingFang SC"/>
                <a:ea typeface="PingFang SC"/>
              </a:rPr>
              <a:t>0 </a:t>
            </a:r>
            <a:r>
              <a:rPr lang="zh-CN" sz="788">
                <a:solidFill>
                  <a:srgbClr val="6B7684"/>
                </a:solidFill>
                <a:latin typeface="PingFang SC"/>
                <a:ea typeface="PingFang SC"/>
              </a:rPr>
              <a:t>次回滚提交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723900" y="5153025"/>
            <a:ext cx="125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最长沉寂期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1981200" y="5181600"/>
            <a:ext cx="1123950" cy="66675"/>
          </a:xfrm>
          <a:prstGeom prst="roundRect">
            <a:avLst>
              <a:gd name="adj" fmla="val 57143"/>
            </a:avLst>
          </a:prstGeom>
          <a:solidFill>
            <a:srgbClr val="232C38"/>
          </a:solidFill>
          <a:ln/>
        </p:spPr>
        <p:txBody>
          <a:bodyPr/>
          <a:p/>
        </p:txBody>
      </p:sp>
      <p:sp>
        <p:nvSpPr>
          <p:cNvPr id="520" name=""/>
          <p:cNvSpPr/>
          <p:nvPr/>
        </p:nvSpPr>
        <p:spPr>
          <a:xfrm rot="0" flipH="0" flipV="0">
            <a:off x="1981200" y="5181600"/>
            <a:ext cx="19050" cy="66675"/>
          </a:xfrm>
          <a:prstGeom prst="roundRect">
            <a:avLst>
              <a:gd name="adj" fmla="val 200000"/>
            </a:avLst>
          </a:prstGeom>
          <a:solidFill>
            <a:srgbClr val="3A4553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3105150" y="5153025"/>
            <a:ext cx="4953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 spc="38">
                <a:solidFill>
                  <a:srgbClr val="3A4553"/>
                </a:solidFill>
                <a:latin typeface="PingFang SC"/>
                <a:ea typeface="PingFang SC"/>
              </a:rPr>
              <a:t>0/15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3714750" y="5153025"/>
            <a:ext cx="21526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B7684"/>
                </a:solidFill>
                <a:latin typeface="PingFang SC"/>
                <a:ea typeface="PingFang SC"/>
              </a:rPr>
              <a:t>0 </a:t>
            </a:r>
            <a:r>
              <a:rPr lang="zh-CN" sz="788">
                <a:solidFill>
                  <a:srgbClr val="6B7684"/>
                </a:solidFill>
                <a:latin typeface="PingFang SC"/>
                <a:ea typeface="PingFang SC"/>
              </a:rPr>
              <a:t>天无人提交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6172200" y="3790950"/>
            <a:ext cx="5448300" cy="2076450"/>
          </a:xfrm>
          <a:prstGeom prst="roundRect">
            <a:avLst>
              <a:gd name="adj" fmla="val 4587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6324600" y="3914775"/>
            <a:ext cx="5143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DF1F5"/>
                </a:solidFill>
                <a:latin typeface="PingFang SC"/>
                <a:ea typeface="PingFang SC"/>
              </a:rPr>
              <a:t>其他可核查指标</a:t>
            </a:r>
            <a:r>
              <a:rPr lang="en-US" sz="900" b="1">
                <a:solidFill>
                  <a:srgbClr val="EDF1F5"/>
                </a:solidFill>
                <a:latin typeface="PingFang SC"/>
                <a:ea typeface="PingFang SC"/>
              </a:rPr>
              <a:t> / Other verifiable metrics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6324600" y="4133850"/>
            <a:ext cx="5143500" cy="1009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提交信息卫生：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59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条提交中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0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条无信息量（含糊率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0%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），平均信息长度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66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字符</a:t>
            </a:r>
            <a:endParaRPr/>
          </a:p>
          <a:p>
            <a:pPr>
              <a:lnSpc>
                <a:spcPct val="160000"/>
              </a:lnSpc>
            </a:pP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显式回滚提交：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0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次　·　单点归属文件：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8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个</a:t>
            </a:r>
            <a:endParaRPr/>
          </a:p>
          <a:p>
            <a:pPr>
              <a:lnSpc>
                <a:spcPct val="160000"/>
              </a:lnSpc>
            </a:pP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改动热度最高：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src/agents/subagents/registry/subagent-registry-restart-recovery.test.ts</a:t>
            </a:r>
            <a:endParaRPr/>
          </a:p>
          <a:p>
            <a:pPr>
              <a:lnSpc>
                <a:spcPct val="160000"/>
              </a:lnSpc>
            </a:pP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　（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churn 909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，净变化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-787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，提交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18f1c11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）</a:t>
            </a:r>
            <a:endParaRPr/>
          </a:p>
          <a:p>
            <a:pPr>
              <a:lnSpc>
                <a:spcPct val="160000"/>
              </a:lnSpc>
            </a:pP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知识集中度：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Peter Steinberger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一人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47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次提交（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80%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）、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19,278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行改动、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294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个文件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6324600" y="5581650"/>
            <a:ext cx="5143500" cy="1619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All figures above are computed locally from the API response; the UI screenshot is a separate live run on the same day.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571500" y="5943600"/>
            <a:ext cx="11049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第三方仓库来源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/ Third-party source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：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openclaw/openclaw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（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TypeScript · 390,102 stars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）·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GitHub REST API v3 ·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采集窗口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2026-09-20T00:07:32Z → 2026-09-20T02:23:19Z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（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UTC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571500" y="6229350"/>
            <a:ext cx="11049000" cy="342900"/>
          </a:xfrm>
          <a:custGeom>
            <a:pathLst>
              <a:path w="1160" h="36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571500" y="6315075"/>
            <a:ext cx="3743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代码考古学</a:t>
            </a: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 / Code Archaeology · BAYTECH 2026 · AI </a:t>
            </a: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应用与工程赛道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11229975" y="63150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1" name="" descr="&lt;Slide style={{ width: '1280px', height: '720px', padding: '20px 60px', background: '#10141A', fontFamily: &quot;'PingFang SC','Microsoft YaHei','Helvetica Neue',sans-serif&quot;, flexDirection: 'column' }}&gt;&#10;&#10;  &lt;Box style={{ height: 96, justifyContent: 'center' }}&gt;&#10;    &lt;Box style={{ flexDirection: 'row', alignItems: 'flex-end', justifyContent: 'space-between' }}&gt;&#10;      &lt;Box&gt;&#10;        &lt;Text style={{ fontSize: 32, fontWeight: 'bold', lineHeight: 1.22, color: '#EDF1F5', fontFamily: &quot;'Source Han Serif SC','Noto Serif SC','Songti SC',serif&quot; }}&gt;实测 B · ody-cai/topfo&lt;/Text&gt;&#10;        &lt;Text style={{ fontSize: 14.5, color: '#8892A0', marginTop: 7, letterSpacing: 0.3 }}&gt;Measured B · ody-cai/topfo&lt;/Text&gt;&#10;      &lt;/Box&gt;&#10;      &lt;Text style={{ fontSize: 10.5, color: '#8892A0', textAlign: 'right' }}&gt;HTML · 2 stars · 73 天跨度 · GitHub REST API v3&lt;/Text&gt;&#10;    &lt;/Box&gt;&#10;  &lt;/Box&gt;&#10;    &lt;Box style={{ height: 500 }}&gt;&#10;      &lt;Box style={{ flexDirection: 'row', gap: 16, height: 268, alignItems: 'flex-start' }}&gt;&#10;        &lt;Box style={{ width: 468, padding: 8, background: '#1D242E', borderRadius: 10, border: '1px solid #232C38' }}&gt;&#10;          &lt;Image src=&quot;/Users/odycai/WorkBuddy/BAYTECH26黑客松/outputs/代码考古学-评委展示PPT/assets/topfo-top.png&quot; style={{ width: 452, height: 223 }} /&gt;&#10;        &lt;/Box&gt;&#10;        &lt;Box style={{ flex: 1, padding: '14px 16px', background: '#1D242E', borderRadius: 10, border: '1px solid #232C38' }}&gt;&#10;          &lt;Text style={{ fontSize: 12, fontWeight: 'bold', color: '#EDF1F5' }}&gt;本次实测关键数字 / Key measurements&lt;/Text&gt;&#10;          &lt;Text style={{ fontSize: 10, color: '#8892A0', marginTop: 3 }}&gt;窗口 2026-07-09T02:38:58Z → 2026-09-20T01:53:29Z（UTC，共 73 天；活跃 10 天）&lt;/Text&gt;&#10;          &lt;Box style={{ flexDirection: 'row', marginTop: 12 }}&gt;&#10;            &#10;        &lt;Box style={{ flex: 1 }}&gt;&#10;          &lt;Text style={{ fontSize: 20, fontWeight: 'bold', color: '#EDF1F5', fontFamily: &quot;'Source Han Serif SC','Noto Serif SC','Songti SC',serif&quot; }}&gt;23&lt;/Text&gt;&#10;          &lt;Text style={{ fontSize: 10.5, color: '#EDF1F5', marginTop: 3 }}&gt;次提交已分析&lt;/Text&gt;&#10;          &lt;Text style={{ fontSize: 9.5, color: '#8892A0', marginTop: 1 }}&gt;commits analysed&lt;/Text&gt;&#10;        &lt;/Box&gt;&#10;            &#10;        &lt;Box style={{ flex: 1 }}&gt;&#10;          &lt;Text style={{ fontSize: 20, fontWeight: 'bold', color: '#E3A33E', fontFamily: &quot;'Source Han Serif SC','Noto Serif SC','Songti SC',serif&quot; }}&gt;53/100&lt;/Text&gt;&#10;          &lt;Text style={{ fontSize: 10.5, color: '#EDF1F5', marginTop: 3 }}&gt;风险分（中）&lt;/Text&gt;&#10;          &lt;Text style={{ fontSize: 9.5, color: '#8892A0', marginTop: 1 }}&gt;risk score&lt;/Text&gt;&#10;        &lt;/Box&gt;&#10;            &#10;        &lt;Box style={{ flex: 1 }}&gt;&#10;          &lt;Text style={{ fontSize: 20, fontWeight: 'bold', color: '#E3A33E', fontFamily: &quot;'Source Han Serif SC','Noto Serif SC','Songti SC',serif&quot; }}&gt;7&lt;/Text&gt;&#10;          &lt;Text style={{ fontSize: 10.5, color: '#EDF1F5', marginTop: 3 }}&gt;处被放弃的尝试&lt;/Text&gt;&#10;          &lt;Text style={{ fontSize: 9.5, color: '#8892A0', marginTop: 1 }}&gt;abandoned attempts&lt;/Text&gt;&#10;        &lt;/Box&gt;&#10;          &lt;/Box&gt;&#10;          &lt;Box style={{ flexDirection: 'row', marginTop: 14 }}&gt;&#10;            &#10;        &lt;Box style={{ flex: 1 }}&gt;&#10;          &lt;Text style={{ fontSize: 20, fontWeight: 'bold', color: '#4CB8A6', fontFamily: &quot;'Source Han Serif SC','Noto Serif SC','Songti SC',serif&quot; }}&gt;0&lt;/Text&gt;&#10;          &lt;Text style={{ fontSize: 10.5, color: '#EDF1F5', marginTop: 3 }}&gt;条含糊提交&lt;/Text&gt;&#10;          &lt;Text style={{ fontSize: 9.5, color: '#8892A0', marginTop: 1 }}&gt;vague messages&lt;/Text&gt;&#10;        &lt;/Box&gt;&#10;            &#10;        &lt;Box style={{ flex: 1 }}&gt;&#10;          &lt;Text style={{ fontSize: 20, fontWeight: 'bold', color: '#E3A33E', fontFamily: &quot;'Source Han Serif SC','Noto Serif SC','Songti SC',serif&quot; }}&gt;9&lt;/Text&gt;&#10;          &lt;Text style={{ fontSize: 10.5, color: '#EDF1F5', marginTop: 3 }}&gt;个文件原地打转&lt;/Text&gt;&#10;          &lt;Text style={{ fontSize: 9.5, color: '#8892A0', marginTop: 1 }}&gt;thrashing files&lt;/Text&gt;&#10;        &lt;/Box&gt;&#10;            &#10;        &lt;Box style={{ flex: 1 }}&gt;&#10;          &lt;Text style={{ fontSize: 20, fontWeight: 'bold', color: '#E3A33E', fontFamily: &quot;'Source Han Serif SC','Noto Serif SC','Songti SC',serif&quot; }}&gt;62 天&lt;/Text&gt;&#10;          &lt;Text style={{ fontSize: 10.5, color: '#EDF1F5', marginTop: 3 }}&gt;最长沉寂期&lt;/Text&gt;&#10;          &lt;Text style={{ fontSize: 9.5, color: '#8892A0', marginTop: 1 }}&gt;longest dormant gap&lt;/Text&gt;&#10;        &lt;/Box&gt;&#10;          &lt;/Box&gt;&#10;          &lt;Text style={{ fontSize: 10, lineHeight: 1.5, color: '#6B7684', marginTop: 'auto' }}&gt;&#10;            机器人提交 0 次（0%）；平均每 3.2 天一次提交；沉寂期 2026-07-09T06:11:32Z → 2026-09-09T01:23:43Z。&#10;          &lt;/Text&gt;&#10;        &lt;/Box&gt;&#10;      &lt;/Box&gt;&#10;&#10;      &lt;Box style={{ flexDirection: 'row', gap: 16, height: 218, marginTop: 14 }}&gt;&#10;        &lt;Box style={{ flex: 1, padding: '13px 16px', background: '#1D242E', borderRadius: 10, border: '1px solid #232C38' }}&gt;&#10;          &lt;Text style={{ fontSize: 12, fontWeight: 'bold', color: '#EDF1F5' }}&gt;风险因子拆解 / Risk factors&lt;/Text&gt;&#10;          &lt;Text style={{ fontSize: 10, color: '#8892A0', marginTop: 3 }}&gt;总分 53 / 100 · 中&lt;/Text&gt;&#10;          &lt;Box style={{ marginTop: 12 }}&gt;&#10;            &#10;    &lt;Box style={{ flexDirection: 'row', alignItems: 'center', height: 21 }}&gt;&#10;      &lt;Text style={{ width: 132, fontSize: 11.5, color: '#A8B2BE' }}&gt;提交信息质量&lt;/Text&gt;&#10;      &lt;Box style={{ width: 118, height: 7, background: '#232C38', borderRadius: 4 }}&gt;&#10;        &lt;Box style={{ width: 2, height: 7, background: '#3A4553', borderRadius: 4 }} /&gt;&#10;      &lt;/Box&gt;&#10;      &lt;Text style={{ width: 52, fontSize: 11, color: '#3A4553', textAlign: 'right', letterSpacing: 0.5 }}&gt;0/25&lt;/Text&gt;&#10;      &lt;Text style={{ flex: 1, fontSize: 10.5, color: '#6B7684', marginLeft: 12 }}&gt;0 / 23 条无信息量&lt;/Text&gt;&#10;    &lt;/Box&gt;&#10;    &lt;Box style={{ flexDirection: 'row', alignItems: 'center', height: 21 }}&gt;&#10;      &lt;Text style={{ width: 132, fontSize: 11.5, color: '#A8B2BE' }}&gt;原地打转的文件&lt;/Text&gt;&#10;      &lt;Box style={{ width: 118, height: 7, background: '#232C38', borderRadius: 4 }}&gt;&#10;        &lt;Box style={{ width: 118, height: 7, background: '#E3A33E', borderRadius: 4 }} /&gt;&#10;      &lt;/Box&gt;&#10;      &lt;Text style={{ width: 52, fontSize: 11, color: '#E3A33E', textAlign: 'right', letterSpacing: 0.5 }}&gt;25/25&lt;/Text&gt;&#10;      &lt;Text style={{ flex: 1, fontSize: 10.5, color: '#6B7684', marginLeft: 12 }}&gt;9 个文件反复推翻&lt;/Text&gt;&#10;    &lt;/Box&gt;&#10;    &lt;Box style={{ flexDirection: 'row', alignItems: 'center', height: 21 }}&gt;&#10;      &lt;Text style={{ width: 132, fontSize: 11.5, color: '#A8B2BE' }}&gt;被放弃的尝试&lt;/Text&gt;&#10;      &lt;Box style={{ width: 118, height: 7, background: '#232C38', borderRadius: 4 }}&gt;&#10;        &lt;Box style={{ width: 118, height: 7, background: '#E3A33E', borderRadius: 4 }} /&gt;&#10;      &lt;/Box&gt;&#10;      &lt;Text style={{ width: 52, fontSize: 11, color: '#E3A33E', textAlign: 'right', letterSpacing: 0.5 }}&gt;20/20&lt;/Text&gt;&#10;      &lt;Text style={{ flex: 1, fontSize: 10.5, color: '#6B7684', marginLeft: 12 }}&gt;7 处已核实（另否定 0 处）&lt;/Text&gt;&#10;    &lt;/Box&gt;&#10;    &lt;Box style={{ flexDirection: 'row', alignItems: 'center', height: 21 }}&gt;&#10;      &lt;Text style={{ width: 132, fontSize: 11.5, color: '#A8B2BE' }}&gt;显式回滚&lt;/Text&gt;&#10;      &lt;Box style={{ width: 118, height: 7, background: '#232C38', borderRadius: 4 }}&gt;&#10;        &lt;Box style={{ width: 2, height: 7, background: '#3A4553', borderRadius: 4 }} /&gt;&#10;      &lt;/Box&gt;&#10;      &lt;Text style={{ width: 52, fontSize: 11, color: '#3A4553', textAlign: 'right', letterSpacing: 0.5 }}&gt;0/15&lt;/Text&gt;&#10;      &lt;Text style={{ flex: 1, fontSize: 10.5, color: '#6B7684', marginLeft: 12 }}&gt;0 次回滚提交&lt;/Text&gt;&#10;    &lt;/Box&gt;&#10;    &lt;Box style={{ flexDirection: 'row', alignItems: 'center', height: 21 }}&gt;&#10;      &lt;Text style={{ width: 132, fontSize: 11.5, color: '#A8B2BE' }}&gt;最长沉寂期&lt;/Text&gt;&#10;      &lt;Box style={{ width: 118, height: 7, background: '#232C38', borderRadius: 4 }}&gt;&#10;        &lt;Box style={{ width: 63, height: 7, background: '#E3A33E', borderRadius: 4 }} /&gt;&#10;      &lt;/Box&gt;&#10;      &lt;Text style={{ width: 52, fontSize: 11, color: '#E3A33E', textAlign: 'right', letterSpacing: 0.5 }}&gt;8/15&lt;/Text&gt;&#10;      &lt;Text style={{ flex: 1, fontSize: 10.5, color: '#6B7684', marginLeft: 12 }}&gt;62 天无人提交&lt;/Text&gt;&#10;    &lt;/Box&gt;&#10;          &lt;/Box&gt;&#10;        &lt;/Box&gt;&#10;        &lt;Box style={{ flex: 1, padding: '13px 16px', background: '#1D242E', borderRadius: 10, border: '1px solid #232C38' }}&gt;&#10;          &lt;Text style={{ fontSize: 12, fontWeight: 'bold', color: '#EDF1F5' }}&gt;其他可核查指标 / Other verifiable metrics&lt;/Text&gt;&#10;          &lt;Text style={{ fontSize: 11, lineHeight: 1.75, color: '#A8B2BE', marginTop: 8 }}&gt;&#10;            · 提交信息卫生：23 条提交中 0 条无信息量（含糊率 0%），平均信息长度 85 字符&lt;br /&gt;&#10;            · 显式回滚提交：0 次&lt;br /&gt;&#10;            · 改动热度前三：topfo-app/app/src/main/res/raw/schools.json（churn 6,462）、&lt;br /&gt;&#10;            　　review_results.json（churn 5,766）、public/pages/tracker.html（churn 1,946，4 次改动）&lt;br /&gt;&#10;            · 单点归属文件：10 个&lt;br /&gt;&#10;            · 知识集中度：ody-cai 一人 22 次提交（96%）、44,534 行改动、167 个文件&#10;          &lt;/Text&gt;&#10;        &lt;/Box&gt;&#10;      &lt;/Box&gt;&#10;    &lt;/Box&gt;&#10;&#10;  &lt;Box style={{ height: 32, justifyContent: 'center' }}&gt;&#10;    &lt;Text style={{ fontSize: 10, lineHeight: 1.4, color: '#6B7684', textAlign: 'right' }}&gt;第三方仓库来源 / Third-party source：ody-cai/topfo（HTML · 2 stars）· GitHub REST API v3 · 采集窗口 2026-07-09T02:38:58Z → 2026-09-20T01:53:29Z（UTC）&lt;/Text&gt;&#10;  &lt;/Box&gt;&#10;  &lt;Box style={{ height: 36, marginTop: 6, paddingTop: 8, borderTop: '1px solid #232C38', flexDirection: 'row', alignItems: 'flex-start', justifyContent: 'space-between' }}&gt;&#10;    &lt;Text style={{ fontSize: 12, color: '#8892A0' }}&gt;代码考古学 / Code Archaeology · BAYTECH 2026 · AI 应用与工程赛道&lt;/Text&gt;&#10;    &lt;Text style={{ fontSize: 12, color: '#8892A0' }}&gt;09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141A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3057525" cy="447675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2400" b="1">
                <a:solidFill>
                  <a:srgbClr val="EDF1F5"/>
                </a:solidFill>
                <a:latin typeface="Source Han Serif SC"/>
                <a:ea typeface="Source Han Serif SC"/>
              </a:rPr>
              <a:t>实测</a:t>
            </a:r>
            <a:r>
              <a:rPr lang="en-US" sz="2400" b="1">
                <a:solidFill>
                  <a:srgbClr val="EDF1F5"/>
                </a:solidFill>
                <a:latin typeface="Source Han Serif SC"/>
                <a:ea typeface="Source Han Serif SC"/>
              </a:rPr>
              <a:t> B · ody-cai/topfo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571500" y="819150"/>
            <a:ext cx="3057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spc="22">
                <a:solidFill>
                  <a:srgbClr val="8892A0"/>
                </a:solidFill>
                <a:latin typeface="PingFang SC"/>
                <a:ea typeface="PingFang SC"/>
              </a:rPr>
              <a:t>Measured B · ody-cai/topfo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9277350" y="866775"/>
            <a:ext cx="2343150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HTML · 2 stars · 73 </a:t>
            </a:r>
            <a:r>
              <a:rPr lang="zh-CN" sz="788">
                <a:solidFill>
                  <a:srgbClr val="8892A0"/>
                </a:solidFill>
                <a:latin typeface="PingFang SC"/>
                <a:ea typeface="PingFang SC"/>
              </a:rPr>
              <a:t>天跨度</a:t>
            </a:r>
            <a:r>
              <a:rPr lang="en-US" sz="788">
                <a:solidFill>
                  <a:srgbClr val="8892A0"/>
                </a:solidFill>
                <a:latin typeface="PingFang SC"/>
                <a:ea typeface="PingFang SC"/>
              </a:rPr>
              <a:t> · GitHub REST API v3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571500" y="1104900"/>
            <a:ext cx="4457700" cy="2276475"/>
          </a:xfrm>
          <a:prstGeom prst="roundRect">
            <a:avLst>
              <a:gd name="adj" fmla="val 4184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pic>
        <p:nvPicPr>
          <p:cNvPr id="537" name=""/>
          <p:cNvPicPr>
            <a:picLocks noChangeAspect="1"/>
          </p:cNvPicPr>
          <p:nvPr/>
        </p:nvPicPr>
        <p:blipFill>
          <a:blip r:embed="rId1"/>
          <a:srcRect l="0" t="39" r="0" b="39"/>
          <a:stretch>
            <a:fillRect/>
          </a:stretch>
        </p:blipFill>
        <p:spPr>
          <a:xfrm rot="0" flipH="0" flipV="0">
            <a:off x="647700" y="1181100"/>
            <a:ext cx="4305300" cy="2124075"/>
          </a:xfrm>
          <a:prstGeom prst="rect">
            <a:avLst/>
          </a:prstGeom>
          <a:ln/>
        </p:spPr>
      </p:pic>
      <p:sp>
        <p:nvSpPr>
          <p:cNvPr id="538" name=""/>
          <p:cNvSpPr/>
          <p:nvPr/>
        </p:nvSpPr>
        <p:spPr>
          <a:xfrm rot="0" flipH="0" flipV="0">
            <a:off x="5181600" y="1104900"/>
            <a:ext cx="6438900" cy="1981200"/>
          </a:xfrm>
          <a:prstGeom prst="roundRect">
            <a:avLst>
              <a:gd name="adj" fmla="val 4808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5334000" y="1238250"/>
            <a:ext cx="6134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DF1F5"/>
                </a:solidFill>
                <a:latin typeface="PingFang SC"/>
                <a:ea typeface="PingFang SC"/>
              </a:rPr>
              <a:t>本次实测关键数字</a:t>
            </a:r>
            <a:r>
              <a:rPr lang="en-US" sz="900" b="1">
                <a:solidFill>
                  <a:srgbClr val="EDF1F5"/>
                </a:solidFill>
                <a:latin typeface="PingFang SC"/>
                <a:ea typeface="PingFang SC"/>
              </a:rPr>
              <a:t> / Key measurements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5334000" y="1409700"/>
            <a:ext cx="6134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窗口</a:t>
            </a: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 2026-07-09T02:38:58Z → 2026-09-20T01:53:29Z</a:t>
            </a: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（</a:t>
            </a: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UTC</a:t>
            </a: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，共</a:t>
            </a: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 73 </a:t>
            </a: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天；活跃</a:t>
            </a: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 10 </a:t>
            </a: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天）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5334000" y="1638300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DF1F5"/>
                </a:solidFill>
                <a:latin typeface="Source Han Serif SC"/>
                <a:ea typeface="Source Han Serif SC"/>
              </a:rPr>
              <a:t>23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5334000" y="1895475"/>
            <a:ext cx="2047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次提交已分析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5334000" y="2028825"/>
            <a:ext cx="20478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commits analysed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7381875" y="1638300"/>
            <a:ext cx="2038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3A33E"/>
                </a:solidFill>
                <a:latin typeface="Source Han Serif SC"/>
                <a:ea typeface="Source Han Serif SC"/>
              </a:rPr>
              <a:t>53/100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7381875" y="1895475"/>
            <a:ext cx="20383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风险分（中）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381875" y="2028825"/>
            <a:ext cx="2038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risk score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9420225" y="1638300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3A33E"/>
                </a:solidFill>
                <a:latin typeface="Source Han Serif SC"/>
                <a:ea typeface="Source Han Serif SC"/>
              </a:rPr>
              <a:t>7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9420225" y="1895475"/>
            <a:ext cx="2047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处被放弃的尝试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9420225" y="2028825"/>
            <a:ext cx="20478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abandoned attempts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5334000" y="2276475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4CB8A6"/>
                </a:solidFill>
                <a:latin typeface="Source Han Serif SC"/>
                <a:ea typeface="Source Han Serif SC"/>
              </a:rPr>
              <a:t>0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5334000" y="2533650"/>
            <a:ext cx="2047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条含糊提交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5334000" y="2667000"/>
            <a:ext cx="20478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vague messages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7381875" y="2276475"/>
            <a:ext cx="2038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3A33E"/>
                </a:solidFill>
                <a:latin typeface="Source Han Serif SC"/>
                <a:ea typeface="Source Han Serif SC"/>
              </a:rPr>
              <a:t>9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7381875" y="2533650"/>
            <a:ext cx="20383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个文件原地打转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7381875" y="2667000"/>
            <a:ext cx="2038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thrashing files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9420225" y="2276475"/>
            <a:ext cx="2047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3A33E"/>
                </a:solidFill>
                <a:latin typeface="Source Han Serif SC"/>
                <a:ea typeface="Source Han Serif SC"/>
              </a:rPr>
              <a:t>62 </a:t>
            </a:r>
            <a:r>
              <a:rPr lang="zh-CN" sz="1500" b="1">
                <a:solidFill>
                  <a:srgbClr val="E3A33E"/>
                </a:solidFill>
                <a:latin typeface="Source Han Serif SC"/>
                <a:ea typeface="Source Han Serif SC"/>
              </a:rPr>
              <a:t>天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9420225" y="2533650"/>
            <a:ext cx="2047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最长沉寂期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9420225" y="2667000"/>
            <a:ext cx="20478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longest dormant gap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5334000" y="2781300"/>
            <a:ext cx="6134100" cy="171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机器人提交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0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次（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0%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）；平均每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3.2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天一次提交；沉寂期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2026-07-09T06:11:32Z → 2026-09-09T01:23:43Z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571500" y="3790950"/>
            <a:ext cx="5448300" cy="2076450"/>
          </a:xfrm>
          <a:prstGeom prst="roundRect">
            <a:avLst>
              <a:gd name="adj" fmla="val 4587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723900" y="3914775"/>
            <a:ext cx="5143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DF1F5"/>
                </a:solidFill>
                <a:latin typeface="PingFang SC"/>
                <a:ea typeface="PingFang SC"/>
              </a:rPr>
              <a:t>风险因子拆解</a:t>
            </a:r>
            <a:r>
              <a:rPr lang="en-US" sz="900" b="1">
                <a:solidFill>
                  <a:srgbClr val="EDF1F5"/>
                </a:solidFill>
                <a:latin typeface="PingFang SC"/>
                <a:ea typeface="PingFang SC"/>
              </a:rPr>
              <a:t> / Risk factors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723900" y="4086225"/>
            <a:ext cx="5143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总分</a:t>
            </a: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 53 / 100 · </a:t>
            </a: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中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723900" y="4352925"/>
            <a:ext cx="125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提交信息质量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1981200" y="4381500"/>
            <a:ext cx="1123950" cy="66675"/>
          </a:xfrm>
          <a:prstGeom prst="roundRect">
            <a:avLst>
              <a:gd name="adj" fmla="val 57143"/>
            </a:avLst>
          </a:prstGeom>
          <a:solidFill>
            <a:srgbClr val="232C38"/>
          </a:solidFill>
          <a:ln/>
        </p:spPr>
        <p:txBody>
          <a:bodyPr/>
          <a:p/>
        </p:txBody>
      </p:sp>
      <p:sp>
        <p:nvSpPr>
          <p:cNvPr id="565" name=""/>
          <p:cNvSpPr/>
          <p:nvPr/>
        </p:nvSpPr>
        <p:spPr>
          <a:xfrm rot="0" flipH="0" flipV="0">
            <a:off x="1981200" y="4381500"/>
            <a:ext cx="19050" cy="66675"/>
          </a:xfrm>
          <a:prstGeom prst="roundRect">
            <a:avLst>
              <a:gd name="adj" fmla="val 200000"/>
            </a:avLst>
          </a:prstGeom>
          <a:solidFill>
            <a:srgbClr val="3A4553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3105150" y="4352925"/>
            <a:ext cx="4953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 spc="38">
                <a:solidFill>
                  <a:srgbClr val="3A4553"/>
                </a:solidFill>
                <a:latin typeface="PingFang SC"/>
                <a:ea typeface="PingFang SC"/>
              </a:rPr>
              <a:t>0/25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3714750" y="4352925"/>
            <a:ext cx="21526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B7684"/>
                </a:solidFill>
                <a:latin typeface="PingFang SC"/>
                <a:ea typeface="PingFang SC"/>
              </a:rPr>
              <a:t>0 / 23 </a:t>
            </a:r>
            <a:r>
              <a:rPr lang="zh-CN" sz="788">
                <a:solidFill>
                  <a:srgbClr val="6B7684"/>
                </a:solidFill>
                <a:latin typeface="PingFang SC"/>
                <a:ea typeface="PingFang SC"/>
              </a:rPr>
              <a:t>条无信息量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723900" y="4552950"/>
            <a:ext cx="125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原地打转的文件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1981200" y="4581525"/>
            <a:ext cx="1123950" cy="66675"/>
          </a:xfrm>
          <a:prstGeom prst="roundRect">
            <a:avLst>
              <a:gd name="adj" fmla="val 57143"/>
            </a:avLst>
          </a:prstGeom>
          <a:solidFill>
            <a:srgbClr val="232C38"/>
          </a:solidFill>
          <a:ln/>
        </p:spPr>
        <p:txBody>
          <a:bodyPr/>
          <a:p/>
        </p:txBody>
      </p:sp>
      <p:sp>
        <p:nvSpPr>
          <p:cNvPr id="570" name=""/>
          <p:cNvSpPr/>
          <p:nvPr/>
        </p:nvSpPr>
        <p:spPr>
          <a:xfrm rot="0" flipH="0" flipV="0">
            <a:off x="1981200" y="4581525"/>
            <a:ext cx="1123950" cy="66675"/>
          </a:xfrm>
          <a:prstGeom prst="roundRect">
            <a:avLst>
              <a:gd name="adj" fmla="val 57143"/>
            </a:avLst>
          </a:prstGeom>
          <a:solidFill>
            <a:srgbClr val="E3A33E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3105150" y="4552950"/>
            <a:ext cx="4953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 spc="38">
                <a:solidFill>
                  <a:srgbClr val="E3A33E"/>
                </a:solidFill>
                <a:latin typeface="PingFang SC"/>
                <a:ea typeface="PingFang SC"/>
              </a:rPr>
              <a:t>25/25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3714750" y="4552950"/>
            <a:ext cx="21526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B7684"/>
                </a:solidFill>
                <a:latin typeface="PingFang SC"/>
                <a:ea typeface="PingFang SC"/>
              </a:rPr>
              <a:t>9 </a:t>
            </a:r>
            <a:r>
              <a:rPr lang="zh-CN" sz="788">
                <a:solidFill>
                  <a:srgbClr val="6B7684"/>
                </a:solidFill>
                <a:latin typeface="PingFang SC"/>
                <a:ea typeface="PingFang SC"/>
              </a:rPr>
              <a:t>个文件反复推翻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723900" y="4752975"/>
            <a:ext cx="125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被放弃的尝试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1981200" y="4781550"/>
            <a:ext cx="1123950" cy="66675"/>
          </a:xfrm>
          <a:prstGeom prst="roundRect">
            <a:avLst>
              <a:gd name="adj" fmla="val 57143"/>
            </a:avLst>
          </a:prstGeom>
          <a:solidFill>
            <a:srgbClr val="232C38"/>
          </a:solidFill>
          <a:ln/>
        </p:spPr>
        <p:txBody>
          <a:bodyPr/>
          <a:p/>
        </p:txBody>
      </p:sp>
      <p:sp>
        <p:nvSpPr>
          <p:cNvPr id="575" name=""/>
          <p:cNvSpPr/>
          <p:nvPr/>
        </p:nvSpPr>
        <p:spPr>
          <a:xfrm rot="0" flipH="0" flipV="0">
            <a:off x="1981200" y="4781550"/>
            <a:ext cx="1123950" cy="66675"/>
          </a:xfrm>
          <a:prstGeom prst="roundRect">
            <a:avLst>
              <a:gd name="adj" fmla="val 57143"/>
            </a:avLst>
          </a:prstGeom>
          <a:solidFill>
            <a:srgbClr val="E3A33E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3105150" y="4752975"/>
            <a:ext cx="4953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 spc="38">
                <a:solidFill>
                  <a:srgbClr val="E3A33E"/>
                </a:solidFill>
                <a:latin typeface="PingFang SC"/>
                <a:ea typeface="PingFang SC"/>
              </a:rPr>
              <a:t>20/20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3714750" y="4752975"/>
            <a:ext cx="21526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B7684"/>
                </a:solidFill>
                <a:latin typeface="PingFang SC"/>
                <a:ea typeface="PingFang SC"/>
              </a:rPr>
              <a:t>7 </a:t>
            </a:r>
            <a:r>
              <a:rPr lang="zh-CN" sz="788">
                <a:solidFill>
                  <a:srgbClr val="6B7684"/>
                </a:solidFill>
                <a:latin typeface="PingFang SC"/>
                <a:ea typeface="PingFang SC"/>
              </a:rPr>
              <a:t>处已核实（另否定</a:t>
            </a:r>
            <a:r>
              <a:rPr lang="en-US" sz="788">
                <a:solidFill>
                  <a:srgbClr val="6B7684"/>
                </a:solidFill>
                <a:latin typeface="PingFang SC"/>
                <a:ea typeface="PingFang SC"/>
              </a:rPr>
              <a:t> 0 </a:t>
            </a:r>
            <a:r>
              <a:rPr lang="zh-CN" sz="788">
                <a:solidFill>
                  <a:srgbClr val="6B7684"/>
                </a:solidFill>
                <a:latin typeface="PingFang SC"/>
                <a:ea typeface="PingFang SC"/>
              </a:rPr>
              <a:t>处）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723900" y="4953000"/>
            <a:ext cx="125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显式回滚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1981200" y="4981575"/>
            <a:ext cx="1123950" cy="66675"/>
          </a:xfrm>
          <a:prstGeom prst="roundRect">
            <a:avLst>
              <a:gd name="adj" fmla="val 57143"/>
            </a:avLst>
          </a:prstGeom>
          <a:solidFill>
            <a:srgbClr val="232C38"/>
          </a:solidFill>
          <a:ln/>
        </p:spPr>
        <p:txBody>
          <a:bodyPr/>
          <a:p/>
        </p:txBody>
      </p:sp>
      <p:sp>
        <p:nvSpPr>
          <p:cNvPr id="580" name=""/>
          <p:cNvSpPr/>
          <p:nvPr/>
        </p:nvSpPr>
        <p:spPr>
          <a:xfrm rot="0" flipH="0" flipV="0">
            <a:off x="1981200" y="4981575"/>
            <a:ext cx="19050" cy="66675"/>
          </a:xfrm>
          <a:prstGeom prst="roundRect">
            <a:avLst>
              <a:gd name="adj" fmla="val 200000"/>
            </a:avLst>
          </a:prstGeom>
          <a:solidFill>
            <a:srgbClr val="3A4553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3105150" y="4953000"/>
            <a:ext cx="4953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 spc="38">
                <a:solidFill>
                  <a:srgbClr val="3A4553"/>
                </a:solidFill>
                <a:latin typeface="PingFang SC"/>
                <a:ea typeface="PingFang SC"/>
              </a:rPr>
              <a:t>0/15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3714750" y="4953000"/>
            <a:ext cx="21526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B7684"/>
                </a:solidFill>
                <a:latin typeface="PingFang SC"/>
                <a:ea typeface="PingFang SC"/>
              </a:rPr>
              <a:t>0 </a:t>
            </a:r>
            <a:r>
              <a:rPr lang="zh-CN" sz="788">
                <a:solidFill>
                  <a:srgbClr val="6B7684"/>
                </a:solidFill>
                <a:latin typeface="PingFang SC"/>
                <a:ea typeface="PingFang SC"/>
              </a:rPr>
              <a:t>次回滚提交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723900" y="5153025"/>
            <a:ext cx="125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最长沉寂期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1981200" y="5181600"/>
            <a:ext cx="1123950" cy="66675"/>
          </a:xfrm>
          <a:prstGeom prst="roundRect">
            <a:avLst>
              <a:gd name="adj" fmla="val 57143"/>
            </a:avLst>
          </a:prstGeom>
          <a:solidFill>
            <a:srgbClr val="232C38"/>
          </a:solidFill>
          <a:ln/>
        </p:spPr>
        <p:txBody>
          <a:bodyPr/>
          <a:p/>
        </p:txBody>
      </p:sp>
      <p:sp>
        <p:nvSpPr>
          <p:cNvPr id="585" name=""/>
          <p:cNvSpPr/>
          <p:nvPr/>
        </p:nvSpPr>
        <p:spPr>
          <a:xfrm rot="0" flipH="0" flipV="0">
            <a:off x="1981200" y="5181600"/>
            <a:ext cx="600075" cy="66675"/>
          </a:xfrm>
          <a:prstGeom prst="roundRect">
            <a:avLst>
              <a:gd name="adj" fmla="val 57143"/>
            </a:avLst>
          </a:prstGeom>
          <a:solidFill>
            <a:srgbClr val="E3A33E"/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3105150" y="5153025"/>
            <a:ext cx="4953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 spc="38">
                <a:solidFill>
                  <a:srgbClr val="E3A33E"/>
                </a:solidFill>
                <a:latin typeface="PingFang SC"/>
                <a:ea typeface="PingFang SC"/>
              </a:rPr>
              <a:t>8/15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3714750" y="5153025"/>
            <a:ext cx="21526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6B7684"/>
                </a:solidFill>
                <a:latin typeface="PingFang SC"/>
                <a:ea typeface="PingFang SC"/>
              </a:rPr>
              <a:t>62 </a:t>
            </a:r>
            <a:r>
              <a:rPr lang="zh-CN" sz="788">
                <a:solidFill>
                  <a:srgbClr val="6B7684"/>
                </a:solidFill>
                <a:latin typeface="PingFang SC"/>
                <a:ea typeface="PingFang SC"/>
              </a:rPr>
              <a:t>天无人提交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6172200" y="3790950"/>
            <a:ext cx="5448300" cy="2076450"/>
          </a:xfrm>
          <a:prstGeom prst="roundRect">
            <a:avLst>
              <a:gd name="adj" fmla="val 4587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6324600" y="3914775"/>
            <a:ext cx="5143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DF1F5"/>
                </a:solidFill>
                <a:latin typeface="PingFang SC"/>
                <a:ea typeface="PingFang SC"/>
              </a:rPr>
              <a:t>其他可核查指标</a:t>
            </a:r>
            <a:r>
              <a:rPr lang="en-US" sz="900" b="1">
                <a:solidFill>
                  <a:srgbClr val="EDF1F5"/>
                </a:solidFill>
                <a:latin typeface="PingFang SC"/>
                <a:ea typeface="PingFang SC"/>
              </a:rPr>
              <a:t> / Other verifiable metrics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6324600" y="4133850"/>
            <a:ext cx="5143500" cy="13239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提交信息卫生：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23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条提交中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0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条无信息量（含糊率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0%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），平均信息长度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85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字符</a:t>
            </a:r>
            <a:endParaRPr/>
          </a:p>
          <a:p>
            <a:pPr>
              <a:lnSpc>
                <a:spcPct val="175000"/>
              </a:lnSpc>
            </a:pP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显式回滚提交：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0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次</a:t>
            </a:r>
            <a:endParaRPr/>
          </a:p>
          <a:p>
            <a:pPr>
              <a:lnSpc>
                <a:spcPct val="175000"/>
              </a:lnSpc>
            </a:pP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改动热度前三：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topfo-app/app/src/main/res/raw/schools.json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（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churn 6,462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）、</a:t>
            </a:r>
            <a:endParaRPr/>
          </a:p>
          <a:p>
            <a:pPr>
              <a:lnSpc>
                <a:spcPct val="175000"/>
              </a:lnSpc>
            </a:pP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　　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review_results.json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（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churn 5,766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）、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public/pages/tracker.html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（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churn 1,946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，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4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次改动）</a:t>
            </a:r>
            <a:endParaRPr/>
          </a:p>
          <a:p>
            <a:pPr>
              <a:lnSpc>
                <a:spcPct val="175000"/>
              </a:lnSpc>
            </a:pP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单点归属文件：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10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个</a:t>
            </a:r>
            <a:endParaRPr/>
          </a:p>
          <a:p>
            <a:pPr>
              <a:lnSpc>
                <a:spcPct val="175000"/>
              </a:lnSpc>
            </a:pP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知识集中度：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ody-cai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一人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 22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次提交（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96%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）、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44,534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行改动、</a:t>
            </a:r>
            <a:r>
              <a:rPr lang="en-US" sz="825">
                <a:solidFill>
                  <a:srgbClr val="A8B2BE"/>
                </a:solidFill>
                <a:latin typeface="PingFang SC"/>
                <a:ea typeface="PingFang SC"/>
              </a:rPr>
              <a:t>167 </a:t>
            </a:r>
            <a:r>
              <a:rPr lang="zh-CN" sz="825">
                <a:solidFill>
                  <a:srgbClr val="A8B2BE"/>
                </a:solidFill>
                <a:latin typeface="PingFang SC"/>
                <a:ea typeface="PingFang SC"/>
              </a:rPr>
              <a:t>个文件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571500" y="5943600"/>
            <a:ext cx="11049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第三方仓库来源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/ Third-party source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：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ody-cai/topfo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（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HTML · 2 stars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）·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GitHub REST API v3 ·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采集窗口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2026-07-09T02:38:58Z → 2026-09-20T01:53:29Z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（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UTC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571500" y="6229350"/>
            <a:ext cx="11049000" cy="342900"/>
          </a:xfrm>
          <a:custGeom>
            <a:pathLst>
              <a:path w="1160" h="36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571500" y="6315075"/>
            <a:ext cx="3743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代码考古学</a:t>
            </a: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 / Code Archaeology · BAYTECH 2026 · AI </a:t>
            </a: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应用与工程赛道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11229975" y="63150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 descr="&lt;Slide style={{ width: '1280px', height: '720px', padding: '20px 60px', background: '#10141A', fontFamily: &quot;'PingFang SC','Microsoft YaHei','Helvetica Neue',sans-serif&quot;, flexDirection: 'column' }}&gt;&#10;&#10;  &lt;Box style={{ height: 96, justifyContent: 'center' }}&gt;&#10;    &lt;Box style={{ flexDirection: 'row', alignItems: 'flex-end', justifyContent: 'space-between' }}&gt;&#10;      &lt;Box&gt;&#10;        &lt;Text style={{ fontSize: 32, fontWeight: 'bold', lineHeight: 1.22, color: '#EDF1F5', fontFamily: &quot;'Source Han Serif SC','Noto Serif SC','Songti SC',serif&quot; }}&gt;「被放弃的尝试」逐条清单&lt;/Text&gt;&#10;        &lt;Text style={{ fontSize: 14.5, color: '#8892A0', marginTop: 7, letterSpacing: 0.3 }}&gt;Abandoned attempts, item by item&lt;/Text&gt;&#10;      &lt;/Box&gt;&#10;      &#10;    &lt;/Box&gt;&#10;  &lt;/Box&gt;&#10;    &lt;Box style={{ height: 500 }}&gt;&#10;      &lt;Box style={{ flexDirection: 'row', gap: 16 }}&gt;&#10;        &lt;Box style={{ flex: 1, padding: '12px 16px', background: '#1D242E', borderRadius: 10, border: '1px solid #232C38' }}&gt;&#10;          &lt;Text style={{ fontSize: 12, fontWeight: 'bold', color: '#EDF1F5' }}&gt;ody-cai/topfo · 7 处已核实 / verified&lt;/Text&gt;&#10;          &lt;Text style={{ fontSize: 10, color: '#8892A0', marginTop: 3 }}&gt;判定规则：拆除侧删除的行中，有 ≥ 50% 曾在新增侧出现过，才计为「被放弃」；否则判为重写。&lt;/Text&gt;&#10;&#10;          &lt;Box style={{ flexDirection: 'row', height: 24, marginTop: 10, borderBottom: '1px solid #2C3542', alignItems: 'center' }}&gt;&#10;            &lt;Text style={{ width: 16, fontSize: 9.5, color: '#8892A0', textAlign: 'left' }}&gt;#&lt;/Text&gt;&lt;Text style={{ width: 262, fontSize: 9.5, color: '#8892A0', textAlign: 'left' }}&gt;文件 / File&lt;/Text&gt;&lt;Text style={{ width: 92, fontSize: 9.5, color: '#8892A0', textAlign: 'left' }}&gt;加入 / Added&lt;/Text&gt;&lt;Text style={{ width: 92, fontSize: 9.5, color: '#8892A0', textAlign: 'left' }}&gt;拆除 / Removed&lt;/Text&gt;&lt;Text style={{ width: 74, fontSize: 9.5, color: '#8892A0', textAlign: 'left' }}&gt;存活 / Lived&lt;/Text&gt;&lt;Text style={{ width: 48, fontSize: 9.5, color: '#8892A0', textAlign: 'right' }}&gt;重合 / Overlap&lt;/Text&gt;&lt;Text style={{ width: 76, fontSize: 9.5, color: '#8892A0', textAlign: 'right' }}&gt;判定 / Verdict&lt;/Text&gt;&#10;          &lt;/Box&gt;&#10;&#10;          &lt;Box style={{ flexDirection: 'row', alignItems: 'center', height: 41, borderBottom: '1px solid #232C38' }}&gt;&#10;            &lt;Text style={{ width: 16, fontSize: 9.5, color: '#6B7684', textAlign: 'left' }}&gt;1&lt;/Text&gt;&#10;            &lt;Text style={{ width: 262, fontSize: 9.5, color: '#EDF1F5', textAlign: 'left' }}&gt;public/functions/api/rankings.js&lt;/Text&gt;&#10;            &lt;Text style={{ width: 92, fontSize: 9.5, color: '#4CB8A6', textAlign: 'left' }}&gt;+63  6cc0b93&lt;/Text&gt;&#10;            &lt;Text style={{ width: 92, fontSize: 9.5, color: '#E3A33E', textAlign: 'left' }}&gt;−54  fda81ef&lt;/Text&gt;&#10;            &lt;Text style={{ width: 74, fontSize: 9.5, color: '#EDF1F5', textAlign: 'left' }}&gt;1 小时 02 分&lt;/Text&gt;&#10;            &lt;Text style={{ width: 48, fontSize: 9.5, color: '#4CB8A6', textAlign: 'right' }}&gt;100%&lt;/Text&gt;&#10;            &lt;Text style={{ width: 76, fontSize: 9.5, color: '#4CB8A6', textAlign: 'right' }}&gt;已核实 ✓&lt;/Text&gt;&#10;          &lt;/Box&gt;&#10;          &lt;Box style={{ flexDirection: 'row', alignItems: 'center', height: 41, borderBottom: '1px solid #232C38' }}&gt;&#10;            &lt;Text style={{ width: 16, fontSize: 9.5, color: '#6B7684', textAlign: 'left' }}&gt;2&lt;/Text&gt;&#10;            &lt;Text style={{ width: 262, fontSize: 9.5, color: '#EDF1F5', textAlign: 'left' }}&gt;public/functions/api/schools.js&lt;/Text&gt;&#10;            &lt;Text style={{ width: 92, fontSize: 9.5, color: '#4CB8A6', textAlign: 'left' }}&gt;+66  6cc0b93&lt;/Text&gt;&#10;            &lt;Text style={{ width: 92, fontSize: 9.5, color: '#E3A33E', textAlign: 'left' }}&gt;−57  fda81ef&lt;/Text&gt;&#10;            &lt;Text style={{ width: 74, fontSize: 9.5, color: '#EDF1F5', textAlign: 'left' }}&gt;1 小时 02 分&lt;/Text&gt;&#10;            &lt;Text style={{ width: 48, fontSize: 9.5, color: '#4CB8A6', textAlign: 'right' }}&gt;100%&lt;/Text&gt;&#10;            &lt;Text style={{ width: 76, fontSize: 9.5, color: '#4CB8A6', textAlign: 'right' }}&gt;已核实 ✓&lt;/Text&gt;&#10;          &lt;/Box&gt;&#10;          &lt;Box style={{ flexDirection: 'row', alignItems: 'center', height: 41, borderBottom: '1px solid #232C38' }}&gt;&#10;            &lt;Text style={{ width: 16, fontSize: 9.5, color: '#6B7684', textAlign: 'left' }}&gt;3&lt;/Text&gt;&#10;            &lt;Text style={{ width: 262, fontSize: 9.5, color: '#EDF1F5', textAlign: 'left' }}&gt;public/functions/api/ai/recommend.js&lt;/Text&gt;&#10;            &lt;Text style={{ width: 92, fontSize: 9.5, color: '#4CB8A6', textAlign: 'left' }}&gt;+143  fda81ef&lt;/Text&gt;&#10;            &lt;Text style={{ width: 92, fontSize: 9.5, color: '#E3A33E', textAlign: 'left' }}&gt;−105  674486b&lt;/Text&gt;&#10;            &lt;Text style={{ width: 74, fontSize: 9.5, color: '#EDF1F5', textAlign: 'left' }}&gt;1 小时 06 分&lt;/Text&gt;&#10;            &lt;Text style={{ width: 48, fontSize: 9.5, color: '#4CB8A6', textAlign: 'right' }}&gt;100%&lt;/Text&gt;&#10;            &lt;Text style={{ width: 76, fontSize: 9.5, color: '#4CB8A6', textAlign: 'right' }}&gt;已核实 ✓&lt;/Text&gt;&#10;          &lt;/Box&gt;&#10;          &lt;Box style={{ flexDirection: 'row', alignItems: 'center', height: 41, borderBottom: '1px solid #232C38' }}&gt;&#10;            &lt;Text style={{ width: 16, fontSize: 9.5, color: '#6B7684', textAlign: 'left' }}&gt;4&lt;/Text&gt;&#10;            &lt;Text style={{ width: 262, fontSize: 9.5, color: '#EDF1F5', textAlign: 'left' }}&gt;public/functions/api/applications.js&lt;/Text&gt;&#10;            &lt;Text style={{ width: 92, fontSize: 9.5, color: '#4CB8A6', textAlign: 'left' }}&gt;+107  fda81ef&lt;/Text&gt;&#10;            &lt;Text style={{ width: 92, fontSize: 9.5, color: '#E3A33E', textAlign: 'left' }}&gt;−107  ed18ec5&lt;/Text&gt;&#10;            &lt;Text style={{ width: 74, fontSize: 9.5, color: '#EDF1F5', textAlign: 'left' }}&gt;2 小时 30 分&lt;/Text&gt;&#10;            &lt;Text style={{ width: 48, fontSize: 9.5, color: '#4CB8A6', textAlign: 'right' }}&gt;100%&lt;/Text&gt;&#10;            &lt;Text style={{ width: 76, fontSize: 9.5, color: '#4CB8A6', textAlign: 'right' }}&gt;已核实 ✓&lt;/Text&gt;&#10;          &lt;/Box&gt;&#10;          &lt;Box style={{ flexDirection: 'row', alignItems: 'center', height: 41, borderBottom: '1px solid #232C38' }}&gt;&#10;            &lt;Text style={{ width: 16, fontSize: 9.5, color: '#6B7684', textAlign: 'left' }}&gt;5&lt;/Text&gt;&#10;            &lt;Text style={{ width: 262, fontSize: 9.5, color: '#EDF1F5', textAlign: 'left' }}&gt;public/functions/api/applications/[id].js&lt;/Text&gt;&#10;            &lt;Text style={{ width: 92, fontSize: 9.5, color: '#4CB8A6', textAlign: 'left' }}&gt;+76  fda81ef&lt;/Text&gt;&#10;            &lt;Text style={{ width: 92, fontSize: 9.5, color: '#E3A33E', textAlign: 'left' }}&gt;−76  ed18ec5&lt;/Text&gt;&#10;            &lt;Text style={{ width: 74, fontSize: 9.5, color: '#EDF1F5', textAlign: 'left' }}&gt;2 小时 30 分&lt;/Text&gt;&#10;            &lt;Text style={{ width: 48, fontSize: 9.5, color: '#4CB8A6', textAlign: 'right' }}&gt;100%&lt;/Text&gt;&#10;            &lt;Text style={{ width: 76, fontSize: 9.5, color: '#4CB8A6', textAlign: 'right' }}&gt;已核实 ✓&lt;/Text&gt;&#10;          &lt;/Box&gt;&#10;          &lt;Box style={{ flexDirection: 'row', alignItems: 'center', height: 41, borderBottom: '1px solid #232C38' }}&gt;&#10;            &lt;Text style={{ width: 16, fontSize: 9.5, color: '#6B7684', textAlign: 'left' }}&gt;6&lt;/Text&gt;&#10;            &lt;Text style={{ width: 262, fontSize: 9.5, color: '#EDF1F5', textAlign: 'left' }}&gt;public/js/i18n/fr.json&lt;/Text&gt;&#10;            &lt;Text style={{ width: 92, fontSize: 9.5, color: '#4CB8A6', textAlign: 'left' }}&gt;+95  fda81ef&lt;/Text&gt;&#10;            &lt;Text style={{ width: 92, fontSize: 9.5, color: '#E3A33E', textAlign: 'left' }}&gt;−96  ed18ec5&lt;/Text&gt;&#10;            &lt;Text style={{ width: 74, fontSize: 9.5, color: '#EDF1F5', textAlign: 'left' }}&gt;2 小时 30 分&lt;/Text&gt;&#10;            &lt;Text style={{ width: 48, fontSize: 9.5, color: '#4CB8A6', textAlign: 'right' }}&gt;99%&lt;/Text&gt;&#10;            &lt;Text style={{ width: 76, fontSize: 9.5, color: '#4CB8A6', textAlign: 'right' }}&gt;已核实 ✓&lt;/Text&gt;&#10;          &lt;/Box&gt;&#10;          &lt;Box style={{ flexDirection: 'row', alignItems: 'center', height: 41, borderBottom: '1px solid #232C38' }}&gt;&#10;            &lt;Text style={{ width: 16, fontSize: 9.5, color: '#6B7684', textAlign: 'left' }}&gt;7&lt;/Text&gt;&#10;            &lt;Text style={{ width: 262, fontSize: 9.5, color: '#EDF1F5', textAlign: 'left' }}&gt;public/pages/tracker.html&lt;/Text&gt;&#10;            &lt;Text style={{ width: 92, fontSize: 9.5, color: '#4CB8A6', textAlign: 'left' }}&gt;+907  fda81ef&lt;/Text&gt;&#10;            &lt;Text style={{ width: 92, fontSize: 9.5, color: '#E3A33E', textAlign: 'left' }}&gt;−957  ed18ec5&lt;/Text&gt;&#10;            &lt;Text style={{ width: 74, fontSize: 9.5, color: '#EDF1F5', textAlign: 'left' }}&gt;2 小时 30 分&lt;/Text&gt;&#10;            &lt;Text style={{ width: 48, fontSize: 9.5, color: '#4CB8A6', textAlign: 'right' }}&gt;93%&lt;/Text&gt;&#10;            &lt;Text style={{ width: 76, fontSize: 9.5, color: '#4CB8A6', textAlign: 'right' }}&gt;已核实 ✓&lt;/Text&gt;&#10;          &lt;/Box&gt;&#10;&#10;          &lt;Box style={{ marginTop: 10, padding: '9px 12px', background: 'rgba(227,163,62,0.10)', border: '1px solid rgba(227,163,62,0.35)', borderRadius: 8 }}&gt;&#10;            &lt;Text style={{ fontSize: 10.5, lineHeight: 1.5, color: '#E3A33E', fontWeight: 'bold' }}&gt;&#10;              同一次运行里，openclaw/openclaw 有 1 处候选被程序否定 —— 这是「不编结论」的证据，而不是把假阳性藏起来。&#10;            &lt;/Text&gt;&#10;            &lt;Text style={{ fontSize: 10, lineHeight: 1.5, color: '#A8B2BE', marginTop: 4 }}&gt;&#10;              src/agents/main-session-recovery/main-session-restart-recovery.test.ts&lt;br /&gt;&#10;              18f1c11 加入 +57 行 → 9e7a575 拆除 −40 行；可比 31 行中重合 0%，低于阈值 50% → 判定「重写而非放弃」，不计入风险分。&#10;            &lt;/Text&gt;&#10;          &lt;/Box&gt;&#10;        &lt;/Box&gt;&#10;&#10;        &lt;Box style={{ width: 424 }}&gt;&#10;          &lt;Box style={{ padding: 8, background: '#1D242E', borderRadius: 10, border: '1px solid #232C38' }}&gt;&#10;            &lt;Image src=&quot;/Users/odycai/WorkBuddy/BAYTECH26黑客松/outputs/代码考古学-评委展示PPT/assets/topfo-evidence.png&quot; style={{ width: 408, height: 363 }} /&gt;&#10;          &lt;/Box&gt;&#10;          &lt;Text style={{ fontSize: 9.5, lineHeight: 1.45, color: '#6B7684', marginTop: 8 }}&gt;&#10;            上图为产品界面中「地层里的证据」区块的真实截图：每一处都写明加入 / 拆除的 commit SHA、行数、存活时长与内容重合率，可逐条回 GitHub 核对。&#10;            &lt;br /&gt;Live product screenshot: every entry carries its SHAs, line counts, lifespan and content overlap — verifiable one by one on GitHub.&#10;          &lt;/Text&gt;&#10;        &lt;/Box&gt;&#10;      &lt;/Box&gt;&#10;    &lt;/Box&gt;&#10;&#10;  &lt;Box style={{ height: 32, justifyContent: 'center' }}&gt;&#10;    &lt;Text style={{ fontSize: 10, lineHeight: 1.4, color: '#6B7684', textAlign: 'right' }}&gt;第三方仓库来源 / Third-party source：ody-cai/topfo（HTML · 2 stars）· GitHub REST API v3 · 采集窗口 2026-07-09T02:38:58Z → 2026-09-20T01:53:29Z（UTC）&lt;/Text&gt;&#10;  &lt;/Box&gt;&#10;  &lt;Box style={{ height: 36, marginTop: 6, paddingTop: 8, borderTop: '1px solid #232C38', flexDirection: 'row', alignItems: 'flex-start', justifyContent: 'space-between' }}&gt;&#10;    &lt;Text style={{ fontSize: 12, color: '#8892A0' }}&gt;代码考古学 / Code Archaeology · BAYTECH 2026 · AI 应用与工程赛道&lt;/Text&gt;&#10;    &lt;Text style={{ fontSize: 12, color: '#8892A0' }}&gt;10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141A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3657600" cy="447675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2400" b="1">
                <a:solidFill>
                  <a:srgbClr val="EDF1F5"/>
                </a:solidFill>
                <a:latin typeface="Source Han Serif SC"/>
                <a:ea typeface="Source Han Serif SC"/>
              </a:rPr>
              <a:t>「被放弃的尝试」逐条清单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71500" y="819150"/>
            <a:ext cx="365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spc="22">
                <a:solidFill>
                  <a:srgbClr val="8892A0"/>
                </a:solidFill>
                <a:latin typeface="PingFang SC"/>
                <a:ea typeface="PingFang SC"/>
              </a:rPr>
              <a:t>Abandoned attempts, item by item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571500" y="1104900"/>
            <a:ext cx="6858000" cy="4400550"/>
          </a:xfrm>
          <a:prstGeom prst="roundRect">
            <a:avLst>
              <a:gd name="adj" fmla="val 2165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23900" y="1219200"/>
            <a:ext cx="6553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EDF1F5"/>
                </a:solidFill>
                <a:latin typeface="PingFang SC"/>
                <a:ea typeface="PingFang SC"/>
              </a:rPr>
              <a:t>ody-cai/topfo · 7 </a:t>
            </a:r>
            <a:r>
              <a:rPr lang="zh-CN" sz="900" b="1">
                <a:solidFill>
                  <a:srgbClr val="EDF1F5"/>
                </a:solidFill>
                <a:latin typeface="PingFang SC"/>
                <a:ea typeface="PingFang SC"/>
              </a:rPr>
              <a:t>处已核实</a:t>
            </a:r>
            <a:r>
              <a:rPr lang="en-US" sz="900" b="1">
                <a:solidFill>
                  <a:srgbClr val="EDF1F5"/>
                </a:solidFill>
                <a:latin typeface="PingFang SC"/>
                <a:ea typeface="PingFang SC"/>
              </a:rPr>
              <a:t> / verified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23900" y="1390650"/>
            <a:ext cx="65532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判定规则：拆除侧删除的行中，有</a:t>
            </a: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 ≥ 50% </a:t>
            </a:r>
            <a:r>
              <a:rPr lang="zh-CN" sz="750">
                <a:solidFill>
                  <a:srgbClr val="8892A0"/>
                </a:solidFill>
                <a:latin typeface="PingFang SC"/>
                <a:ea typeface="PingFang SC"/>
              </a:rPr>
              <a:t>曾在新增侧出现过，才计为「被放弃」；否则判为重写。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723900" y="1600200"/>
            <a:ext cx="6553200" cy="228600"/>
          </a:xfrm>
          <a:custGeom>
            <a:pathLst>
              <a:path w="688" h="24">
                <a:moveTo>
                  <a:pt x="0" y="23"/>
                </a:moveTo>
                <a:lnTo>
                  <a:pt x="688" y="23"/>
                </a:lnTo>
                <a:lnTo>
                  <a:pt x="688" y="24"/>
                </a:lnTo>
                <a:lnTo>
                  <a:pt x="0" y="24"/>
                </a:lnTo>
                <a:close/>
              </a:path>
            </a:pathLst>
          </a:custGeom>
          <a:solidFill>
            <a:srgbClr val="2C3542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23900" y="1657350"/>
            <a:ext cx="1524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#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76300" y="1657350"/>
            <a:ext cx="249555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713">
                <a:solidFill>
                  <a:srgbClr val="8892A0"/>
                </a:solidFill>
                <a:latin typeface="PingFang SC"/>
                <a:ea typeface="PingFang SC"/>
              </a:rPr>
              <a:t>文件</a:t>
            </a: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 / File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3371850" y="1657350"/>
            <a:ext cx="8763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713">
                <a:solidFill>
                  <a:srgbClr val="8892A0"/>
                </a:solidFill>
                <a:latin typeface="PingFang SC"/>
                <a:ea typeface="PingFang SC"/>
              </a:rPr>
              <a:t>加入</a:t>
            </a: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 / Added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248150" y="1657350"/>
            <a:ext cx="8763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713">
                <a:solidFill>
                  <a:srgbClr val="8892A0"/>
                </a:solidFill>
                <a:latin typeface="PingFang SC"/>
                <a:ea typeface="PingFang SC"/>
              </a:rPr>
              <a:t>拆除</a:t>
            </a: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 / Removed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124450" y="1657350"/>
            <a:ext cx="70485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713">
                <a:solidFill>
                  <a:srgbClr val="8892A0"/>
                </a:solidFill>
                <a:latin typeface="PingFang SC"/>
                <a:ea typeface="PingFang SC"/>
              </a:rPr>
              <a:t>存活</a:t>
            </a: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 / Lived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829300" y="1600200"/>
            <a:ext cx="457200" cy="219075"/>
          </a:xfrm>
          <a:prstGeom prst="rect"/>
        </p:spPr>
        <p:txBody>
          <a:bodyPr wrap="square" lIns="0" tIns="0" rIns="0" bIns="0">
            <a:normAutofit/>
          </a:bodyPr>
          <a:p>
            <a:pPr algn="r">
              <a:lnSpc>
                <a:spcPct val="100000"/>
              </a:lnSpc>
            </a:pPr>
            <a:r>
              <a:rPr lang="zh-CN" sz="713">
                <a:solidFill>
                  <a:srgbClr val="8892A0"/>
                </a:solidFill>
                <a:latin typeface="PingFang SC"/>
                <a:ea typeface="PingFang SC"/>
              </a:rPr>
              <a:t>重合</a:t>
            </a: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 / Overlap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286500" y="1657350"/>
            <a:ext cx="72390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13">
                <a:solidFill>
                  <a:srgbClr val="8892A0"/>
                </a:solidFill>
                <a:latin typeface="PingFang SC"/>
                <a:ea typeface="PingFang SC"/>
              </a:rPr>
              <a:t>判定</a:t>
            </a: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 / Verdict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723900" y="1828800"/>
            <a:ext cx="6553200" cy="390525"/>
          </a:xfrm>
          <a:custGeom>
            <a:pathLst>
              <a:path w="688" h="41">
                <a:moveTo>
                  <a:pt x="0" y="40"/>
                </a:moveTo>
                <a:lnTo>
                  <a:pt x="688" y="40"/>
                </a:lnTo>
                <a:lnTo>
                  <a:pt x="688" y="41"/>
                </a:lnTo>
                <a:lnTo>
                  <a:pt x="0" y="4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23900" y="1962150"/>
            <a:ext cx="1524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1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76300" y="1962150"/>
            <a:ext cx="249555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public/functions/api/rankings.js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3371850" y="1962150"/>
            <a:ext cx="8763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+63  6cc0b93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248150" y="1962150"/>
            <a:ext cx="8763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3A33E"/>
                </a:solidFill>
                <a:latin typeface="PingFang SC"/>
                <a:ea typeface="PingFang SC"/>
              </a:rPr>
              <a:t>−54  fda81ef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5124450" y="1962150"/>
            <a:ext cx="70485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1 </a:t>
            </a:r>
            <a:r>
              <a:rPr lang="zh-CN" sz="713">
                <a:solidFill>
                  <a:srgbClr val="EDF1F5"/>
                </a:solidFill>
                <a:latin typeface="PingFang SC"/>
                <a:ea typeface="PingFang SC"/>
              </a:rPr>
              <a:t>小时</a:t>
            </a: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 02 </a:t>
            </a:r>
            <a:r>
              <a:rPr lang="zh-CN" sz="713">
                <a:solidFill>
                  <a:srgbClr val="EDF1F5"/>
                </a:solidFill>
                <a:latin typeface="PingFang SC"/>
                <a:ea typeface="PingFang SC"/>
              </a:rPr>
              <a:t>分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829300" y="1962150"/>
            <a:ext cx="45720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100%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286500" y="1962150"/>
            <a:ext cx="72390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13">
                <a:solidFill>
                  <a:srgbClr val="4CB8A6"/>
                </a:solidFill>
                <a:latin typeface="PingFang SC"/>
                <a:ea typeface="PingFang SC"/>
              </a:rPr>
              <a:t>已核实</a:t>
            </a: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 ✓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723900" y="2219325"/>
            <a:ext cx="6553200" cy="390525"/>
          </a:xfrm>
          <a:custGeom>
            <a:pathLst>
              <a:path w="688" h="41">
                <a:moveTo>
                  <a:pt x="0" y="40"/>
                </a:moveTo>
                <a:lnTo>
                  <a:pt x="688" y="40"/>
                </a:lnTo>
                <a:lnTo>
                  <a:pt x="688" y="41"/>
                </a:lnTo>
                <a:lnTo>
                  <a:pt x="0" y="4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23900" y="2352675"/>
            <a:ext cx="1524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2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76300" y="2352675"/>
            <a:ext cx="249555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public/functions/api/schools.js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371850" y="2352675"/>
            <a:ext cx="8763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+66  6cc0b93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248150" y="2352675"/>
            <a:ext cx="8763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3A33E"/>
                </a:solidFill>
                <a:latin typeface="PingFang SC"/>
                <a:ea typeface="PingFang SC"/>
              </a:rPr>
              <a:t>−57  fda81ef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5124450" y="2352675"/>
            <a:ext cx="70485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1 </a:t>
            </a:r>
            <a:r>
              <a:rPr lang="zh-CN" sz="713">
                <a:solidFill>
                  <a:srgbClr val="EDF1F5"/>
                </a:solidFill>
                <a:latin typeface="PingFang SC"/>
                <a:ea typeface="PingFang SC"/>
              </a:rPr>
              <a:t>小时</a:t>
            </a: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 02 </a:t>
            </a:r>
            <a:r>
              <a:rPr lang="zh-CN" sz="713">
                <a:solidFill>
                  <a:srgbClr val="EDF1F5"/>
                </a:solidFill>
                <a:latin typeface="PingFang SC"/>
                <a:ea typeface="PingFang SC"/>
              </a:rPr>
              <a:t>分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829300" y="2352675"/>
            <a:ext cx="45720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100%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286500" y="2352675"/>
            <a:ext cx="72390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13">
                <a:solidFill>
                  <a:srgbClr val="4CB8A6"/>
                </a:solidFill>
                <a:latin typeface="PingFang SC"/>
                <a:ea typeface="PingFang SC"/>
              </a:rPr>
              <a:t>已核实</a:t>
            </a: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 ✓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723900" y="2609850"/>
            <a:ext cx="6553200" cy="390525"/>
          </a:xfrm>
          <a:custGeom>
            <a:pathLst>
              <a:path w="688" h="41">
                <a:moveTo>
                  <a:pt x="0" y="40"/>
                </a:moveTo>
                <a:lnTo>
                  <a:pt x="688" y="40"/>
                </a:lnTo>
                <a:lnTo>
                  <a:pt x="688" y="41"/>
                </a:lnTo>
                <a:lnTo>
                  <a:pt x="0" y="4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23900" y="2743200"/>
            <a:ext cx="1524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3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76300" y="2743200"/>
            <a:ext cx="249555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public/functions/api/ai/recommend.js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371850" y="2743200"/>
            <a:ext cx="8763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+143  fda81ef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248150" y="2743200"/>
            <a:ext cx="8763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3A33E"/>
                </a:solidFill>
                <a:latin typeface="PingFang SC"/>
                <a:ea typeface="PingFang SC"/>
              </a:rPr>
              <a:t>−105  674486b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124450" y="2743200"/>
            <a:ext cx="70485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1 </a:t>
            </a:r>
            <a:r>
              <a:rPr lang="zh-CN" sz="713">
                <a:solidFill>
                  <a:srgbClr val="EDF1F5"/>
                </a:solidFill>
                <a:latin typeface="PingFang SC"/>
                <a:ea typeface="PingFang SC"/>
              </a:rPr>
              <a:t>小时</a:t>
            </a: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 06 </a:t>
            </a:r>
            <a:r>
              <a:rPr lang="zh-CN" sz="713">
                <a:solidFill>
                  <a:srgbClr val="EDF1F5"/>
                </a:solidFill>
                <a:latin typeface="PingFang SC"/>
                <a:ea typeface="PingFang SC"/>
              </a:rPr>
              <a:t>分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829300" y="2743200"/>
            <a:ext cx="45720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100%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286500" y="2743200"/>
            <a:ext cx="72390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13">
                <a:solidFill>
                  <a:srgbClr val="4CB8A6"/>
                </a:solidFill>
                <a:latin typeface="PingFang SC"/>
                <a:ea typeface="PingFang SC"/>
              </a:rPr>
              <a:t>已核实</a:t>
            </a: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 ✓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723900" y="3000375"/>
            <a:ext cx="6553200" cy="390525"/>
          </a:xfrm>
          <a:custGeom>
            <a:pathLst>
              <a:path w="688" h="41">
                <a:moveTo>
                  <a:pt x="0" y="40"/>
                </a:moveTo>
                <a:lnTo>
                  <a:pt x="688" y="40"/>
                </a:lnTo>
                <a:lnTo>
                  <a:pt x="688" y="41"/>
                </a:lnTo>
                <a:lnTo>
                  <a:pt x="0" y="4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23900" y="3133725"/>
            <a:ext cx="1524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4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76300" y="3133725"/>
            <a:ext cx="249555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public/functions/api/applications.js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3371850" y="3133725"/>
            <a:ext cx="8763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+107  fda81ef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248150" y="3133725"/>
            <a:ext cx="8763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3A33E"/>
                </a:solidFill>
                <a:latin typeface="PingFang SC"/>
                <a:ea typeface="PingFang SC"/>
              </a:rPr>
              <a:t>−107  ed18ec5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5124450" y="3133725"/>
            <a:ext cx="70485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2 </a:t>
            </a:r>
            <a:r>
              <a:rPr lang="zh-CN" sz="713">
                <a:solidFill>
                  <a:srgbClr val="EDF1F5"/>
                </a:solidFill>
                <a:latin typeface="PingFang SC"/>
                <a:ea typeface="PingFang SC"/>
              </a:rPr>
              <a:t>小时</a:t>
            </a: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 30 </a:t>
            </a:r>
            <a:r>
              <a:rPr lang="zh-CN" sz="713">
                <a:solidFill>
                  <a:srgbClr val="EDF1F5"/>
                </a:solidFill>
                <a:latin typeface="PingFang SC"/>
                <a:ea typeface="PingFang SC"/>
              </a:rPr>
              <a:t>分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829300" y="3133725"/>
            <a:ext cx="45720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100%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286500" y="3133725"/>
            <a:ext cx="72390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13">
                <a:solidFill>
                  <a:srgbClr val="4CB8A6"/>
                </a:solidFill>
                <a:latin typeface="PingFang SC"/>
                <a:ea typeface="PingFang SC"/>
              </a:rPr>
              <a:t>已核实</a:t>
            </a: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 ✓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723900" y="3390900"/>
            <a:ext cx="6553200" cy="390525"/>
          </a:xfrm>
          <a:custGeom>
            <a:pathLst>
              <a:path w="688" h="41">
                <a:moveTo>
                  <a:pt x="0" y="40"/>
                </a:moveTo>
                <a:lnTo>
                  <a:pt x="688" y="40"/>
                </a:lnTo>
                <a:lnTo>
                  <a:pt x="688" y="41"/>
                </a:lnTo>
                <a:lnTo>
                  <a:pt x="0" y="4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23900" y="3524250"/>
            <a:ext cx="1524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5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76300" y="3524250"/>
            <a:ext cx="249555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public/functions/api/applications/[id].js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371850" y="3524250"/>
            <a:ext cx="8763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+76  fda81ef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248150" y="3524250"/>
            <a:ext cx="8763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3A33E"/>
                </a:solidFill>
                <a:latin typeface="PingFang SC"/>
                <a:ea typeface="PingFang SC"/>
              </a:rPr>
              <a:t>−76  ed18ec5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124450" y="3524250"/>
            <a:ext cx="70485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2 </a:t>
            </a:r>
            <a:r>
              <a:rPr lang="zh-CN" sz="713">
                <a:solidFill>
                  <a:srgbClr val="EDF1F5"/>
                </a:solidFill>
                <a:latin typeface="PingFang SC"/>
                <a:ea typeface="PingFang SC"/>
              </a:rPr>
              <a:t>小时</a:t>
            </a: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 30 </a:t>
            </a:r>
            <a:r>
              <a:rPr lang="zh-CN" sz="713">
                <a:solidFill>
                  <a:srgbClr val="EDF1F5"/>
                </a:solidFill>
                <a:latin typeface="PingFang SC"/>
                <a:ea typeface="PingFang SC"/>
              </a:rPr>
              <a:t>分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829300" y="3524250"/>
            <a:ext cx="45720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100%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286500" y="3524250"/>
            <a:ext cx="72390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13">
                <a:solidFill>
                  <a:srgbClr val="4CB8A6"/>
                </a:solidFill>
                <a:latin typeface="PingFang SC"/>
                <a:ea typeface="PingFang SC"/>
              </a:rPr>
              <a:t>已核实</a:t>
            </a: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 ✓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723900" y="3781425"/>
            <a:ext cx="6553200" cy="390525"/>
          </a:xfrm>
          <a:custGeom>
            <a:pathLst>
              <a:path w="688" h="41">
                <a:moveTo>
                  <a:pt x="0" y="40"/>
                </a:moveTo>
                <a:lnTo>
                  <a:pt x="688" y="40"/>
                </a:lnTo>
                <a:lnTo>
                  <a:pt x="688" y="41"/>
                </a:lnTo>
                <a:lnTo>
                  <a:pt x="0" y="4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23900" y="3914775"/>
            <a:ext cx="1524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6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76300" y="3914775"/>
            <a:ext cx="249555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public/js/i18n/fr.json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371850" y="3914775"/>
            <a:ext cx="8763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+95  fda81ef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248150" y="3914775"/>
            <a:ext cx="8763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3A33E"/>
                </a:solidFill>
                <a:latin typeface="PingFang SC"/>
                <a:ea typeface="PingFang SC"/>
              </a:rPr>
              <a:t>−96  ed18ec5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124450" y="3914775"/>
            <a:ext cx="70485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2 </a:t>
            </a:r>
            <a:r>
              <a:rPr lang="zh-CN" sz="713">
                <a:solidFill>
                  <a:srgbClr val="EDF1F5"/>
                </a:solidFill>
                <a:latin typeface="PingFang SC"/>
                <a:ea typeface="PingFang SC"/>
              </a:rPr>
              <a:t>小时</a:t>
            </a: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 30 </a:t>
            </a:r>
            <a:r>
              <a:rPr lang="zh-CN" sz="713">
                <a:solidFill>
                  <a:srgbClr val="EDF1F5"/>
                </a:solidFill>
                <a:latin typeface="PingFang SC"/>
                <a:ea typeface="PingFang SC"/>
              </a:rPr>
              <a:t>分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829300" y="3914775"/>
            <a:ext cx="45720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99%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286500" y="3914775"/>
            <a:ext cx="72390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13">
                <a:solidFill>
                  <a:srgbClr val="4CB8A6"/>
                </a:solidFill>
                <a:latin typeface="PingFang SC"/>
                <a:ea typeface="PingFang SC"/>
              </a:rPr>
              <a:t>已核实</a:t>
            </a: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 ✓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723900" y="4171950"/>
            <a:ext cx="6553200" cy="390525"/>
          </a:xfrm>
          <a:custGeom>
            <a:pathLst>
              <a:path w="688" h="41">
                <a:moveTo>
                  <a:pt x="0" y="40"/>
                </a:moveTo>
                <a:lnTo>
                  <a:pt x="688" y="40"/>
                </a:lnTo>
                <a:lnTo>
                  <a:pt x="688" y="41"/>
                </a:lnTo>
                <a:lnTo>
                  <a:pt x="0" y="4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23900" y="4305300"/>
            <a:ext cx="1524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7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76300" y="4305300"/>
            <a:ext cx="249555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public/pages/tracker.html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3371850" y="4305300"/>
            <a:ext cx="8763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+907  fda81ef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248150" y="4305300"/>
            <a:ext cx="87630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3A33E"/>
                </a:solidFill>
                <a:latin typeface="PingFang SC"/>
                <a:ea typeface="PingFang SC"/>
              </a:rPr>
              <a:t>−957  ed18ec5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124450" y="4305300"/>
            <a:ext cx="704850" cy="114300"/>
          </a:xfrm>
          <a:prstGeom prst="rect"/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2 </a:t>
            </a:r>
            <a:r>
              <a:rPr lang="zh-CN" sz="713">
                <a:solidFill>
                  <a:srgbClr val="EDF1F5"/>
                </a:solidFill>
                <a:latin typeface="PingFang SC"/>
                <a:ea typeface="PingFang SC"/>
              </a:rPr>
              <a:t>小时</a:t>
            </a:r>
            <a:r>
              <a:rPr lang="en-US" sz="713">
                <a:solidFill>
                  <a:srgbClr val="EDF1F5"/>
                </a:solidFill>
                <a:latin typeface="PingFang SC"/>
                <a:ea typeface="PingFang SC"/>
              </a:rPr>
              <a:t> 30 </a:t>
            </a:r>
            <a:r>
              <a:rPr lang="zh-CN" sz="713">
                <a:solidFill>
                  <a:srgbClr val="EDF1F5"/>
                </a:solidFill>
                <a:latin typeface="PingFang SC"/>
                <a:ea typeface="PingFang SC"/>
              </a:rPr>
              <a:t>分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829300" y="4305300"/>
            <a:ext cx="45720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93%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286500" y="4305300"/>
            <a:ext cx="72390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13">
                <a:solidFill>
                  <a:srgbClr val="4CB8A6"/>
                </a:solidFill>
                <a:latin typeface="PingFang SC"/>
                <a:ea typeface="PingFang SC"/>
              </a:rPr>
              <a:t>已核实</a:t>
            </a:r>
            <a:r>
              <a:rPr lang="en-US" sz="713">
                <a:solidFill>
                  <a:srgbClr val="4CB8A6"/>
                </a:solidFill>
                <a:latin typeface="PingFang SC"/>
                <a:ea typeface="PingFang SC"/>
              </a:rPr>
              <a:t> ✓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723900" y="4657725"/>
            <a:ext cx="6553200" cy="733425"/>
          </a:xfrm>
          <a:prstGeom prst="roundRect">
            <a:avLst>
              <a:gd name="adj" fmla="val 10390"/>
            </a:avLst>
          </a:prstGeom>
          <a:solidFill>
            <a:srgbClr val="E3A33E">
              <a:alpha val="10000"/>
            </a:srgbClr>
          </a:solidFill>
          <a:ln w="12700">
            <a:solidFill>
              <a:srgbClr val="E3A33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38200" y="4743450"/>
            <a:ext cx="6324600" cy="1809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788" b="1">
                <a:solidFill>
                  <a:srgbClr val="E3A33E"/>
                </a:solidFill>
                <a:latin typeface="PingFang SC"/>
                <a:ea typeface="PingFang SC"/>
              </a:rPr>
              <a:t>同一次运行里，</a:t>
            </a:r>
            <a:r>
              <a:rPr lang="en-US" sz="788" b="1">
                <a:solidFill>
                  <a:srgbClr val="E3A33E"/>
                </a:solidFill>
                <a:latin typeface="PingFang SC"/>
                <a:ea typeface="PingFang SC"/>
              </a:rPr>
              <a:t>openclaw/openclaw </a:t>
            </a:r>
            <a:r>
              <a:rPr lang="zh-CN" sz="788" b="1">
                <a:solidFill>
                  <a:srgbClr val="E3A33E"/>
                </a:solidFill>
                <a:latin typeface="PingFang SC"/>
                <a:ea typeface="PingFang SC"/>
              </a:rPr>
              <a:t>有</a:t>
            </a:r>
            <a:r>
              <a:rPr lang="en-US" sz="788" b="1">
                <a:solidFill>
                  <a:srgbClr val="E3A33E"/>
                </a:solidFill>
                <a:latin typeface="PingFang SC"/>
                <a:ea typeface="PingFang SC"/>
              </a:rPr>
              <a:t> 1 </a:t>
            </a:r>
            <a:r>
              <a:rPr lang="zh-CN" sz="788" b="1">
                <a:solidFill>
                  <a:srgbClr val="E3A33E"/>
                </a:solidFill>
                <a:latin typeface="PingFang SC"/>
                <a:ea typeface="PingFang SC"/>
              </a:rPr>
              <a:t>处候选被程序否定</a:t>
            </a:r>
            <a:r>
              <a:rPr lang="en-US" sz="788" b="1">
                <a:solidFill>
                  <a:srgbClr val="E3A33E"/>
                </a:solidFill>
                <a:latin typeface="PingFang SC"/>
                <a:ea typeface="PingFang SC"/>
              </a:rPr>
              <a:t> —— </a:t>
            </a:r>
            <a:r>
              <a:rPr lang="zh-CN" sz="788" b="1">
                <a:solidFill>
                  <a:srgbClr val="E3A33E"/>
                </a:solidFill>
                <a:latin typeface="PingFang SC"/>
                <a:ea typeface="PingFang SC"/>
              </a:rPr>
              <a:t>这是「不编结论」的证据，而不是把假阳性藏起来。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38200" y="4962525"/>
            <a:ext cx="63246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750">
                <a:solidFill>
                  <a:srgbClr val="A8B2BE"/>
                </a:solidFill>
                <a:latin typeface="PingFang SC"/>
                <a:ea typeface="PingFang SC"/>
              </a:rPr>
              <a:t>src/agents/main-session-recovery/main-session-restart-recovery.test.ts</a:t>
            </a:r>
            <a:endParaRPr/>
          </a:p>
          <a:p>
            <a:pPr>
              <a:lnSpc>
                <a:spcPct val="150000"/>
              </a:lnSpc>
            </a:pPr>
            <a:r>
              <a:rPr lang="en-US" sz="750">
                <a:solidFill>
                  <a:srgbClr val="A8B2BE"/>
                </a:solidFill>
                <a:latin typeface="PingFang SC"/>
                <a:ea typeface="PingFang SC"/>
              </a:rPr>
              <a:t>18f1c11 </a:t>
            </a:r>
            <a:r>
              <a:rPr lang="zh-CN" sz="750">
                <a:solidFill>
                  <a:srgbClr val="A8B2BE"/>
                </a:solidFill>
                <a:latin typeface="PingFang SC"/>
                <a:ea typeface="PingFang SC"/>
              </a:rPr>
              <a:t>加入</a:t>
            </a:r>
            <a:r>
              <a:rPr lang="en-US" sz="750">
                <a:solidFill>
                  <a:srgbClr val="A8B2BE"/>
                </a:solidFill>
                <a:latin typeface="PingFang SC"/>
                <a:ea typeface="PingFang SC"/>
              </a:rPr>
              <a:t> +57 </a:t>
            </a:r>
            <a:r>
              <a:rPr lang="zh-CN" sz="750">
                <a:solidFill>
                  <a:srgbClr val="A8B2BE"/>
                </a:solidFill>
                <a:latin typeface="PingFang SC"/>
                <a:ea typeface="PingFang SC"/>
              </a:rPr>
              <a:t>行</a:t>
            </a:r>
            <a:r>
              <a:rPr lang="en-US" sz="750">
                <a:solidFill>
                  <a:srgbClr val="A8B2BE"/>
                </a:solidFill>
                <a:latin typeface="PingFang SC"/>
                <a:ea typeface="PingFang SC"/>
              </a:rPr>
              <a:t> → 9e7a575 </a:t>
            </a:r>
            <a:r>
              <a:rPr lang="zh-CN" sz="750">
                <a:solidFill>
                  <a:srgbClr val="A8B2BE"/>
                </a:solidFill>
                <a:latin typeface="PingFang SC"/>
                <a:ea typeface="PingFang SC"/>
              </a:rPr>
              <a:t>拆除</a:t>
            </a:r>
            <a:r>
              <a:rPr lang="en-US" sz="750">
                <a:solidFill>
                  <a:srgbClr val="A8B2BE"/>
                </a:solidFill>
                <a:latin typeface="PingFang SC"/>
                <a:ea typeface="PingFang SC"/>
              </a:rPr>
              <a:t> −40 </a:t>
            </a:r>
            <a:r>
              <a:rPr lang="zh-CN" sz="750">
                <a:solidFill>
                  <a:srgbClr val="A8B2BE"/>
                </a:solidFill>
                <a:latin typeface="PingFang SC"/>
                <a:ea typeface="PingFang SC"/>
              </a:rPr>
              <a:t>行；可比</a:t>
            </a:r>
            <a:r>
              <a:rPr lang="en-US" sz="750">
                <a:solidFill>
                  <a:srgbClr val="A8B2BE"/>
                </a:solidFill>
                <a:latin typeface="PingFang SC"/>
                <a:ea typeface="PingFang SC"/>
              </a:rPr>
              <a:t> 31 </a:t>
            </a:r>
            <a:r>
              <a:rPr lang="zh-CN" sz="750">
                <a:solidFill>
                  <a:srgbClr val="A8B2BE"/>
                </a:solidFill>
                <a:latin typeface="PingFang SC"/>
                <a:ea typeface="PingFang SC"/>
              </a:rPr>
              <a:t>行中重合</a:t>
            </a:r>
            <a:r>
              <a:rPr lang="en-US" sz="750">
                <a:solidFill>
                  <a:srgbClr val="A8B2BE"/>
                </a:solidFill>
                <a:latin typeface="PingFang SC"/>
                <a:ea typeface="PingFang SC"/>
              </a:rPr>
              <a:t> 0%</a:t>
            </a:r>
            <a:r>
              <a:rPr lang="zh-CN" sz="750">
                <a:solidFill>
                  <a:srgbClr val="A8B2BE"/>
                </a:solidFill>
                <a:latin typeface="PingFang SC"/>
                <a:ea typeface="PingFang SC"/>
              </a:rPr>
              <a:t>，低于阈值</a:t>
            </a:r>
            <a:r>
              <a:rPr lang="en-US" sz="750">
                <a:solidFill>
                  <a:srgbClr val="A8B2BE"/>
                </a:solidFill>
                <a:latin typeface="PingFang SC"/>
                <a:ea typeface="PingFang SC"/>
              </a:rPr>
              <a:t> 50% → </a:t>
            </a:r>
            <a:r>
              <a:rPr lang="zh-CN" sz="750">
                <a:solidFill>
                  <a:srgbClr val="A8B2BE"/>
                </a:solidFill>
                <a:latin typeface="PingFang SC"/>
                <a:ea typeface="PingFang SC"/>
              </a:rPr>
              <a:t>判定「重写而非放弃」，不计入风险分。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7581900" y="1104900"/>
            <a:ext cx="4038600" cy="3609975"/>
          </a:xfrm>
          <a:prstGeom prst="roundRect">
            <a:avLst>
              <a:gd name="adj" fmla="val 2639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pic>
        <p:nvPicPr>
          <p:cNvPr id="103" name=""/>
          <p:cNvPicPr>
            <a:picLocks noChangeAspect="1"/>
          </p:cNvPicPr>
          <p:nvPr/>
        </p:nvPicPr>
        <p:blipFill>
          <a:blip r:embed="rId1"/>
          <a:srcRect l="53" t="0" r="53" b="0"/>
          <a:stretch>
            <a:fillRect/>
          </a:stretch>
        </p:blipFill>
        <p:spPr>
          <a:xfrm rot="0" flipH="0" flipV="0">
            <a:off x="7658100" y="1181100"/>
            <a:ext cx="3886200" cy="3457575"/>
          </a:xfrm>
          <a:prstGeom prst="rect">
            <a:avLst/>
          </a:prstGeom>
          <a:ln/>
        </p:spPr>
      </p:pic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581900" y="4791075"/>
            <a:ext cx="40386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13">
                <a:solidFill>
                  <a:srgbClr val="6B7684"/>
                </a:solidFill>
                <a:latin typeface="PingFang SC"/>
                <a:ea typeface="PingFang SC"/>
              </a:rPr>
              <a:t>上图为产品界面中「地层里的证据」区块的真实截图：每一处都写明加入</a:t>
            </a: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 / </a:t>
            </a:r>
            <a:r>
              <a:rPr lang="zh-CN" sz="713">
                <a:solidFill>
                  <a:srgbClr val="6B7684"/>
                </a:solidFill>
                <a:latin typeface="PingFang SC"/>
                <a:ea typeface="PingFang SC"/>
              </a:rPr>
              <a:t>拆除的</a:t>
            </a: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 commit SHA</a:t>
            </a:r>
            <a:r>
              <a:rPr lang="zh-CN" sz="713">
                <a:solidFill>
                  <a:srgbClr val="6B7684"/>
                </a:solidFill>
                <a:latin typeface="PingFang SC"/>
                <a:ea typeface="PingFang SC"/>
              </a:rPr>
              <a:t>、行数、存活时长与内容重合率，可逐条回</a:t>
            </a: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 GitHub </a:t>
            </a:r>
            <a:r>
              <a:rPr lang="zh-CN" sz="713">
                <a:solidFill>
                  <a:srgbClr val="6B7684"/>
                </a:solidFill>
                <a:latin typeface="PingFang SC"/>
                <a:ea typeface="PingFang SC"/>
              </a:rPr>
              <a:t>核对。</a:t>
            </a:r>
            <a:endParaRPr/>
          </a:p>
          <a:p>
            <a:pPr>
              <a:lnSpc>
                <a:spcPct val="145000"/>
              </a:lnSpc>
            </a:pP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Live product screenshot: every entry carries its SHAs, line counts, lifespan and content overlap — verifiable one by one on GitHub.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71500" y="5943600"/>
            <a:ext cx="11049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第三方仓库来源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/ Third-party source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：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ody-cai/topfo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（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HTML · 2 stars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）·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GitHub REST API v3 ·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采集窗口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2026-07-09T02:38:58Z → 2026-09-20T01:53:29Z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（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UTC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571500" y="6229350"/>
            <a:ext cx="11049000" cy="342900"/>
          </a:xfrm>
          <a:custGeom>
            <a:pathLst>
              <a:path w="1160" h="36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571500" y="6315075"/>
            <a:ext cx="3743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代码考古学</a:t>
            </a: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 / Code Archaeology · BAYTECH 2026 · AI </a:t>
            </a: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应用与工程赛道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249025" y="631507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09" name="" descr="&lt;Slide style={{ width: '1280px', height: '720px', padding: '20px 60px', background: '#10141A', fontFamily: &quot;'PingFang SC','Microsoft YaHei','Helvetica Neue',sans-serif&quot;, flexDirection: 'column' }}&gt;&#10;&#10;  &lt;Box style={{ height: 96, justifyContent: 'center' }}&gt;&#10;    &lt;Box style={{ flexDirection: 'row', alignItems: 'flex-end', justifyContent: 'space-between' }}&gt;&#10;      &lt;Box&gt;&#10;        &lt;Text style={{ fontSize: 32, fontWeight: 'bold', lineHeight: 1.22, color: '#EDF1F5', fontFamily: &quot;'Source Han Serif SC','Noto Serif SC','Songti SC',serif&quot; }}&gt;多模型分工，与不依赖模型的证据接地校验&lt;/Text&gt;&#10;        &lt;Text style={{ fontSize: 14.5, color: '#8892A0', marginTop: 7, letterSpacing: 0.3 }}&gt;Three models in sequence — and grounding checked without any model&lt;/Text&gt;&#10;      &lt;/Box&gt;&#10;      &#10;    &lt;/Box&gt;&#10;  &lt;/Box&gt;&#10;    &lt;Box style={{ height: 500 }}&gt;&#10;      &lt;Box style={{ flexDirection: 'row', gap: 16, height: 286 }}&gt;&#10;&#10;        &lt;Box style={{ flex: 1, padding: '13px 15px', background: '#1D242E', borderRadius: 10, border: '1px solid #232C38', flexDirection: 'column' }}&gt;&#10;          &lt;Text style={{ fontSize: 9.5, fontWeight: 'bold', color: '#4CB8A6', letterSpacing: 1.2 }}&gt;叙事者 / NARRATOR&lt;/Text&gt;&#10;          &lt;Text style={{ fontSize: 14, fontWeight: 'bold', color: '#EDF1F5', marginTop: 5 }}&gt;gpt-4o&lt;/Text&gt;&#10;          &lt;Text style={{ fontSize: 10, color: '#8892A0', marginTop: 3 }}&gt;Renders the commit stream into a decision history&lt;/Text&gt;&#10;          &lt;Box style={{ marginTop: 8, paddingTop: 8, borderTop: '1px solid #2C3542' }}&gt;&#10;            &lt;Text style={{ fontSize: 11.5, lineHeight: 1.6, color: '#A8B2BE' }}&gt;它把两仓库的提交序列各自还原成一条决策史，并为每个转折点标注对应的 commit SHA：openclaw 与 topfo 各识别 2 个转折点，全部通过下方证据接地校验。其输出的标题与叙述见第 08、09 页的实测数字旁。&lt;/Text&gt;&#10;            &lt;Text style={{ fontSize: 9.5, lineHeight: 1.45, color: '#6B7684', marginTop: 5 }}&gt;It renders each commit stream into a decision history; every turning point it names must cite a real commit SHA.&lt;/Text&gt;&#10;          &lt;/Box&gt;&#10;        &lt;/Box&gt;&#10;&#10;        &lt;Box style={{ flex: 1, padding: '13px 15px', background: '#1D242E', borderRadius: 10, border: '1px solid #232C38', flexDirection: 'column' }}&gt;&#10;          &lt;Text style={{ fontSize: 9.5, fontWeight: 'bold', color: '#E3A33E', letterSpacing: 1.2 }}&gt;假设者 / HYPOTHESIZER&lt;/Text&gt;&#10;          &lt;Text style={{ fontSize: 14, fontWeight: 'bold', color: '#EDF1F5', marginTop: 5 }}&gt;deepseek-v4-pro&lt;/Text&gt;&#10;          &lt;Text style={{ fontSize: 10, color: '#8892A0', marginTop: 3 }}&gt;Infers what an abandoned change was trying to do&lt;/Text&gt;&#10;          &lt;Box style={{ marginTop: 8, paddingTop: 8, borderTop: '1px solid #2C3542' }}&gt;&#10;            &lt;Text style={{ fontSize: 11.5, lineHeight: 1.6, color: '#A8B2BE' }}&gt;topfo 输出 6 条推断，逐条标置信度与依据，全部接地；并归纳出「这批被放弃的改动呈现出典型的「架构升级阵痛」模式」这一模式。openclaw 在窗口内没有检出候选，于是&lt;span style={{ color: '#E3A33E', fontWeight: 'bold' }}&gt;直接跳过&lt;/span&gt;（skipReason: no_abandoned_attempts）—— 宁可不给结论，也不编一个。&lt;/Text&gt;&#10;            &lt;Text style={{ fontSize: 9.5, lineHeight: 1.45, color: '#6B7684', marginTop: 5 }}&gt;On openclaw the layer skipped itself rather than produce an invented narrative.&lt;/Text&gt;&#10;          &lt;/Box&gt;&#10;        &lt;/Box&gt;&#10;&#10;        &lt;Box style={{ flex: 1, padding: '13px 15px', background: '#1D242E', borderRadius: 10, border: '1px solid #232C38', flexDirection: 'column' }}&gt;&#10;          &lt;Text style={{ fontSize: 9.5, fontWeight: 'bold', color: '#4CB8A6', letterSpacing: 1.2 }}&gt;审稿人 / APPRAISER&lt;/Text&gt;&#10;          &lt;Text style={{ fontSize: 14, fontWeight: 'bold', color: '#EDF1F5', marginTop: 5 }}&gt;gemini-2.5-flash&lt;/Text&gt;&#10;          &lt;Text style={{ fontSize: 10, color: '#8892A0', marginTop: 3 }}&gt;Reviews both, issues a verdict and a question list&lt;/Text&gt;&#10;          &lt;Box style={{ marginTop: 8, paddingTop: 8, borderTop: '1px solid #2C3542' }}&gt;&#10;            &lt;Text style={{ fontSize: 11.5, lineHeight: 1.6, color: '#A8B2BE' }}&gt;openclaw 裁决：「这份代码的历史非常清晰且高度规范，没有回滚、打转或含糊提交，属于一次目标明确的高效集中修复。」；topfo 裁决：「代码历史整体清晰，虽然经历过架构升级带来的阵痛和62天沉寂，但提交质量极高且无含糊信息，属于目标明确的快速演进项目。」。它并不一味附和 —— 本次对假设者提出 2 条质疑，指出其「仅凭同一个提交里伴随的语法修复就推断国际化方案未定」属于过度推断。&lt;/Text&gt;&#10;            &lt;Text style={{ fontSize: 9.5, lineHeight: 1.45, color: '#6B7684', marginTop: 5 }}&gt;The appraiser openly challenged the hypothesizer's over-inference — the critique is part of the output.&lt;/Text&gt;&#10;          &lt;/Box&gt;&#10;        &lt;/Box&gt;&#10;      &lt;/Box&gt;&#10;&#10;      &lt;Box style={{ flexDirection: 'row', gap: 16, height: 92, marginTop: 12, padding: '12px 18px', background: '#1D242E', borderRadius: 10, border: '1px solid rgba(76,184,166,0.40)' }}&gt;&#10;        &#10;          &lt;Box style={{ flex: 1 }}&gt;&#10;            &lt;Text style={{ fontSize: 22, fontWeight: 'bold', color: '#EDF1F5', fontFamily: &quot;'Source Han Serif SC','Noto Serif SC','Songti SC',serif&quot; }}&gt;10&lt;/Text&gt;&#10;            &lt;Text style={{ fontSize: 10.5, color: '#EDF1F5', marginTop: 3 }}&gt;条推断 · 两仓库合计&lt;/Text&gt;&#10;            &lt;Text style={{ fontSize: 9.5, color: '#8892A0', marginTop: 1 }}&gt;claims, both repos&lt;/Text&gt;&#10;          &lt;/Box&gt;&#10;        &#10;          &lt;Box style={{ flex: 1 }}&gt;&#10;            &lt;Text style={{ fontSize: 22, fontWeight: 'bold', color: '#EDF1F5', fontFamily: &quot;'Source Han Serif SC','Noto Serif SC','Songti SC',serif&quot; }}&gt;18&lt;/Text&gt;&#10;            &lt;Text style={{ fontSize: 10.5, color: '#EDF1F5', marginTop: 3 }}&gt;个 commit SHA 引用&lt;/Text&gt;&#10;            &lt;Text style={{ fontSize: 9.5, color: '#8892A0', marginTop: 1 }}&gt;commit SHA citations&lt;/Text&gt;&#10;          &lt;/Box&gt;&#10;        &#10;          &lt;Box style={{ flex: 1 }}&gt;&#10;            &lt;Text style={{ fontSize: 22, fontWeight: 'bold', color: '#4CB8A6', fontFamily: &quot;'Source Han Serif SC','Noto Serif SC','Songti SC',serif&quot; }}&gt;0&lt;/Text&gt;&#10;            &lt;Text style={{ fontSize: 10.5, color: '#EDF1F5', marginTop: 3 }}&gt;条编造证据&lt;/Text&gt;&#10;            &lt;Text style={{ fontSize: 9.5, color: '#8892A0', marginTop: 1 }}&gt;fabricated citations&lt;/Text&gt;&#10;          &lt;/Box&gt;&#10;        &#10;          &lt;Box style={{ flex: 1 }}&gt;&#10;            &lt;Text style={{ fontSize: 22, fontWeight: 'bold', color: '#4CB8A6', fontFamily: &quot;'Source Han Serif SC','Noto Serif SC','Songti SC',serif&quot; }}&gt;0&lt;/Text&gt;&#10;            &lt;Text style={{ fontSize: 10.5, color: '#EDF1F5', marginTop: 3 }}&gt;条无效引用&lt;/Text&gt;&#10;            &lt;Text style={{ fontSize: 9.5, color: '#8892A0', marginTop: 1 }}&gt;invalid citations&lt;/Text&gt;&#10;          &lt;/Box&gt;&#10;        &#10;          &lt;Box style={{ flex: 1 }}&gt;&#10;            &lt;Text style={{ fontSize: 22, fontWeight: 'bold', color: '#4CB8A6', fontFamily: &quot;'Source Han Serif SC','Noto Serif SC','Songti SC',serif&quot; }}&gt;100%&lt;/Text&gt;&#10;            &lt;Text style={{ fontSize: 10.5, color: '#EDF1F5', marginTop: 3 }}&gt;证据接地率&lt;/Text&gt;&#10;            &lt;Text style={{ fontSize: 9.5, color: '#8892A0', marginTop: 1 }}&gt;grounding rate&lt;/Text&gt;&#10;          &lt;/Box&gt;&#10;      &lt;/Box&gt;&#10;&#10;      &lt;Box style={{ height: 98, marginTop: 12, padding: '10px 18px', background: 'rgba(227,163,62,0.10)', border: '1px solid rgba(227,163,62,0.35)', borderRadius: 10 }}&gt;&#10;        &lt;Text style={{ fontSize: 11, color: '#E3A33E', fontWeight: 'bold' }}&gt;为什么「编造」可以一次集合运算判定 / Why fabrication is provable, not judged&lt;/Text&gt;&#10;        &lt;Text style={{ fontSize: 11.5, lineHeight: 1.5, color: '#EDF1F5', marginTop: 6 }}&gt;&#10;          模型产出的每条结论必须引用一个 commit SHA，而这份 SHA 清单是程序从 GitHub 真实拉回来的。因此「引用了一个不存在的提交」不需要另一个模型来评判 —— 程序对两个集合做一次差集即可判定。这一步 100% 由代码完成，不经过任何模型。&#10;        &lt;/Text&gt;&#10;        &lt;Text style={{ fontSize: 9.5, lineHeight: 1.45, color: '#8892A0', marginTop: 5 }}&gt;&#10;          Every claim must cite a SHA drawn from the API response; a citation outside that set is provable fabrication, decided by set difference — no model involved.&#10;        &lt;/Text&gt;&#10;      &lt;/Box&gt;&#10;    &lt;/Box&gt;&#10;&#10;  &lt;Box style={{ height: 32, justifyContent: 'center' }}&gt;&#10;    &lt;Text style={{ fontSize: 10, lineHeight: 1.4, color: '#6B7684', textAlign: 'right' }}&gt;第三方仓库来源 / Third-party source：openclaw/openclaw（TypeScript · 390,102 stars）· GitHub REST API v3 · 采集窗口 2026-09-20T00:07:32Z → 2026-09-20T02:23:19Z（UTC）&lt;/Text&gt;&#10;    &lt;Text style={{ fontSize: 10, lineHeight: 1.4, color: '#6B7684', textAlign: 'right' }}&gt;第三方仓库来源 / Third-party source：ody-cai/topfo（HTML · 2 stars）· GitHub REST API v3 · 采集窗口 2026-07-09T02:38:58Z → 2026-09-20T01:53:29Z（UTC）&lt;/Text&gt;&#10;  &lt;/Box&gt;&#10;  &lt;Box style={{ height: 36, marginTop: 6, paddingTop: 8, borderTop: '1px solid #232C38', flexDirection: 'row', alignItems: 'flex-start', justifyContent: 'space-between' }}&gt;&#10;    &lt;Text style={{ fontSize: 12, color: '#8892A0' }}&gt;代码考古学 / Code Archaeology · BAYTECH 2026 · AI 应用与工程赛道&lt;/Text&gt;&#10;    &lt;Text style={{ fontSize: 12, color: '#8892A0' }}&gt;11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141A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5791200" cy="447675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2400" b="1">
                <a:solidFill>
                  <a:srgbClr val="EDF1F5"/>
                </a:solidFill>
                <a:latin typeface="Source Han Serif SC"/>
                <a:ea typeface="Source Han Serif SC"/>
              </a:rPr>
              <a:t>多模型分工，与不依赖模型的证据接地校验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71500" y="819150"/>
            <a:ext cx="5791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spc="22">
                <a:solidFill>
                  <a:srgbClr val="8892A0"/>
                </a:solidFill>
                <a:latin typeface="PingFang SC"/>
                <a:ea typeface="PingFang SC"/>
              </a:rPr>
              <a:t>Three models in sequence — and grounding checked without any model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571500" y="1104900"/>
            <a:ext cx="3581400" cy="2724150"/>
          </a:xfrm>
          <a:prstGeom prst="roundRect">
            <a:avLst>
              <a:gd name="adj" fmla="val 3497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14375" y="1228725"/>
            <a:ext cx="32956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b="1" spc="90">
                <a:solidFill>
                  <a:srgbClr val="4CB8A6"/>
                </a:solidFill>
                <a:latin typeface="PingFang SC"/>
                <a:ea typeface="PingFang SC"/>
              </a:rPr>
              <a:t>叙事者</a:t>
            </a:r>
            <a:r>
              <a:rPr lang="en-US" sz="713" b="1" spc="90">
                <a:solidFill>
                  <a:srgbClr val="4CB8A6"/>
                </a:solidFill>
                <a:latin typeface="PingFang SC"/>
                <a:ea typeface="PingFang SC"/>
              </a:rPr>
              <a:t> / NARRATOR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14375" y="1390650"/>
            <a:ext cx="3295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DF1F5"/>
                </a:solidFill>
                <a:latin typeface="PingFang SC"/>
                <a:ea typeface="PingFang SC"/>
              </a:rPr>
              <a:t>gpt-4o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14375" y="1581150"/>
            <a:ext cx="32956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Renders the commit stream into a decision history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714375" y="1771650"/>
            <a:ext cx="3295650" cy="1314450"/>
          </a:xfrm>
          <a:custGeom>
            <a:pathLst>
              <a:path w="346" h="138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2C3542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14375" y="1857375"/>
            <a:ext cx="3295650" cy="847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它把两仓库的提交序列各自还原成一条决策史，并为每个转折点标注对应的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commit SHA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：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openclaw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与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topfo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各识别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2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个转折点，全部通过下方证据接地校验。其输出的标题与叙述见第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08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、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09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页的实测数字旁。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14375" y="2752725"/>
            <a:ext cx="329565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It renders each commit stream into a decision history; every turning point it names must cite a real commit SHA.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4305300" y="1104900"/>
            <a:ext cx="3581400" cy="2724150"/>
          </a:xfrm>
          <a:prstGeom prst="roundRect">
            <a:avLst>
              <a:gd name="adj" fmla="val 3497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448175" y="1228725"/>
            <a:ext cx="32956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b="1" spc="90">
                <a:solidFill>
                  <a:srgbClr val="E3A33E"/>
                </a:solidFill>
                <a:latin typeface="PingFang SC"/>
                <a:ea typeface="PingFang SC"/>
              </a:rPr>
              <a:t>假设者</a:t>
            </a:r>
            <a:r>
              <a:rPr lang="en-US" sz="713" b="1" spc="90">
                <a:solidFill>
                  <a:srgbClr val="E3A33E"/>
                </a:solidFill>
                <a:latin typeface="PingFang SC"/>
                <a:ea typeface="PingFang SC"/>
              </a:rPr>
              <a:t> / HYPOTHESIZER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448175" y="1390650"/>
            <a:ext cx="3295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DF1F5"/>
                </a:solidFill>
                <a:latin typeface="PingFang SC"/>
                <a:ea typeface="PingFang SC"/>
              </a:rPr>
              <a:t>deepseek-v4-pro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448175" y="1581150"/>
            <a:ext cx="32956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Infers what an abandoned change was trying to do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4448175" y="1771650"/>
            <a:ext cx="3295650" cy="1524000"/>
          </a:xfrm>
          <a:custGeom>
            <a:pathLst>
              <a:path w="346" h="160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2C3542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448175" y="1857375"/>
            <a:ext cx="329565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topfo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输出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6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条推断，逐条标置信度与依据，全部接地；并归纳出「这批被放弃的改动呈现出典型的「架构升级阵痛」模式」这一模式。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openclaw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在窗口内没有检出候选，于是</a:t>
            </a:r>
            <a:r>
              <a:rPr lang="zh-CN" sz="863" b="1">
                <a:solidFill>
                  <a:srgbClr val="E3A33E"/>
                </a:solidFill>
                <a:latin typeface="PingFang SC"/>
                <a:ea typeface="PingFang SC"/>
              </a:rPr>
              <a:t>直接跳过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（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skipReason: no_abandoned_attempts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）——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宁可不给结论，也不编一个。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448175" y="2962275"/>
            <a:ext cx="329565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On openclaw the layer skipped itself rather than produce an invented narrative.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8039100" y="1104900"/>
            <a:ext cx="3581400" cy="2724150"/>
          </a:xfrm>
          <a:prstGeom prst="roundRect">
            <a:avLst>
              <a:gd name="adj" fmla="val 3497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181975" y="1228725"/>
            <a:ext cx="32956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b="1" spc="90">
                <a:solidFill>
                  <a:srgbClr val="4CB8A6"/>
                </a:solidFill>
                <a:latin typeface="PingFang SC"/>
                <a:ea typeface="PingFang SC"/>
              </a:rPr>
              <a:t>审稿人</a:t>
            </a:r>
            <a:r>
              <a:rPr lang="en-US" sz="713" b="1" spc="90">
                <a:solidFill>
                  <a:srgbClr val="4CB8A6"/>
                </a:solidFill>
                <a:latin typeface="PingFang SC"/>
                <a:ea typeface="PingFang SC"/>
              </a:rPr>
              <a:t> / APPRAISER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181975" y="1390650"/>
            <a:ext cx="3295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DF1F5"/>
                </a:solidFill>
                <a:latin typeface="PingFang SC"/>
                <a:ea typeface="PingFang SC"/>
              </a:rPr>
              <a:t>gemini-2.5-flash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181975" y="1581150"/>
            <a:ext cx="32956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Reviews both, issues a verdict and a question list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8181975" y="1771650"/>
            <a:ext cx="3295650" cy="1943100"/>
          </a:xfrm>
          <a:custGeom>
            <a:pathLst>
              <a:path w="346" h="204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2C3542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181975" y="1857375"/>
            <a:ext cx="3295650" cy="1476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openclaw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裁决：「这份代码的历史非常清晰且高度规范，没有回滚、打转或含糊提交，属于一次目标明确的高效集中修复。」；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topfo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裁决：「代码历史整体清晰，虽然经历过架构升级带来的阵痛和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62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天沉寂，但提交质量极高且无含糊信息，属于目标明确的快速演进项目。」。它并不一味附和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——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本次对假设者提出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2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条质疑，指出其「仅凭同一个提交里伴随的语法修复就推断国际化方案未定」属于过度推断。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181975" y="3381375"/>
            <a:ext cx="329565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The appraiser openly challenged the hypothesizer's over-inference — the critique is part of the output.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571500" y="3943350"/>
            <a:ext cx="11049000" cy="876300"/>
          </a:xfrm>
          <a:prstGeom prst="roundRect">
            <a:avLst>
              <a:gd name="adj" fmla="val 10870"/>
            </a:avLst>
          </a:prstGeom>
          <a:solidFill>
            <a:srgbClr val="1D242E"/>
          </a:solidFill>
          <a:ln w="12700">
            <a:solidFill>
              <a:srgbClr val="4CB8A6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42950" y="4057650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EDF1F5"/>
                </a:solidFill>
                <a:latin typeface="Source Han Serif SC"/>
                <a:ea typeface="Source Han Serif SC"/>
              </a:rPr>
              <a:t>10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42950" y="4343400"/>
            <a:ext cx="2019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条推断</a:t>
            </a:r>
            <a:r>
              <a:rPr lang="en-US" sz="788">
                <a:solidFill>
                  <a:srgbClr val="EDF1F5"/>
                </a:solidFill>
                <a:latin typeface="PingFang SC"/>
                <a:ea typeface="PingFang SC"/>
              </a:rPr>
              <a:t> · </a:t>
            </a: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两仓库合计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42950" y="4476750"/>
            <a:ext cx="2019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claims, both repos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2914650" y="4057650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EDF1F5"/>
                </a:solidFill>
                <a:latin typeface="Source Han Serif SC"/>
                <a:ea typeface="Source Han Serif SC"/>
              </a:rPr>
              <a:t>18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2914650" y="4343400"/>
            <a:ext cx="2019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个</a:t>
            </a:r>
            <a:r>
              <a:rPr lang="en-US" sz="788">
                <a:solidFill>
                  <a:srgbClr val="EDF1F5"/>
                </a:solidFill>
                <a:latin typeface="PingFang SC"/>
                <a:ea typeface="PingFang SC"/>
              </a:rPr>
              <a:t> commit SHA </a:t>
            </a: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引用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2914650" y="4476750"/>
            <a:ext cx="2019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commit SHA citations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086350" y="4057650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4CB8A6"/>
                </a:solidFill>
                <a:latin typeface="Source Han Serif SC"/>
                <a:ea typeface="Source Han Serif SC"/>
              </a:rPr>
              <a:t>0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086350" y="4343400"/>
            <a:ext cx="2019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条编造证据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086350" y="4476750"/>
            <a:ext cx="2019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fabricated citations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258050" y="4057650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4CB8A6"/>
                </a:solidFill>
                <a:latin typeface="Source Han Serif SC"/>
                <a:ea typeface="Source Han Serif SC"/>
              </a:rPr>
              <a:t>0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258050" y="4343400"/>
            <a:ext cx="2019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条无效引用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258050" y="4476750"/>
            <a:ext cx="2019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invalid citations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9429750" y="4057650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4CB8A6"/>
                </a:solidFill>
                <a:latin typeface="Source Han Serif SC"/>
                <a:ea typeface="Source Han Serif SC"/>
              </a:rPr>
              <a:t>100%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9429750" y="4343400"/>
            <a:ext cx="2019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DF1F5"/>
                </a:solidFill>
                <a:latin typeface="PingFang SC"/>
                <a:ea typeface="PingFang SC"/>
              </a:rPr>
              <a:t>证据接地率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429750" y="4476750"/>
            <a:ext cx="2019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grounding rate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571500" y="4933950"/>
            <a:ext cx="11049000" cy="933450"/>
          </a:xfrm>
          <a:prstGeom prst="roundRect">
            <a:avLst>
              <a:gd name="adj" fmla="val 10204"/>
            </a:avLst>
          </a:prstGeom>
          <a:solidFill>
            <a:srgbClr val="E3A33E">
              <a:alpha val="10000"/>
            </a:srgbClr>
          </a:solidFill>
          <a:ln w="12700">
            <a:solidFill>
              <a:srgbClr val="E3A33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42950" y="5029200"/>
            <a:ext cx="10706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E3A33E"/>
                </a:solidFill>
                <a:latin typeface="PingFang SC"/>
                <a:ea typeface="PingFang SC"/>
              </a:rPr>
              <a:t>为什么「编造」可以一次集合运算判定</a:t>
            </a:r>
            <a:r>
              <a:rPr lang="en-US" sz="825" b="1">
                <a:solidFill>
                  <a:srgbClr val="E3A33E"/>
                </a:solidFill>
                <a:latin typeface="PingFang SC"/>
                <a:ea typeface="PingFang SC"/>
              </a:rPr>
              <a:t> / Why fabrication is provable, not judged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42950" y="5219700"/>
            <a:ext cx="107061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EDF1F5"/>
                </a:solidFill>
                <a:latin typeface="PingFang SC"/>
                <a:ea typeface="PingFang SC"/>
              </a:rPr>
              <a:t>模型产出的每条结论必须引用一个</a:t>
            </a:r>
            <a:r>
              <a:rPr lang="en-US" sz="863">
                <a:solidFill>
                  <a:srgbClr val="EDF1F5"/>
                </a:solidFill>
                <a:latin typeface="PingFang SC"/>
                <a:ea typeface="PingFang SC"/>
              </a:rPr>
              <a:t> commit SHA</a:t>
            </a:r>
            <a:r>
              <a:rPr lang="zh-CN" sz="863">
                <a:solidFill>
                  <a:srgbClr val="EDF1F5"/>
                </a:solidFill>
                <a:latin typeface="PingFang SC"/>
                <a:ea typeface="PingFang SC"/>
              </a:rPr>
              <a:t>，而这份</a:t>
            </a:r>
            <a:r>
              <a:rPr lang="en-US" sz="863">
                <a:solidFill>
                  <a:srgbClr val="EDF1F5"/>
                </a:solidFill>
                <a:latin typeface="PingFang SC"/>
                <a:ea typeface="PingFang SC"/>
              </a:rPr>
              <a:t> SHA </a:t>
            </a:r>
            <a:r>
              <a:rPr lang="zh-CN" sz="863">
                <a:solidFill>
                  <a:srgbClr val="EDF1F5"/>
                </a:solidFill>
                <a:latin typeface="PingFang SC"/>
                <a:ea typeface="PingFang SC"/>
              </a:rPr>
              <a:t>清单是程序从</a:t>
            </a:r>
            <a:r>
              <a:rPr lang="en-US" sz="863">
                <a:solidFill>
                  <a:srgbClr val="EDF1F5"/>
                </a:solidFill>
                <a:latin typeface="PingFang SC"/>
                <a:ea typeface="PingFang SC"/>
              </a:rPr>
              <a:t> GitHub </a:t>
            </a:r>
            <a:r>
              <a:rPr lang="zh-CN" sz="863">
                <a:solidFill>
                  <a:srgbClr val="EDF1F5"/>
                </a:solidFill>
                <a:latin typeface="PingFang SC"/>
                <a:ea typeface="PingFang SC"/>
              </a:rPr>
              <a:t>真实拉回来的。因此「引用了一个不存在的提交」不需要另一个模型来评判</a:t>
            </a:r>
            <a:r>
              <a:rPr lang="en-US" sz="863">
                <a:solidFill>
                  <a:srgbClr val="EDF1F5"/>
                </a:solidFill>
                <a:latin typeface="PingFang SC"/>
                <a:ea typeface="PingFang SC"/>
              </a:rPr>
              <a:t> —— </a:t>
            </a:r>
            <a:r>
              <a:rPr lang="zh-CN" sz="863">
                <a:solidFill>
                  <a:srgbClr val="EDF1F5"/>
                </a:solidFill>
                <a:latin typeface="PingFang SC"/>
                <a:ea typeface="PingFang SC"/>
              </a:rPr>
              <a:t>程序对两个集合做一次差集即可判定。这一步</a:t>
            </a:r>
            <a:r>
              <a:rPr lang="en-US" sz="863">
                <a:solidFill>
                  <a:srgbClr val="EDF1F5"/>
                </a:solidFill>
                <a:latin typeface="PingFang SC"/>
                <a:ea typeface="PingFang SC"/>
              </a:rPr>
              <a:t> 100% </a:t>
            </a:r>
            <a:r>
              <a:rPr lang="zh-CN" sz="863">
                <a:solidFill>
                  <a:srgbClr val="EDF1F5"/>
                </a:solidFill>
                <a:latin typeface="PingFang SC"/>
                <a:ea typeface="PingFang SC"/>
              </a:rPr>
              <a:t>由代码完成，不经过任何模型。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42950" y="5667375"/>
            <a:ext cx="10706100" cy="1619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713">
                <a:solidFill>
                  <a:srgbClr val="8892A0"/>
                </a:solidFill>
                <a:latin typeface="PingFang SC"/>
                <a:ea typeface="PingFang SC"/>
              </a:rPr>
              <a:t>Every claim must cite a SHA drawn from the API response; a citation outside that set is provable fabrication, decided by set difference — no model involved.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71500" y="5857875"/>
            <a:ext cx="11049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第三方仓库来源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/ Third-party source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：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openclaw/openclaw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（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TypeScript · 390,102 stars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）·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GitHub REST API v3 ·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采集窗口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2026-09-20T00:07:32Z → 2026-09-20T02:23:19Z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（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UTC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71500" y="6019800"/>
            <a:ext cx="11049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第三方仓库来源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/ Third-party source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：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ody-cai/topfo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（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HTML · 2 stars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）·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GitHub REST API v3 ·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采集窗口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2026-07-09T02:38:58Z → 2026-09-20T01:53:29Z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（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UTC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571500" y="6229350"/>
            <a:ext cx="11049000" cy="342900"/>
          </a:xfrm>
          <a:custGeom>
            <a:pathLst>
              <a:path w="1160" h="36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571500" y="6315075"/>
            <a:ext cx="3743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代码考古学</a:t>
            </a: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 / Code Archaeology · BAYTECH 2026 · AI </a:t>
            </a: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应用与工程赛道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277600" y="631507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59" name="" descr="&lt;Slide style={{ width: '1280px', height: '720px', padding: '20px 60px', background: '#10141A', fontFamily: &quot;'PingFang SC','Microsoft YaHei','Helvetica Neue',sans-serif&quot;, flexDirection: 'column' }}&gt;&#10;&#10;  &lt;Box style={{ height: 96, justifyContent: 'center' }}&gt;&#10;    &lt;Box style={{ flexDirection: 'row', alignItems: 'flex-end', justifyContent: 'space-between' }}&gt;&#10;      &lt;Box&gt;&#10;        &lt;Text style={{ fontSize: 32, fontWeight: 'bold', lineHeight: 1.22, color: '#EDF1F5', fontFamily: &quot;'Source Han Serif SC','Noto Serif SC','Songti SC',serif&quot; }}&gt;工程完备性、一次自我证伪，与已知边界&lt;/Text&gt;&#10;        &lt;Text style={{ fontSize: 14.5, color: '#8892A0', marginTop: 7, letterSpacing: 0.3 }}&gt;Engineering completeness, one self-falsification, and known boundaries&lt;/Text&gt;&#10;      &lt;/Box&gt;&#10;      &#10;    &lt;/Box&gt;&#10;  &lt;/Box&gt;&#10;    &lt;Box style={{ height: 500 }}&gt;&#10;      &lt;Box style={{ flexDirection: 'row', gap: 16, height: 296 }}&gt;&#10;&#10;        &lt;Box style={{ flex: 1, padding: '14px 16px', background: '#1D242E', borderRadius: 10, border: '1px solid #232C38' }}&gt;&#10;          &lt;Text style={{ fontSize: 13, fontWeight: 'bold', color: '#4CB8A6' }}&gt;工程完备性 / Engineering&lt;/Text&gt;&#10;          &lt;Text style={{ fontSize: 10, color: '#8892A0', marginTop: 4 }}&gt;Everything below was measured on this machine&lt;/Text&gt;&#10;          &lt;Text style={{ fontSize: 11.5, lineHeight: 1.62, color: '#A8B2BE', marginTop: 9 }}&gt;· 单元测试 &lt;span style={{ color: '#E3A33E', fontWeight: 'bold' }}&gt;181 / 181&lt;/span&gt; 通过、0 失败&lt;br /&gt;· 自有代码 &lt;span style={{ color: '#E3A33E', fontWeight: 'bold' }}&gt;9,395&lt;/span&gt; 行 / 51 个文件（src 2737 · public 2459 · tests 2820 · bin 709 · scripts 670）&lt;br /&gt;· &lt;span style={{ color: '#E3A33E', fontWeight: 'bold' }}&gt;8&lt;/span&gt; 个 API 端点，其中 4 个可脱离完整流程单独复用&lt;br /&gt;· 零构建原生前端 + Cloudflare Workers 原生 fetch，无框架依赖&lt;br /&gt;· 同一套路由层既跑云端也跑本地 Node —— 云端不可用时演示行为一致&lt;/Text&gt;&#10;          &lt;Text style={{ fontSize: 9.5, lineHeight: 1.45, color: '#6B7684', marginTop: 6 }}&gt;Tests 181/181 passing; 9,395 lines of own code across 51 files; 8 endpoints; zero framework dependencies.&lt;/Text&gt;&#10;        &lt;/Box&gt;&#10;&#10;        &lt;Box style={{ flex: 1, padding: '14px 16px', background: '#1D242E', borderRadius: 10, border: '1px solid #232C38' }}&gt;&#10;          &lt;Text style={{ fontSize: 13, fontWeight: 'bold', color: '#E3A33E' }}&gt;一次自我证伪 / Self-falsification&lt;/Text&gt;&#10;          &lt;Text style={{ fontSize: 10, color: '#8892A0', marginTop: 4 }}&gt;The check that rejected its own candidate&lt;/Text&gt;&#10;          &lt;Text style={{ fontSize: 11.5, lineHeight: 1.62, color: '#A8B2BE', marginTop: 9 }}&gt;「被放弃的尝试」不看净删行数，而看&lt;span style={{ color: '#E3A33E', fontWeight: 'bold' }}&gt;内容重合率&lt;/span&gt;：拆除侧删除的行里，必须有 ≥ 50% 曾在新增侧出现过。阈值与判定过程都写在输出里，可被复核。&lt;br /&gt;本次两个仓库共产生 &lt;span style={{ color: '#E3A33E', fontWeight: 'bold' }}&gt;8&lt;/span&gt; 次候选判定：7 次通过（重合 93%–100%），&lt;span style={{ color: '#E3A33E', fontWeight: 'bold' }}&gt;1 次被程序否定&lt;/span&gt;（重合 0%，判为重写）。被否定的那一条既不进风险分，也不从报告里消失 —— 它留在 abandonedRejected 字段中，界面上一并展示。&lt;/Text&gt;&#10;          &lt;Text style={{ fontSize: 9.5, lineHeight: 1.45, color: '#6B7684', marginTop: 6 }}&gt;The 50% content-overlap rule is printed in the output. 7 candidates passed, 1 was rejected by the program itself and is still shown.&lt;/Text&gt;&#10;        &lt;/Box&gt;&#10;&#10;        &lt;Box style={{ flex: 1, padding: '14px 16px', background: '#1D242E', borderRadius: 10, border: '1px solid #232C38' }}&gt;&#10;          &lt;Text style={{ fontSize: 13, fontWeight: 'bold', color: '#4CB8A6' }}&gt;已知边界与下一步 / Boundaries &amp; next&lt;/Text&gt;&#10;          &lt;Text style={{ fontSize: 10, color: '#8892A0', marginTop: 4 }}&gt;Stated here rather than left for the Q&amp;A&lt;/Text&gt;&#10;          &lt;Text style={{ fontSize: 11.5, lineHeight: 1.62, color: '#A8B2BE', marginTop: 9 }}&gt;· 当前依赖 GitHub REST API，因此读不到私有仓库的完整历史，单次窗口上限 100 次提交&lt;br /&gt;· 刻意不读 PR 与 issue —— 24 小时内的取舍是优先保住「不幻觉」，而不是扩大证据面&lt;br /&gt;· 报告的定位是「信息丢失审计」，不是「重建决策史」：它指认哪里已经没人能说清为什么，判断权交回给人&lt;br /&gt;· 下一步：改用本地 git log，零 API 成本、完整历史、且不接触对方任何凭据&lt;/Text&gt;&#10;          &lt;Text style={{ fontSize: 9.5, lineHeight: 1.45, color: '#6B7684', marginTop: 6 }}&gt;Public repos and a 100-commit window today; local git log is the next step because it costs no API quota and touches no credentials.&lt;/Text&gt;&#10;        &lt;/Box&gt;&#10;      &lt;/Box&gt;&#10;&#10;      &lt;Box style={{ flexDirection: 'row', gap: 16, height: 192, marginTop: 12 }}&gt;&#10;&#10;        &lt;Box style={{ flex: 1, padding: '10px 14px', background: '#1D242E', borderRadius: 10, border: '1px solid #232C38' }}&gt;&#10;          &lt;Text style={{ fontSize: 11, color: '#E3A33E', fontWeight: 'bold' }}&gt;Q1 · 你怎么知道你猜的对？&lt;/Text&gt;&#10;          &lt;Text style={{ fontSize: 9, color: '#6B7684', marginTop: 2 }}&gt;How do you know your inference is right?&lt;/Text&gt;&#10;          &lt;Text style={{ fontSize: 10.5, lineHeight: 1.5, color: '#A8B2BE', marginTop: 6 }}&gt;我们不猜。系统只承诺可验证的量：信噪比、无痕迹的被放弃改动、知识集中度、沉寂断层。推断层必须标注置信度与依据，证据含糊时强制写明「提交信息未说明原因，以下为基于改动范围的推断」，且每条结论都过 SHA 集合校验。&lt;/Text&gt;&#10;          &lt;Text style={{ fontSize: 9, lineHeight: 1.45, color: '#6B7684', marginTop: 4 }}&gt;We do not guess. Only verifiable quantities are promised; every inference must state its confidence and survive the SHA set check.&lt;/Text&gt;&#10;        &lt;/Box&gt;&#10;&#10;        &lt;Box style={{ flex: 1, padding: '10px 14px', background: '#1D242E', borderRadius: 10, border: '1px solid #232C38' }}&gt;&#10;          &lt;Text style={{ fontSize: 11, color: '#E3A33E', fontWeight: 'bold' }}&gt;Q2 · 和 CodeScene / git-of-theseus 有什么区别？&lt;/Text&gt;&#10;          &lt;Text style={{ fontSize: 9, color: '#6B7684', marginTop: 2 }}&gt;How is this different from existing code-analytics tools?&lt;/Text&gt;&#10;          &lt;Text style={{ fontSize: 10.5, lineHeight: 1.5, color: '#A8B2BE', marginTop: 6 }}&gt;它们做行为码分析：热点、巴士因子、知识地图。本项目的差异化只有一条 —— 「被放弃的尝试」：代码中不存在、只能从历史里挖出的信息。这条护城河很窄，所以我们把它做扎实：内容级核实 + 唯一性自我证伪。&lt;/Text&gt;&#10;          &lt;Text style={{ fontSize: 9, lineHeight: 1.45, color: '#6B7684', marginTop: 4 }}&gt;Existing tools analyse behaviour in the current code. Our one differentiator is abandoned attempts — information that exists only in history.&lt;/Text&gt;&#10;        &lt;/Box&gt;&#10;&#10;        &lt;Box style={{ flex: 1, padding: '10px 14px', background: '#1D242E', borderRadius: 10, border: '1px solid #232C38' }}&gt;&#10;          &lt;Text style={{ fontSize: 11, color: '#E3A33E', fontWeight: 'bold' }}&gt;Q3 · 是不是套用了现成项目？&lt;/Text&gt;&#10;          &lt;Text style={{ fontSize: 9, color: '#6B7684', marginTop: 2 }}&gt;Is this a repackaged open-source project?&lt;/Text&gt;&#10;          &lt;Text style={{ fontSize: 10.5, lineHeight: 1.5, color: '#A8B2BE', marginTop: 6 }}&gt;零依赖框架：前端是零构建原生 JS，后端是 Cloudflare Workers 原生 fetch，核心模块（重合率核实、信噪分离、提交信息解析、证据接地校验）全部自研 —— 9,395 行自有代码、181 个自写测试。&lt;/Text&gt;&#10;          &lt;Text style={{ fontSize: 9, lineHeight: 1.45, color: '#6B7684', marginTop: 4 }}&gt;No framework dependency: zero-build vanilla front-end, native Workers fetch, and every core module written here.&lt;/Text&gt;&#10;        &lt;/Box&gt;&#10;      &lt;/Box&gt;&#10;    &lt;/Box&gt;&#10;&#10;  &lt;Box style={{ height: 32, justifyContent: 'center' }}&gt;&#10;    &lt;Text style={{ fontSize: 10, lineHeight: 1.4, color: '#6B7684', textAlign: 'right' }}&gt;数据来源 / Sources：上述全部数字来自 openclaw/openclaw 与 ody-cai/topfo 两个公开仓库的 GitHub REST API v3 现场返回，经本地计算得出；未测试任何第三个仓库。&lt;/Text&gt;&#10;    &lt;Text style={{ fontSize: 10, lineHeight: 1.4, color: '#6B7684', textAlign: 'right' }}&gt;联系方式 / Contact：蔡奇均 Cai Qijun · cqjody@126.com · 线上 https://code-archaeology.odycai.workers.dev&lt;/Text&gt;&#10;  &lt;/Box&gt;&#10;  &lt;Box style={{ height: 36, marginTop: 6, paddingTop: 8, borderTop: '1px solid #232C38', flexDirection: 'row', alignItems: 'flex-start', justifyContent: 'space-between' }}&gt;&#10;    &lt;Text style={{ fontSize: 12, color: '#8892A0' }}&gt;代码考古学 / Code Archaeology · BAYTECH 2026 · AI 应用与工程赛道&lt;/Text&gt;&#10;    &lt;Text style={{ fontSize: 12, color: '#8892A0' }}&gt;12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141A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71500" y="304800"/>
            <a:ext cx="5486400" cy="447675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2400" b="1">
                <a:solidFill>
                  <a:srgbClr val="EDF1F5"/>
                </a:solidFill>
                <a:latin typeface="Source Han Serif SC"/>
                <a:ea typeface="Source Han Serif SC"/>
              </a:rPr>
              <a:t>工程完备性、一次自我证伪，与已知边界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71500" y="819150"/>
            <a:ext cx="548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spc="22">
                <a:solidFill>
                  <a:srgbClr val="8892A0"/>
                </a:solidFill>
                <a:latin typeface="PingFang SC"/>
                <a:ea typeface="PingFang SC"/>
              </a:rPr>
              <a:t>Engineering completeness, one self-falsification, and known boundaries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571500" y="1104900"/>
            <a:ext cx="3581400" cy="2819400"/>
          </a:xfrm>
          <a:prstGeom prst="roundRect">
            <a:avLst>
              <a:gd name="adj" fmla="val 3378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723900" y="1238250"/>
            <a:ext cx="327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4CB8A6"/>
                </a:solidFill>
                <a:latin typeface="PingFang SC"/>
                <a:ea typeface="PingFang SC"/>
              </a:rPr>
              <a:t>工程完备性</a:t>
            </a:r>
            <a:r>
              <a:rPr lang="en-US" sz="975" b="1">
                <a:solidFill>
                  <a:srgbClr val="4CB8A6"/>
                </a:solidFill>
                <a:latin typeface="PingFang SC"/>
                <a:ea typeface="PingFang SC"/>
              </a:rPr>
              <a:t> / Engineering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723900" y="1428750"/>
            <a:ext cx="32766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Everything below was measured on this machine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23900" y="1628775"/>
            <a:ext cx="3276600" cy="1495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单元测试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</a:t>
            </a:r>
            <a:r>
              <a:rPr lang="en-US" sz="863" b="1">
                <a:solidFill>
                  <a:srgbClr val="E3A33E"/>
                </a:solidFill>
                <a:latin typeface="PingFang SC"/>
                <a:ea typeface="PingFang SC"/>
              </a:rPr>
              <a:t>181 / 181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通过、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0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失败</a:t>
            </a:r>
            <a:endParaRPr/>
          </a:p>
          <a:p>
            <a:pPr>
              <a:lnSpc>
                <a:spcPct val="162000"/>
              </a:lnSpc>
            </a:pP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自有代码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</a:t>
            </a:r>
            <a:r>
              <a:rPr lang="en-US" sz="863" b="1">
                <a:solidFill>
                  <a:srgbClr val="E3A33E"/>
                </a:solidFill>
                <a:latin typeface="PingFang SC"/>
                <a:ea typeface="PingFang SC"/>
              </a:rPr>
              <a:t>9,395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行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/ 51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个文件（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src 2737 · public 2459 · tests 2820 · bin 709 · scripts 670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）</a:t>
            </a:r>
            <a:endParaRPr/>
          </a:p>
          <a:p>
            <a:pPr>
              <a:lnSpc>
                <a:spcPct val="162000"/>
              </a:lnSpc>
            </a:pP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en-US" sz="863" b="1">
                <a:solidFill>
                  <a:srgbClr val="E3A33E"/>
                </a:solidFill>
                <a:latin typeface="PingFang SC"/>
                <a:ea typeface="PingFang SC"/>
              </a:rPr>
              <a:t>8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个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API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端点，其中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4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个可脱离完整流程单独复用</a:t>
            </a:r>
            <a:endParaRPr/>
          </a:p>
          <a:p>
            <a:pPr>
              <a:lnSpc>
                <a:spcPct val="162000"/>
              </a:lnSpc>
            </a:pP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零构建原生前端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+ Cloudflare Workers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原生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fetch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，无框架依赖</a:t>
            </a:r>
            <a:endParaRPr/>
          </a:p>
          <a:p>
            <a:pPr>
              <a:lnSpc>
                <a:spcPct val="162000"/>
              </a:lnSpc>
            </a:pP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同一套路由层既跑云端也跑本地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Node ——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云端不可用时演示行为一致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23900" y="3181350"/>
            <a:ext cx="32766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Tests 181/181 passing; 9,395 lines of own code across 51 files; 8 endpoints; zero framework dependencies.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4305300" y="1104900"/>
            <a:ext cx="3581400" cy="2819400"/>
          </a:xfrm>
          <a:prstGeom prst="roundRect">
            <a:avLst>
              <a:gd name="adj" fmla="val 3378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457700" y="1238250"/>
            <a:ext cx="327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3A33E"/>
                </a:solidFill>
                <a:latin typeface="PingFang SC"/>
                <a:ea typeface="PingFang SC"/>
              </a:rPr>
              <a:t>一次自我证伪</a:t>
            </a:r>
            <a:r>
              <a:rPr lang="en-US" sz="975" b="1">
                <a:solidFill>
                  <a:srgbClr val="E3A33E"/>
                </a:solidFill>
                <a:latin typeface="PingFang SC"/>
                <a:ea typeface="PingFang SC"/>
              </a:rPr>
              <a:t> / Self-falsification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457700" y="1428750"/>
            <a:ext cx="32766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The check that rejected its own candidate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457700" y="1628775"/>
            <a:ext cx="3276600" cy="1495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「被放弃的尝试」不看净删行数，而看</a:t>
            </a:r>
            <a:r>
              <a:rPr lang="zh-CN" sz="863" b="1">
                <a:solidFill>
                  <a:srgbClr val="E3A33E"/>
                </a:solidFill>
                <a:latin typeface="PingFang SC"/>
                <a:ea typeface="PingFang SC"/>
              </a:rPr>
              <a:t>内容重合率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：拆除侧删除的行里，必须有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≥ 50%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曾在新增侧出现过。阈值与判定过程都写在输出里，可被复核。</a:t>
            </a:r>
            <a:endParaRPr/>
          </a:p>
          <a:p>
            <a:pPr>
              <a:lnSpc>
                <a:spcPct val="162000"/>
              </a:lnSpc>
            </a:pP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本次两个仓库共产生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</a:t>
            </a:r>
            <a:r>
              <a:rPr lang="en-US" sz="863" b="1">
                <a:solidFill>
                  <a:srgbClr val="E3A33E"/>
                </a:solidFill>
                <a:latin typeface="PingFang SC"/>
                <a:ea typeface="PingFang SC"/>
              </a:rPr>
              <a:t>8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次候选判定：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7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次通过（重合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93%–100%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），</a:t>
            </a:r>
            <a:r>
              <a:rPr lang="en-US" sz="863" b="1">
                <a:solidFill>
                  <a:srgbClr val="E3A33E"/>
                </a:solidFill>
                <a:latin typeface="PingFang SC"/>
                <a:ea typeface="PingFang SC"/>
              </a:rPr>
              <a:t>1 </a:t>
            </a:r>
            <a:r>
              <a:rPr lang="zh-CN" sz="863" b="1">
                <a:solidFill>
                  <a:srgbClr val="E3A33E"/>
                </a:solidFill>
                <a:latin typeface="PingFang SC"/>
                <a:ea typeface="PingFang SC"/>
              </a:rPr>
              <a:t>次被程序否定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（重合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0%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，判为重写）。被否定的那一条既不进风险分，也不从报告里消失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——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它留在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abandonedRejected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字段中，界面上一并展示。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457700" y="3181350"/>
            <a:ext cx="32766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The 50% content-overlap rule is printed in the output. 7 candidates passed, 1 was rejected by the program itself and is still shown.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8039100" y="1104900"/>
            <a:ext cx="3581400" cy="2819400"/>
          </a:xfrm>
          <a:prstGeom prst="roundRect">
            <a:avLst>
              <a:gd name="adj" fmla="val 3378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191500" y="1238250"/>
            <a:ext cx="327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4CB8A6"/>
                </a:solidFill>
                <a:latin typeface="PingFang SC"/>
                <a:ea typeface="PingFang SC"/>
              </a:rPr>
              <a:t>已知边界与下一步</a:t>
            </a:r>
            <a:r>
              <a:rPr lang="en-US" sz="975" b="1">
                <a:solidFill>
                  <a:srgbClr val="4CB8A6"/>
                </a:solidFill>
                <a:latin typeface="PingFang SC"/>
                <a:ea typeface="PingFang SC"/>
              </a:rPr>
              <a:t> / Boundaries &amp; next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191500" y="1428750"/>
            <a:ext cx="32766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892A0"/>
                </a:solidFill>
                <a:latin typeface="PingFang SC"/>
                <a:ea typeface="PingFang SC"/>
              </a:rPr>
              <a:t>Stated here rather than left for the Q&amp;A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191500" y="1628775"/>
            <a:ext cx="3276600" cy="1704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当前依赖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GitHub REST API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，因此读不到私有仓库的完整历史，单次窗口上限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100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次提交</a:t>
            </a:r>
            <a:endParaRPr/>
          </a:p>
          <a:p>
            <a:pPr>
              <a:lnSpc>
                <a:spcPct val="162000"/>
              </a:lnSpc>
            </a:pP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刻意不读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PR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与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issue —— 24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小时内的取舍是优先保住「不幻觉」，而不是扩大证据面</a:t>
            </a:r>
            <a:endParaRPr/>
          </a:p>
          <a:p>
            <a:pPr>
              <a:lnSpc>
                <a:spcPct val="162000"/>
              </a:lnSpc>
            </a:pP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报告的定位是「信息丢失审计」，不是「重建决策史」：它指认哪里已经没人能说清为什么，判断权交回给人</a:t>
            </a:r>
            <a:endParaRPr/>
          </a:p>
          <a:p>
            <a:pPr>
              <a:lnSpc>
                <a:spcPct val="162000"/>
              </a:lnSpc>
            </a:pP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·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下一步：改用本地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git log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，零</a:t>
            </a:r>
            <a:r>
              <a:rPr lang="en-US" sz="863">
                <a:solidFill>
                  <a:srgbClr val="A8B2BE"/>
                </a:solidFill>
                <a:latin typeface="PingFang SC"/>
                <a:ea typeface="PingFang SC"/>
              </a:rPr>
              <a:t> API </a:t>
            </a:r>
            <a:r>
              <a:rPr lang="zh-CN" sz="863">
                <a:solidFill>
                  <a:srgbClr val="A8B2BE"/>
                </a:solidFill>
                <a:latin typeface="PingFang SC"/>
                <a:ea typeface="PingFang SC"/>
              </a:rPr>
              <a:t>成本、完整历史、且不接触对方任何凭据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191500" y="3390900"/>
            <a:ext cx="32766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713">
                <a:solidFill>
                  <a:srgbClr val="6B7684"/>
                </a:solidFill>
                <a:latin typeface="PingFang SC"/>
                <a:ea typeface="PingFang SC"/>
              </a:rPr>
              <a:t>Public repos and a 100-commit window today; local git log is the next step because it costs no API quota and touches no credentials.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571500" y="4038600"/>
            <a:ext cx="3581400" cy="1828800"/>
          </a:xfrm>
          <a:prstGeom prst="roundRect">
            <a:avLst>
              <a:gd name="adj" fmla="val 5208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704850" y="4133850"/>
            <a:ext cx="3314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E3A33E"/>
                </a:solidFill>
                <a:latin typeface="PingFang SC"/>
                <a:ea typeface="PingFang SC"/>
              </a:rPr>
              <a:t>Q1 · </a:t>
            </a:r>
            <a:r>
              <a:rPr lang="zh-CN" sz="825" b="1">
                <a:solidFill>
                  <a:srgbClr val="E3A33E"/>
                </a:solidFill>
                <a:latin typeface="PingFang SC"/>
                <a:ea typeface="PingFang SC"/>
              </a:rPr>
              <a:t>你怎么知道你猜的对？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704850" y="4286250"/>
            <a:ext cx="33147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7684"/>
                </a:solidFill>
                <a:latin typeface="PingFang SC"/>
                <a:ea typeface="PingFang SC"/>
              </a:rPr>
              <a:t>How do you know your inference is right?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04850" y="4448175"/>
            <a:ext cx="33147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788">
                <a:solidFill>
                  <a:srgbClr val="A8B2BE"/>
                </a:solidFill>
                <a:latin typeface="PingFang SC"/>
                <a:ea typeface="PingFang SC"/>
              </a:rPr>
              <a:t>我们不猜。系统只承诺可验证的量：信噪比、无痕迹的被放弃改动、知识集中度、沉寂断层。推断层必须标注置信度与依据，证据含糊时强制写明「提交信息未说明原因，以下为基于改动范围的推断」，且每条结论都过</a:t>
            </a:r>
            <a:r>
              <a:rPr lang="en-US" sz="788">
                <a:solidFill>
                  <a:srgbClr val="A8B2BE"/>
                </a:solidFill>
                <a:latin typeface="PingFang SC"/>
                <a:ea typeface="PingFang SC"/>
              </a:rPr>
              <a:t> SHA </a:t>
            </a:r>
            <a:r>
              <a:rPr lang="zh-CN" sz="788">
                <a:solidFill>
                  <a:srgbClr val="A8B2BE"/>
                </a:solidFill>
                <a:latin typeface="PingFang SC"/>
                <a:ea typeface="PingFang SC"/>
              </a:rPr>
              <a:t>集合校验。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04850" y="5210175"/>
            <a:ext cx="33147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675">
                <a:solidFill>
                  <a:srgbClr val="6B7684"/>
                </a:solidFill>
                <a:latin typeface="PingFang SC"/>
                <a:ea typeface="PingFang SC"/>
              </a:rPr>
              <a:t>We do not guess. Only verifiable quantities are promised; every inference must state its confidence and survive the SHA set check.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4305300" y="4038600"/>
            <a:ext cx="3581400" cy="1828800"/>
          </a:xfrm>
          <a:prstGeom prst="roundRect">
            <a:avLst>
              <a:gd name="adj" fmla="val 5208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438650" y="4133850"/>
            <a:ext cx="3314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E3A33E"/>
                </a:solidFill>
                <a:latin typeface="PingFang SC"/>
                <a:ea typeface="PingFang SC"/>
              </a:rPr>
              <a:t>Q2 · </a:t>
            </a:r>
            <a:r>
              <a:rPr lang="zh-CN" sz="825" b="1">
                <a:solidFill>
                  <a:srgbClr val="E3A33E"/>
                </a:solidFill>
                <a:latin typeface="PingFang SC"/>
                <a:ea typeface="PingFang SC"/>
              </a:rPr>
              <a:t>和</a:t>
            </a:r>
            <a:r>
              <a:rPr lang="en-US" sz="825" b="1">
                <a:solidFill>
                  <a:srgbClr val="E3A33E"/>
                </a:solidFill>
                <a:latin typeface="PingFang SC"/>
                <a:ea typeface="PingFang SC"/>
              </a:rPr>
              <a:t> CodeScene / git-of-theseus </a:t>
            </a:r>
            <a:r>
              <a:rPr lang="zh-CN" sz="825" b="1">
                <a:solidFill>
                  <a:srgbClr val="E3A33E"/>
                </a:solidFill>
                <a:latin typeface="PingFang SC"/>
                <a:ea typeface="PingFang SC"/>
              </a:rPr>
              <a:t>有什么区别？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438650" y="4286250"/>
            <a:ext cx="33147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7684"/>
                </a:solidFill>
                <a:latin typeface="PingFang SC"/>
                <a:ea typeface="PingFang SC"/>
              </a:rPr>
              <a:t>How is this different from existing code-analytics tools?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438650" y="4448175"/>
            <a:ext cx="3314700" cy="542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788">
                <a:solidFill>
                  <a:srgbClr val="A8B2BE"/>
                </a:solidFill>
                <a:latin typeface="PingFang SC"/>
                <a:ea typeface="PingFang SC"/>
              </a:rPr>
              <a:t>它们做行为码分析：热点、巴士因子、知识地图。本项目的差异化只有一条</a:t>
            </a:r>
            <a:r>
              <a:rPr lang="en-US" sz="788">
                <a:solidFill>
                  <a:srgbClr val="A8B2BE"/>
                </a:solidFill>
                <a:latin typeface="PingFang SC"/>
                <a:ea typeface="PingFang SC"/>
              </a:rPr>
              <a:t> —— </a:t>
            </a:r>
            <a:r>
              <a:rPr lang="zh-CN" sz="788">
                <a:solidFill>
                  <a:srgbClr val="A8B2BE"/>
                </a:solidFill>
                <a:latin typeface="PingFang SC"/>
                <a:ea typeface="PingFang SC"/>
              </a:rPr>
              <a:t>「被放弃的尝试」：代码中不存在、只能从历史里挖出的信息。这条护城河很窄，所以我们把它做扎实：内容级核实</a:t>
            </a:r>
            <a:r>
              <a:rPr lang="en-US" sz="788">
                <a:solidFill>
                  <a:srgbClr val="A8B2BE"/>
                </a:solidFill>
                <a:latin typeface="PingFang SC"/>
                <a:ea typeface="PingFang SC"/>
              </a:rPr>
              <a:t> + </a:t>
            </a:r>
            <a:r>
              <a:rPr lang="zh-CN" sz="788">
                <a:solidFill>
                  <a:srgbClr val="A8B2BE"/>
                </a:solidFill>
                <a:latin typeface="PingFang SC"/>
                <a:ea typeface="PingFang SC"/>
              </a:rPr>
              <a:t>唯一性自我证伪。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438650" y="5029200"/>
            <a:ext cx="33147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675">
                <a:solidFill>
                  <a:srgbClr val="6B7684"/>
                </a:solidFill>
                <a:latin typeface="PingFang SC"/>
                <a:ea typeface="PingFang SC"/>
              </a:rPr>
              <a:t>Existing tools analyse behaviour in the current code. Our one differentiator is abandoned attempts — information that exists only in history.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8039100" y="4038600"/>
            <a:ext cx="3581400" cy="1828800"/>
          </a:xfrm>
          <a:prstGeom prst="roundRect">
            <a:avLst>
              <a:gd name="adj" fmla="val 5208"/>
            </a:avLst>
          </a:prstGeom>
          <a:solidFill>
            <a:srgbClr val="1D242E"/>
          </a:solidFill>
          <a:ln w="12700">
            <a:solidFill>
              <a:srgbClr val="232C38"/>
            </a:solidFill>
            <a:prstDash val="solid"/>
          </a:ln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172450" y="4133850"/>
            <a:ext cx="3314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E3A33E"/>
                </a:solidFill>
                <a:latin typeface="PingFang SC"/>
                <a:ea typeface="PingFang SC"/>
              </a:rPr>
              <a:t>Q3 · </a:t>
            </a:r>
            <a:r>
              <a:rPr lang="zh-CN" sz="825" b="1">
                <a:solidFill>
                  <a:srgbClr val="E3A33E"/>
                </a:solidFill>
                <a:latin typeface="PingFang SC"/>
                <a:ea typeface="PingFang SC"/>
              </a:rPr>
              <a:t>是不是套用了现成项目？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172450" y="4286250"/>
            <a:ext cx="33147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7684"/>
                </a:solidFill>
                <a:latin typeface="PingFang SC"/>
                <a:ea typeface="PingFang SC"/>
              </a:rPr>
              <a:t>Is this a repackaged open-source project?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172450" y="4448175"/>
            <a:ext cx="3314700" cy="542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788">
                <a:solidFill>
                  <a:srgbClr val="A8B2BE"/>
                </a:solidFill>
                <a:latin typeface="PingFang SC"/>
                <a:ea typeface="PingFang SC"/>
              </a:rPr>
              <a:t>零依赖框架：前端是零构建原生</a:t>
            </a:r>
            <a:r>
              <a:rPr lang="en-US" sz="788">
                <a:solidFill>
                  <a:srgbClr val="A8B2BE"/>
                </a:solidFill>
                <a:latin typeface="PingFang SC"/>
                <a:ea typeface="PingFang SC"/>
              </a:rPr>
              <a:t> JS</a:t>
            </a:r>
            <a:r>
              <a:rPr lang="zh-CN" sz="788">
                <a:solidFill>
                  <a:srgbClr val="A8B2BE"/>
                </a:solidFill>
                <a:latin typeface="PingFang SC"/>
                <a:ea typeface="PingFang SC"/>
              </a:rPr>
              <a:t>，后端是</a:t>
            </a:r>
            <a:r>
              <a:rPr lang="en-US" sz="788">
                <a:solidFill>
                  <a:srgbClr val="A8B2BE"/>
                </a:solidFill>
                <a:latin typeface="PingFang SC"/>
                <a:ea typeface="PingFang SC"/>
              </a:rPr>
              <a:t> Cloudflare Workers </a:t>
            </a:r>
            <a:r>
              <a:rPr lang="zh-CN" sz="788">
                <a:solidFill>
                  <a:srgbClr val="A8B2BE"/>
                </a:solidFill>
                <a:latin typeface="PingFang SC"/>
                <a:ea typeface="PingFang SC"/>
              </a:rPr>
              <a:t>原生</a:t>
            </a:r>
            <a:r>
              <a:rPr lang="en-US" sz="788">
                <a:solidFill>
                  <a:srgbClr val="A8B2BE"/>
                </a:solidFill>
                <a:latin typeface="PingFang SC"/>
                <a:ea typeface="PingFang SC"/>
              </a:rPr>
              <a:t> fetch</a:t>
            </a:r>
            <a:r>
              <a:rPr lang="zh-CN" sz="788">
                <a:solidFill>
                  <a:srgbClr val="A8B2BE"/>
                </a:solidFill>
                <a:latin typeface="PingFang SC"/>
                <a:ea typeface="PingFang SC"/>
              </a:rPr>
              <a:t>，核心模块（重合率核实、信噪分离、提交信息解析、证据接地校验）全部自研</a:t>
            </a:r>
            <a:r>
              <a:rPr lang="en-US" sz="788">
                <a:solidFill>
                  <a:srgbClr val="A8B2BE"/>
                </a:solidFill>
                <a:latin typeface="PingFang SC"/>
                <a:ea typeface="PingFang SC"/>
              </a:rPr>
              <a:t> —— 9,395 </a:t>
            </a:r>
            <a:r>
              <a:rPr lang="zh-CN" sz="788">
                <a:solidFill>
                  <a:srgbClr val="A8B2BE"/>
                </a:solidFill>
                <a:latin typeface="PingFang SC"/>
                <a:ea typeface="PingFang SC"/>
              </a:rPr>
              <a:t>行自有代码、</a:t>
            </a:r>
            <a:r>
              <a:rPr lang="en-US" sz="788">
                <a:solidFill>
                  <a:srgbClr val="A8B2BE"/>
                </a:solidFill>
                <a:latin typeface="PingFang SC"/>
                <a:ea typeface="PingFang SC"/>
              </a:rPr>
              <a:t>181 </a:t>
            </a:r>
            <a:r>
              <a:rPr lang="zh-CN" sz="788">
                <a:solidFill>
                  <a:srgbClr val="A8B2BE"/>
                </a:solidFill>
                <a:latin typeface="PingFang SC"/>
                <a:ea typeface="PingFang SC"/>
              </a:rPr>
              <a:t>个自写测试。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172450" y="5029200"/>
            <a:ext cx="33147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675">
                <a:solidFill>
                  <a:srgbClr val="6B7684"/>
                </a:solidFill>
                <a:latin typeface="PingFang SC"/>
                <a:ea typeface="PingFang SC"/>
              </a:rPr>
              <a:t>No framework dependency: zero-build vanilla front-end, native Workers fetch, and every core module written here.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571500" y="5857875"/>
            <a:ext cx="11049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数据来源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/ Sources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：上述全部数字来自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openclaw/openclaw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与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ody-cai/topfo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两个公开仓库的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GitHub REST API v3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现场返回，经本地计算得出；未测试任何第三个仓库。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571500" y="6019800"/>
            <a:ext cx="110490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联系方式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/ Contact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：蔡奇均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Cai Qijun · cqjody@126.com · </a:t>
            </a:r>
            <a:r>
              <a:rPr lang="zh-CN" sz="750">
                <a:solidFill>
                  <a:srgbClr val="6B7684"/>
                </a:solidFill>
                <a:latin typeface="PingFang SC"/>
                <a:ea typeface="PingFang SC"/>
              </a:rPr>
              <a:t>线上</a:t>
            </a:r>
            <a:r>
              <a:rPr lang="en-US" sz="750">
                <a:solidFill>
                  <a:srgbClr val="6B7684"/>
                </a:solidFill>
                <a:latin typeface="PingFang SC"/>
                <a:ea typeface="PingFang SC"/>
              </a:rPr>
              <a:t> https://code-archaeology.odycai.workers.dev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571500" y="6229350"/>
            <a:ext cx="11049000" cy="342900"/>
          </a:xfrm>
          <a:custGeom>
            <a:pathLst>
              <a:path w="1160" h="36">
                <a:moveTo>
                  <a:pt x="0" y="0"/>
                </a:moveTo>
                <a:lnTo>
                  <a:pt x="1160" y="0"/>
                </a:lnTo>
                <a:lnTo>
                  <a:pt x="1160" y="1"/>
                </a:lnTo>
                <a:lnTo>
                  <a:pt x="0" y="1"/>
                </a:lnTo>
                <a:close/>
              </a:path>
            </a:pathLst>
          </a:custGeom>
          <a:solidFill>
            <a:srgbClr val="232C38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71500" y="6315075"/>
            <a:ext cx="3743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代码考古学</a:t>
            </a: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 / Code Archaeology · BAYTECH 2026 · AI </a:t>
            </a:r>
            <a:r>
              <a:rPr lang="zh-CN" sz="900">
                <a:solidFill>
                  <a:srgbClr val="8892A0"/>
                </a:solidFill>
                <a:latin typeface="PingFang SC"/>
                <a:ea typeface="PingFang SC"/>
              </a:rPr>
              <a:t>应用与工程赛道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1249025" y="631507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892A0"/>
                </a:solidFill>
                <a:latin typeface="PingFang SC"/>
                <a:ea typeface="PingFang SC"/>
              </a:rPr>
              <a:t>12 / 12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2026-09-20T11:20:31Z</dcterms:created>
  <dcterms:modified xsi:type="dcterms:W3CDTF">2026-09-20T11:20:31Z</dcterms:modified>
</cp:coreProperties>
</file>